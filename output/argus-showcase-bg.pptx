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474ee6bf5b4382" /><Relationship Type="http://schemas.openxmlformats.org/officeDocument/2006/relationships/extended-properties" Target="/docProps/app.xml" Id="R1baa663112624101" /><Relationship Type="http://schemas.openxmlformats.org/officeDocument/2006/relationships/officeDocument" Target="/ppt/presentation.xml" Id="R4e225f528b7e41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10c58701a345c5"/>
  </p:sldMasterIdLst>
  <p:notesMasterIdLst>
    <p:notesMasterId xmlns:r="http://schemas.openxmlformats.org/officeDocument/2006/relationships" r:id="R77472c990d364560"/>
  </p:notesMasterIdLst>
  <p:sldIdLst>
    <p:sldId xmlns:r="http://schemas.openxmlformats.org/officeDocument/2006/relationships" id="256" r:id="Re74e7e83059a4d57"/>
    <p:sldId xmlns:r="http://schemas.openxmlformats.org/officeDocument/2006/relationships" id="257" r:id="Rf37b88dfd8594486"/>
    <p:sldId xmlns:r="http://schemas.openxmlformats.org/officeDocument/2006/relationships" id="258" r:id="R5818866322d44662"/>
    <p:sldId xmlns:r="http://schemas.openxmlformats.org/officeDocument/2006/relationships" id="259" r:id="R79c61f5eface4c47"/>
    <p:sldId xmlns:r="http://schemas.openxmlformats.org/officeDocument/2006/relationships" id="260" r:id="R8fa1689693c54a21"/>
    <p:sldId xmlns:r="http://schemas.openxmlformats.org/officeDocument/2006/relationships" id="261" r:id="Ra49d37ef4dbf4838"/>
    <p:sldId xmlns:r="http://schemas.openxmlformats.org/officeDocument/2006/relationships" id="262" r:id="Rb161624bfa7b4bc7"/>
    <p:sldId xmlns:r="http://schemas.openxmlformats.org/officeDocument/2006/relationships" id="263" r:id="R7feaad2958cf4e15"/>
    <p:sldId xmlns:r="http://schemas.openxmlformats.org/officeDocument/2006/relationships" id="264" r:id="Raacf98a4d5f044b0"/>
    <p:sldId xmlns:r="http://schemas.openxmlformats.org/officeDocument/2006/relationships" id="265" r:id="R3b965b907709430c"/>
    <p:sldId xmlns:r="http://schemas.openxmlformats.org/officeDocument/2006/relationships" id="266" r:id="Rd4ad037a6a194046"/>
    <p:sldId xmlns:r="http://schemas.openxmlformats.org/officeDocument/2006/relationships" id="267" r:id="R3a39aa25b0024674"/>
    <p:sldId xmlns:r="http://schemas.openxmlformats.org/officeDocument/2006/relationships" id="268" r:id="R9a107a18cfb447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aef0f602294d08" /><Relationship Type="http://schemas.openxmlformats.org/officeDocument/2006/relationships/slideMaster" Target="/ppt/slideMasters/slideMaster1.xml" Id="R8610c58701a345c5" /><Relationship Type="http://schemas.openxmlformats.org/officeDocument/2006/relationships/notesMaster" Target="/ppt/notesMasters/notesMaster1.xml" Id="R77472c990d364560" /><Relationship Type="http://schemas.openxmlformats.org/officeDocument/2006/relationships/presProps" Target="/ppt/presProps.xml" Id="R744f5e7c306446b7" /><Relationship Type="http://schemas.openxmlformats.org/officeDocument/2006/relationships/viewProps" Target="/ppt/viewProps.xml" Id="R7f68d03af9d84a77" /><Relationship Type="http://schemas.openxmlformats.org/officeDocument/2006/relationships/tableStyles" Target="/ppt/tableStyles.xml" Id="R8022456195d54533" /><Relationship Type="http://schemas.openxmlformats.org/officeDocument/2006/relationships/slide" Target="/ppt/slides/slide1.xml" Id="Re74e7e83059a4d57" /><Relationship Type="http://schemas.openxmlformats.org/officeDocument/2006/relationships/slide" Target="/ppt/slides/slide2.xml" Id="Rf37b88dfd8594486" /><Relationship Type="http://schemas.openxmlformats.org/officeDocument/2006/relationships/slide" Target="/ppt/slides/slide3.xml" Id="R5818866322d44662" /><Relationship Type="http://schemas.openxmlformats.org/officeDocument/2006/relationships/slide" Target="/ppt/slides/slide4.xml" Id="R79c61f5eface4c47" /><Relationship Type="http://schemas.openxmlformats.org/officeDocument/2006/relationships/slide" Target="/ppt/slides/slide5.xml" Id="R8fa1689693c54a21" /><Relationship Type="http://schemas.openxmlformats.org/officeDocument/2006/relationships/slide" Target="/ppt/slides/slide6.xml" Id="Ra49d37ef4dbf4838" /><Relationship Type="http://schemas.openxmlformats.org/officeDocument/2006/relationships/slide" Target="/ppt/slides/slide7.xml" Id="Rb161624bfa7b4bc7" /><Relationship Type="http://schemas.openxmlformats.org/officeDocument/2006/relationships/slide" Target="/ppt/slides/slide8.xml" Id="R7feaad2958cf4e15" /><Relationship Type="http://schemas.openxmlformats.org/officeDocument/2006/relationships/slide" Target="/ppt/slides/slide9.xml" Id="Raacf98a4d5f044b0" /><Relationship Type="http://schemas.openxmlformats.org/officeDocument/2006/relationships/slide" Target="/ppt/slides/slide10.xml" Id="R3b965b907709430c" /><Relationship Type="http://schemas.openxmlformats.org/officeDocument/2006/relationships/slide" Target="/ppt/slides/slide11.xml" Id="Rd4ad037a6a194046" /><Relationship Type="http://schemas.openxmlformats.org/officeDocument/2006/relationships/slide" Target="/ppt/slides/slide12.xml" Id="R3a39aa25b0024674" /><Relationship Type="http://schemas.openxmlformats.org/officeDocument/2006/relationships/slide" Target="/ppt/slides/slide13.xml" Id="R9a107a18cfb447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326a0b9c0049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0f2981e130495b" /><Relationship Type="http://schemas.openxmlformats.org/officeDocument/2006/relationships/notesMaster" Target="/ppt/notesMasters/notesMaster1.xml" Id="R3f4cad9e8e064d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cef482e9774ae8" /><Relationship Type="http://schemas.openxmlformats.org/officeDocument/2006/relationships/notesMaster" Target="/ppt/notesMasters/notesMaster1.xml" Id="R473fef517a0e4f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dec94d1a7143fc" /><Relationship Type="http://schemas.openxmlformats.org/officeDocument/2006/relationships/notesMaster" Target="/ppt/notesMasters/notesMaster1.xml" Id="R2c4516a9500749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c5e3fe879e4336" /><Relationship Type="http://schemas.openxmlformats.org/officeDocument/2006/relationships/notesMaster" Target="/ppt/notesMasters/notesMaster1.xml" Id="R2fcd946dbb954b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b0764abce745d0" /><Relationship Type="http://schemas.openxmlformats.org/officeDocument/2006/relationships/notesMaster" Target="/ppt/notesMasters/notesMaster1.xml" Id="Re3add7b736a943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5b3a6eb7ee4250" /><Relationship Type="http://schemas.openxmlformats.org/officeDocument/2006/relationships/notesMaster" Target="/ppt/notesMasters/notesMaster1.xml" Id="R896bcf7b8b1a42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f8c490871a4b49" /><Relationship Type="http://schemas.openxmlformats.org/officeDocument/2006/relationships/notesMaster" Target="/ppt/notesMasters/notesMaster1.xml" Id="R35b7ccfd9b124f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5756c85efea4292" /><Relationship Type="http://schemas.openxmlformats.org/officeDocument/2006/relationships/notesMaster" Target="/ppt/notesMasters/notesMaster1.xml" Id="R36384f51c58748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2f9c1d4b3e467b" /><Relationship Type="http://schemas.openxmlformats.org/officeDocument/2006/relationships/notesMaster" Target="/ppt/notesMasters/notesMaster1.xml" Id="R91d7fc9a85b742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6416a8509fb4c9e" /><Relationship Type="http://schemas.openxmlformats.org/officeDocument/2006/relationships/notesMaster" Target="/ppt/notesMasters/notesMaster1.xml" Id="R9bfb2beec4674ca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c558e1a81e436e" /><Relationship Type="http://schemas.openxmlformats.org/officeDocument/2006/relationships/notesMaster" Target="/ppt/notesMasters/notesMaster1.xml" Id="R07d9c7ee2fb8489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1142eb9679c4b5c" /><Relationship Type="http://schemas.openxmlformats.org/officeDocument/2006/relationships/notesMaster" Target="/ppt/notesMasters/notesMaster1.xml" Id="R41de1eed7ae946e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eba15edaeeb4364" /><Relationship Type="http://schemas.openxmlformats.org/officeDocument/2006/relationships/notesMaster" Target="/ppt/notesMasters/notesMaster1.xml" Id="R5011a4f29ebd4d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5079f22d5747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056571958f4a9e" /><Relationship Type="http://schemas.openxmlformats.org/officeDocument/2006/relationships/slideLayout" Target="/ppt/slideLayouts/slideLayout1.xml" Id="R47d3748d51974f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d3748d51974f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9a08b4c08b440c" /><Relationship Type="http://schemas.openxmlformats.org/officeDocument/2006/relationships/image" Target="/ppt/media/image.jpeg" Id="R308cfd6295a04e0c" /><Relationship Type="http://schemas.openxmlformats.org/officeDocument/2006/relationships/notesSlide" Target="/ppt/notesSlides/notesSlide1.xml" Id="Ra86cbc9751b845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0a610240b4573" /><Relationship Type="http://schemas.openxmlformats.org/officeDocument/2006/relationships/notesSlide" Target="/ppt/notesSlides/notesSlide2.xml" Id="Rd107bc9ce4ff41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9cfb60f4244a1" /><Relationship Type="http://schemas.openxmlformats.org/officeDocument/2006/relationships/notesSlide" Target="/ppt/notesSlides/notesSlide3.xml" Id="R13ebcd7c15a94d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67f8b619f4065" /><Relationship Type="http://schemas.openxmlformats.org/officeDocument/2006/relationships/notesSlide" Target="/ppt/notesSlides/notesSlide4.xml" Id="Ra3a3d4dbe7fa41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7185f09c8405f" /><Relationship Type="http://schemas.openxmlformats.org/officeDocument/2006/relationships/notesSlide" Target="/ppt/notesSlides/notesSlide5.xml" Id="Rc67ca30420bf4a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6c0a3326a4361" /><Relationship Type="http://schemas.openxmlformats.org/officeDocument/2006/relationships/image" Target="/ppt/media/image.png" Id="Rb012ac83933a4656" /><Relationship Type="http://schemas.openxmlformats.org/officeDocument/2006/relationships/notesSlide" Target="/ppt/notesSlides/notesSlide6.xml" Id="R54dcea9c27014b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753b62365d4d9c" /><Relationship Type="http://schemas.openxmlformats.org/officeDocument/2006/relationships/image" Target="/ppt/media/image2.png" Id="R6ed46051ef0a4d8a" /><Relationship Type="http://schemas.openxmlformats.org/officeDocument/2006/relationships/notesSlide" Target="/ppt/notesSlides/notesSlide7.xml" Id="R1df12829fa7940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8027f9ce44f0d" /><Relationship Type="http://schemas.openxmlformats.org/officeDocument/2006/relationships/image" Target="/ppt/media/image3.png" Id="R9b5179033e8947a6" /><Relationship Type="http://schemas.openxmlformats.org/officeDocument/2006/relationships/notesSlide" Target="/ppt/notesSlides/notesSlide8.xml" Id="Rfff8841aacf148b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7c833d4ca4168" /><Relationship Type="http://schemas.openxmlformats.org/officeDocument/2006/relationships/image" Target="/ppt/media/image4.png" Id="R2aadfd22cf064064" /><Relationship Type="http://schemas.openxmlformats.org/officeDocument/2006/relationships/notesSlide" Target="/ppt/notesSlides/notesSlide9.xml" Id="Rbec340c25c394c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b1c8304b314c76" /><Relationship Type="http://schemas.openxmlformats.org/officeDocument/2006/relationships/image" Target="/ppt/media/image5.png" Id="Radafc60b51ef49f9" /><Relationship Type="http://schemas.openxmlformats.org/officeDocument/2006/relationships/notesSlide" Target="/ppt/notesSlides/notesSlide10.xml" Id="R33c3c3d2d4a34cc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482149daf24b7d" /><Relationship Type="http://schemas.openxmlformats.org/officeDocument/2006/relationships/image" Target="/ppt/media/image6.png" Id="R653b737869cf49a3" /><Relationship Type="http://schemas.openxmlformats.org/officeDocument/2006/relationships/notesSlide" Target="/ppt/notesSlides/notesSlide11.xml" Id="Rc5acb681187846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5f96410dd4ad3" /><Relationship Type="http://schemas.openxmlformats.org/officeDocument/2006/relationships/image" Target="/ppt/media/image7.png" Id="R4f959526eee345f1" /><Relationship Type="http://schemas.openxmlformats.org/officeDocument/2006/relationships/image" Target="/ppt/media/image8.png" Id="R1811b9c805774f0e" /><Relationship Type="http://schemas.openxmlformats.org/officeDocument/2006/relationships/notesSlide" Target="/ppt/notesSlides/notesSlide12.xml" Id="R9163c52170af46c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04994980c1424f" /><Relationship Type="http://schemas.openxmlformats.org/officeDocument/2006/relationships/notesSlide" Target="/ppt/notesSlides/notesSlide13.xml" Id="Rbb9908c06b6345a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8cfd6295a04e0c"/>
          <a:srcRect xmlns:a="http://schemas.openxmlformats.org/drawingml/2006/main" l="5556" t="0" r="555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5BF0FC-BC14-412F-81F4-E9BB2861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CB3871-464C-471B-909C-8A23900E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>
              <a:alpha val="3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F2FBF8-F059-4BFA-B116-502F15BD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A0D8DC-604C-4917-89ED-5D518FA4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00BBE-1EAB-4734-BF76-FFD2238A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1EDC0-4284-447F-BF1E-CE72F4E9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8886E0-31F0-4BD1-88B1-BF722AA1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298D3A-80C1-449B-83AF-CEEB508A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52A00A-0504-41F7-B456-29621762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F0E34E-C375-491C-99A1-A783F8A3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F20B9-5B56-46EF-B015-E40F8179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3B24F3-47B9-4ED4-8D61-379EEF9C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7465C0-428F-4280-978B-F0CDC90A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213114-6FF9-46A7-8D63-A20E4E83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9D6541-B39D-4556-B4F4-CC0FB9F0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19440E-067E-45B5-9C9F-C3856955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04A112-CAAB-4E24-9237-B3239679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BD4BB-A786-457F-A6F3-6CD0A011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654EAE-ECC6-4FB1-8EEE-6A692875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DCF66A-C883-4CCF-8491-A5EB87A3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93DE48-506A-48BC-A00D-6C5571F3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01268A-1B1C-4E5D-A39C-B23809EF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0B94BD-B28E-4373-8B02-68D038FE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SYSTEM SHOWCASE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839FFF-747F-4779-AEFC-0108FF85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666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ARGUS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E52A28-9414-4B3D-9EE0-3D78348DA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23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Local multimodal ad intelligence pipeline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FD021A-AE39-409F-A611-22CEBFBE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6572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Видео реклама -&gt; evidence -&gt; retrieval -&gt; read-only agent answers.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280364-0376-4211-B766-76615341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990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24B330-7AAB-4CAD-9C16-9E601909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76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local-first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1BCA86-71ED-44FA-AE70-0F1EB6E2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95800"/>
            <a:ext cx="1028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BF8277-D925-4E99-9E6D-32EBD9B3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552950"/>
            <a:ext cx="800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B5CF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8B5CF6"/>
                </a:solidFill>
                <a:latin typeface="Aptos Mono"/>
                <a:ea typeface="Aptos Mono"/>
                <a:cs typeface="Aptos Mono"/>
              </a:rPr>
              <a:t>OCR + VLM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0B515A-82E7-4F60-A2D0-BAFDE1A7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95800"/>
            <a:ext cx="146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BF7A4D-9234-4235-BAB5-DA8AB353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5529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C2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C2FF"/>
                </a:solidFill>
                <a:latin typeface="Aptos Mono"/>
                <a:ea typeface="Aptos Mono"/>
                <a:cs typeface="Aptos Mono"/>
              </a:rPr>
              <a:t>FTS5 + sqlite-vec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B1B711-BE31-47B2-8E2D-E7C565A3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4958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66208F-1354-4ED2-B2D8-D4C7B1EB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5295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BBF2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BBF24"/>
                </a:solidFill>
                <a:latin typeface="Aptos Mono"/>
                <a:ea typeface="Aptos Mono"/>
                <a:cs typeface="Aptos Mono"/>
              </a:rPr>
              <a:t>tool-calling agent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1667C3-4AE5-40C4-98A0-43C3703B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05300"/>
            <a:ext cx="2571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3">
              <a:alpha val="86667"/>
            </a:srgbClr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66F76A-6238-4B5A-8A60-F5804056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5339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Short demo arc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50E462-985E-4775-973A-E9D669E3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19650"/>
            <a:ext cx="2190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Upload -&gt; evidence -&gt; retrieval -&gt; agent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C7F2CA-3758-497C-B03A-C9FE26BC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5A77D7-BA07-48B5-81CB-130622E3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8368775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F45ACC-686A-4EED-972C-2565784B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B9148D-1130-41CD-899F-5CB131FD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88694-8BE8-4A8C-B797-47FCC70E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3C032A-81F8-4E61-A8BB-38DD17AA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0D8E3B-FDBF-4B30-B750-39B29C3D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9846FB-32CC-4A37-8D5F-75DF4AF1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E73EC-4453-49C4-88DA-5A6455E5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107083-9A95-40F2-938A-586F4853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F99778-F286-44FA-ADE3-A7833558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F6B3B-2FDA-468F-93FA-4389D733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325037-7099-4FB3-BBA3-B63B73C8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D42ABF-DAFD-4FC6-A066-CEF9D19D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AFEB3E-93CE-402B-98BD-BD559E2F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F80907-0635-417A-95B1-74F1B0B6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46D9B8-2EC4-4C00-B0F4-796F760D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505E05-8EE2-4315-B706-394AF956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58785-1273-444C-AA22-A26601ED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9DDA88-4FBA-4F6E-A721-40E3C468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91E736-745D-4F2F-AB2A-7121EBEB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7D6FBB-F6DF-427B-8ABF-AC45E979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1D45B4-41C2-4BBC-B868-73C2BC65D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10032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B72225-B30E-4E0C-B3B5-DB119D0F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871728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WHY IT EXISTS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C55853-6ECF-491C-937C-131E5AF3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95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Рекламата става searchable record.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5D2924-339C-4AC0-876E-D6170F6D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Raw clip -&gt; evidence -&gt; structured data for search, comparison and explanation.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827DF5-8AED-4243-A2FF-CBBD63C2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2286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9502CD-6B8A-4CF1-8C27-1BDC0542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955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A62F6F-959C-4BBD-9A32-97B0BAC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3840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Raw ad clip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26323D-C7C0-42B1-9301-4D43E9AE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24150"/>
            <a:ext cx="182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MP4 / MOV / WebM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frames + audio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2B9D7C-C90A-4E4F-9582-8F43628C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038350"/>
            <a:ext cx="2667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2A55D4-96EE-4798-A2D3-84BDE871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209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A2EBC6-640F-40BE-89F0-C15B8B7B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52650"/>
            <a:ext cx="2209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Evidence pipeline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CAB149-BA75-402B-BA72-0A832073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38400"/>
            <a:ext cx="22098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Whisper transcript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PaddleOCR / GLM-OCR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rules + timestamps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VLM verification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60FF1F-FF9E-4DD3-9A54-DDE67FD9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241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F41EA4-E270-45BF-87A3-08E6E450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955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33337B-04DB-47EC-8A6F-78AED763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3840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Structured record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7A41260-313C-4C84-9175-29199511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24150"/>
            <a:ext cx="1924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category, entities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risks, campaigns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0FA649-FD9C-484E-91CE-3A4B5229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765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BE1E47-7F8F-4897-BBCB-12069045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765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8FA9D2-604D-437E-AD6C-0CE9C378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1619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F624EF-4C00-4C9E-B4B7-54B81F99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95775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C2FF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C2FF"/>
                </a:solidFill>
                <a:latin typeface="Aptos Mono"/>
                <a:ea typeface="Aptos Mono"/>
                <a:cs typeface="Aptos Mono"/>
              </a:rPr>
              <a:t>OCR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29FE99-F1DE-4B20-B317-8FA2515F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29150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visible text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4D732A-9DFA-4250-A23F-81192905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171950"/>
            <a:ext cx="1619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DA1A71-F5D1-4A3A-9AB3-F45ADCF2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295775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B5CF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8B5CF6"/>
                </a:solidFill>
                <a:latin typeface="Aptos Mono"/>
                <a:ea typeface="Aptos Mono"/>
                <a:cs typeface="Aptos Mono"/>
              </a:rPr>
              <a:t>VLM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2E7D62A-F3DF-4EBC-A2DC-64325E7E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629150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semantic check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4B95E4-5AB5-4CF6-95E8-E229DF5A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71950"/>
            <a:ext cx="1619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A1E92DB-B70E-4AE5-B036-EF0700FD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295775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384d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8E9D957-173D-4C67-9902-821191C2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629150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text vectors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7BDC3F-F663-4A1A-92CE-4FAB82F5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71950"/>
            <a:ext cx="1619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02F31CA-40F0-4741-9CB0-DBCD143B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95775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rPr>
              <a:t>768d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D0239AA-A43C-4F67-91DF-2167CA82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29150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visual vectors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0398D65-E175-4ABF-A6EB-8D01E40F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38600"/>
            <a:ext cx="2095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8A44114-20A9-4B81-824A-56EC7E9E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2100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444B575-5CC0-4966-A462-E8C06B8B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91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F6854C9-864A-4894-861C-CD953EE7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5148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searchable review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1B0E8BC-F1C8-463C-8D09-65A64CB6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8291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F6587A5-D51B-455B-8924-593EE46A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752975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campaign links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6FC5DAC-DA41-4BCB-83D0-5BDA27BD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067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EA24E5E-A370-434D-86AA-EFF40CAF5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99110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timestamp audit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4F55D00-0C14-40D5-B725-B074C2D9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F323047-9384-4F9E-A6EC-7F848F6A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4735494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075DDE-9A65-4634-91A5-EA085025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AEF2B-E571-447B-B37A-CA8EDFF7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8DF9AB-DC34-409B-8426-9DA1EA85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BF630B-0CAF-45B0-A53F-51DFAC21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7E5DC-827C-41F6-ABDA-837CF1AA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56D191-FAC3-44FC-950D-499BCCF8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ECED46-EB70-4A6D-B6FD-BD17E22E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A78E3-FCC2-4246-A9DA-C3AEE150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409945-CA93-48CC-8721-E3E6F36A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F5178A-4644-4E9E-901C-93F45EFE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042293-3BC4-487F-9BD9-87A1383A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5D3BB9-9E4C-449D-AFEA-107E8396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FE14FE-6D51-415A-A3BB-58DFD5E1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76A69F-8913-4BED-85B5-7C813AA0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AC647C-DF6B-451A-9650-8E6F46C7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3FD521-32E1-49FC-A745-7CBB5DE3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F8FE13-C1CD-4B75-ADBF-38F9D265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96053F-B7FB-4BE9-9FFF-FFD1A297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8EBCD7-FAF9-4972-BDF2-206478BE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50A32E-0686-436E-89B4-CB36EE45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AB6BF4-0358-4209-8DFC-4531A920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899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10C447-7676-40F9-A52F-BBBD55D4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67056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SYSTEM MAP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B781C5-33FE-4308-B251-9C6B427C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95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Frontend и pipeline остават decoupled.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F3A257-04BA-441E-AE3C-71469E0A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Vite/React consumes FastAPI; worker and local models stay separate.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F04C78-7123-45A2-8BEB-EBD2A729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180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D5F00C-A6C2-424E-A5AC-CC7DA21C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671FB5-4A8D-49AE-AB92-C2A750B7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955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73419C-126F-4C41-B0B7-B2F9FEAD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81300"/>
            <a:ext cx="13525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Vite + React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Upload, Library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Search, Agent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35B7D3-11A3-4B14-B86E-B6290865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19400"/>
            <a:ext cx="180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D353A5-A210-4778-9AA4-D7FDC41C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90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0E2BD8-686A-4A9A-89D1-8D613DF7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337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D08E4E-74B7-4687-A8C5-7C9B3261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219450"/>
            <a:ext cx="13525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OpenAPI surface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Jobs + SSE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read-only endpoints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EAE4B6-F537-407F-927F-C8183445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81250"/>
            <a:ext cx="180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0EA60A-8E58-4F52-978A-6579592D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552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1B10F7-39DD-48A7-86CC-2CAAD40C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4955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Worker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1C1E71-DD33-494D-BD2C-2910151C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81300"/>
            <a:ext cx="13525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restartable stages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OCR / VLM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embeddings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89E561C-58F0-4FBF-9765-00A327E7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19400"/>
            <a:ext cx="180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15CA4E-DB81-4B50-ADA5-DA4B738B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90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EF07598-609E-4E57-9BF5-45474B272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337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Local models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8D0A45-D78C-4150-B360-D6979E54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219450"/>
            <a:ext cx="13525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Whisper, OCR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Gemma/VLM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MiniLM, SigLIP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F0DEB1-DBC0-41CC-98B5-C5C69B07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81250"/>
            <a:ext cx="180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F5C7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B31B2E-DA81-40F6-B131-EE66CBD9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52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DA5A9A0-3ABB-4545-84F9-3228BF6A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955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SQLite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8C6A7F-0893-4874-AFE0-336E96D8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81300"/>
            <a:ext cx="13525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ads, frames, OCR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FTS5, sqlite-vec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agent audit trail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E58292-E951-4056-9A56-63AB28DB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099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9D4A3F-BB3A-4C68-85CF-C50E3B73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099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D3A8EF8-2B76-452D-A7D7-0CF67129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099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94D9021-7163-4685-B635-35BAC1A3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099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EEE87AC-4DEF-43E7-B417-4030358E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8916D6-63C3-4CEF-A476-5F850CB0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4350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Architecture principle: deterministic evidence first, VLM verification second, retrieval over persisted data.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6713ADD-D687-4874-B5C7-5FFDF7AF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01D359-C086-4E06-9089-F743BD7E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9915620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1EA884-772C-4C15-8E1E-02091A8D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C56A6-6F01-4F50-9B68-13474567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9D3642-B3C2-4E73-8368-A9782AA6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7BEE4D-2687-43BF-8B40-3006E4A2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E77B2A-C926-474A-A775-8D33EC31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DCF79-F1FC-4D53-92C2-49979F31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C8200F-1C3A-44E4-8E56-47A3B5B1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911CA9-1E62-4150-94C5-B43631B2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BBEF91-E9DB-4DDF-B5CA-B00BDDEB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2A1526-BB65-4396-A73E-3C7D1227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7D9D44-4071-499C-A051-C1B07754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3578C6-B820-426F-94CD-2E9AB8B2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B78822-1A36-4AE1-9DA7-05A07032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00C1C8-086E-4D89-A671-0705F253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E74B7-A40D-4F74-ADF7-A910A469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A8F760-6EC3-4E7C-80A2-DCB3EEFB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890BF8-A3AB-4A29-A09E-B633DD6D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6D2E9E-0F33-49C6-A0A0-203CF3F5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0F7112-5118-4592-AAE4-1F8F728E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F93AB4-B279-4A8D-8111-41056B39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7B0FF3-DA0F-4841-B291-92768591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16CE63-0CE5-4C3E-AAA5-5EAC270E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PIPELINE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D98A17-724F-4FA0-9A33-F10F152C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95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Всеки job минава през observable pipeline.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4D5B32-6E8E-41D2-9CB4-7906142C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Progress events map to stages; cached artifacts support reruns.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303EF-5570-4AE1-AB2D-08DF8066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40030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E3CE13-C86D-46BE-BC57-6375180D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71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F474A6-475B-47A7-9BCD-8177C7E4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Upload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E51A40-E68F-42E0-8688-F390C042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job + source hash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8301A6-8EE9-44E0-A3CD-E9A552BF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20040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6EA04B-1E71-4345-B9D6-DACB7247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71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884D7F-0FB3-4509-8E9B-F81CBEBB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31470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Ingest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D6CCB5-A5A4-4668-A82E-51FCF497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60045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frames + audio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A48F7F-D12E-4D04-AB02-17E1673F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09575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886CF0-7C5D-414C-A52E-939DABA6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6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75E45C-C860-4AFB-BB72-11C57D80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21005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Preprocess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C05A5D-4DA2-44FD-8376-021FC03F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blur + dedup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9C7BA7-59B9-4522-8B98-230C6D17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ABA649-D6EE-4C18-B00C-FF9592B3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71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9825DF-661D-4CE1-B8DA-6A728520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1460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OCR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473255-A621-4381-B62F-E02F11CA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80035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raw visible text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0760851-8870-4659-AD60-FE70C2CE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0040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9C580E-4DA4-4436-A00E-266CA867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71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FACDC2-5CF5-421C-BC0C-AD886D72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1470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201BCBE-C522-4D64-B4F1-27BCF940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60045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deterministic triggers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1EA2A6D-42B8-4525-AD57-2CBFB6CD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0030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94C3967-D74E-40DE-9C9D-95A7D93B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71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B9FD9A-F14B-4E2E-9084-EA690668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1460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VLM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6148E58-BB17-474D-9C26-20E90E81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0035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classification + entities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2857CDA-1287-4A4D-9963-FAA8EC07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9575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F03639D-5BF5-4604-A873-93982614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6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487D585-3C62-4A53-BBC3-46F44462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1005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Embeddings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494A48E-B636-4F5B-8533-EB259828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49580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MiniLM + SigLIP 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A5E9A58-D97B-4D25-B80C-5D37A819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20040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F5C7A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8135697-843B-451B-8F48-2FE0DB37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371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B20A5A7-2C08-4975-A505-7604CDD8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31470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Persist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A03AE04-D391-4D0C-9877-AB6539C0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60045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SQLite + FTS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B5D71F-DBAA-4BBC-95D1-15C30C41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40030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3D21A69-6A1D-48DB-94AC-FBD277C9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571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E84063F-AFF2-4A9D-8260-CC5D1A62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251460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Retrieve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E3D1A24-FC0C-4CA9-854F-DA452196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280035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search + agent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841B5BB-FE0B-4CCD-9EFA-D4304683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813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B1B7779-7CAC-4928-A7F0-4657E23D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7813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05F8B44-FAC5-4BF4-A2E5-F127E87E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813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A555BE0-09B7-4F19-96AF-394FA70F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813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53AD755-7438-4DC6-87FF-22295317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F2D8E22-31DB-4759-B499-65419C52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7675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B2AA826-FB23-4100-BA80-C3F8D83B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814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7128082-C506-4C63-966C-13A35F38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10150"/>
            <a:ext cx="971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33DBE1E-14F9-41A9-A039-E2269994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816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Operational behavior: warnings, fatal errors, cancel state, cached artifacts, downstream reruns.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A66DDB6-E24E-4332-8959-732FC037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9F2E845-08B0-4DC9-B732-65423571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489824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826FD8-559D-4F08-94A2-3D2C3CCD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39329-AA6E-413B-A4D7-C3B0C931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F4F206-9072-4D75-935F-1F37F1CA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993584-B373-4661-B707-27D5AAB7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9F1E6B-55B4-4AB9-8A9A-32ABCE29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976CF-D9A4-4552-8750-02BD8BF7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520139-D0D3-4CDF-B121-2CEA65D0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CAA210-81FF-4031-885A-126BF9BE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2E49B-8DD9-4ADF-9597-CDDA3004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C0C72D-36DD-4427-B65B-E45FC26C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F80358-0E42-4DAE-9865-2CE7D2F7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59047D-4529-4A8D-A47F-1DED9A35E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A0F20-9014-4D49-AE6B-DBB3EBE1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1E7EAB-D5E1-4DEC-A798-0DFF1E73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21C41F-F7A8-4417-8542-4AB38224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29FC06-4BF1-4F55-93DB-4855A645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0735B7-9318-4381-B14D-41D5921B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62B167-725B-49B6-B76F-80E1074D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45C592-9E92-4CEF-B611-B1943EFF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F50DFA-072A-480A-A873-6B5165DD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312E02-5FF7-4B5D-B652-FCF0A27A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368552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FDF42F-44F8-4FF9-83C5-86EB9B93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13995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EVIDENCE-FIRST AI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759A9E-4428-44BC-ACA3-A50574A8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95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VLM проверява evidence bundle.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FD1E3E-A6F4-4E90-A77F-1C99101A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OCR, transcript, rules and frame timestamps produce grounded JSON output.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5A562E-7C8E-41C0-A372-7D8D7106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4315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24CC66-E065-4AE0-81D2-F7C8964D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48452B-75BF-47B5-AA29-8EAEBBF9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57450"/>
            <a:ext cx="1638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Frames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4BFDDB-F3FB-41D8-94D4-7989BC10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1638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selected keyframes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blur/dedup filtered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FB446A-D808-4C07-A83C-68DF2177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576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10D5D0-0075-499A-BB22-4BFF6E3A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29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02FA9B-E287-4774-A57B-18EBFF83F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71900"/>
            <a:ext cx="1638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Text signals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4FD81C-2E72-48CE-9997-CB7D2867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1638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OCR + transcript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raw sources preserved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859716-0C16-47D2-8498-46B7D30E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8290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A29430-9E75-43D4-9AC8-E70D7B96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0990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9B4DBA-1175-4E38-9E84-2AFB94594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81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B171ED-044B-49FE-937C-427DAD04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2420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Evidence bundle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D69971-E669-4941-84B3-64615495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409950"/>
            <a:ext cx="1924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chronological context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rules + metadata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selected images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C1D1FA-5312-44BF-BC5E-5C51FA37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623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C1ED7D-9D16-4703-A7CD-5C0FC518D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3840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A43B7EF-8D6F-49FC-8661-9726DB4E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09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9C57B94-91D5-4800-BDBC-DFE53678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52700"/>
            <a:ext cx="1733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VLM verifier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374202-4836-44BA-BA02-E4307446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838450"/>
            <a:ext cx="17335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category, entities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conflicts, evidence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A1483FA-0742-4297-9C46-2CD28328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433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F5C7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2CB6062-43DA-460D-8490-07FFAF41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114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946ED4-A56A-4880-97A4-C7545923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57650"/>
            <a:ext cx="1733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369978E-588F-4FE5-9CB7-9F64BA46B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343400"/>
            <a:ext cx="17335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allowed labels</a:t>
            </a:r>
          </a:p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observed fields only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F0B610-0DCD-40BD-9B10-714A8432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9570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14871B4-7A75-4033-9345-2B0CBD8B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61925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E2CF52B-034E-4D78-A97A-E64F318D7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9908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Final JSON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CAA1CC2-1B7B-4D69-8CFD-E9F53498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448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66B0AD-F7C6-4B53-984D-43E0CB67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37185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category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5BD6806-F981-4F59-8ACB-016376DD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95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1D1F40D-7BAA-4BA2-95D5-419ED1F7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61950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risk tags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6D3F4E5-B977-4303-8E7F-9F8508B6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943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F8D4DAC-3C94-481A-9491-E50E23A5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6715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C24A8F9-3DE4-437F-994E-D8BA867B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191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6825D01-0300-4238-8473-AA2D7258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1480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BC4A20E-3B74-4748-A674-17C529BD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4386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0A4E32E-E5AC-4983-B77A-184FCE93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36245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related ads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B533F33-565A-4425-BFA8-C2BD57C4B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DA2D2B-D8B0-49AA-89F0-6AABE834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3558106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2CF7BC-D2CA-434E-BCA3-880FD186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B996C-8810-4EAA-B741-09C7CCDD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EB80E6-3047-4284-93DD-B2718FCF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BD272A-77D2-41B6-BBBA-1714B206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8BBBDC-AC17-44CF-9C50-C0ED79D6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6F737-F577-4FA4-91CF-ED66855C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32E723-70CB-4ACC-A453-D84A5DD2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5BBECB-EA9A-4C4B-9957-0747F33B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CAF82D-5E32-4D46-8BF7-31C9D25A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B0A288-1303-4A8E-9431-3E8D83B6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EFE1A7-7732-42FF-AE31-2EAD5C60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E6A086-9C86-4144-A607-552C87A7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6DCA78-A917-42B2-B9CC-A2204DCB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FBD1FC-BA1D-474C-B388-9B932BF8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40F8FA-C7C1-4DAE-9CAA-F6E6C345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E70424-5BC2-4089-BB06-34D72037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10A6A5-5297-44FB-A578-38EA3613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0F384B-C82B-4D7F-8F49-AF9737E4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84B486-F358-442D-AE78-953987A4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A9E65D-CF6F-4804-A14E-EFEC1B6A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40E0B5-8B09-4680-BEA9-8C719716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43560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74A409-6B36-44A1-8B2C-CEA1233F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207008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01 - UPLOAD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37437E-E321-4F39-AD75-78F311226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95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Upload създава наблюдаем pipeline job.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CB5C6D-04BA-4F8D-B749-5FB61553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Entry point: drag/drop, queue, progress, cancel and terminal error handling.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E87901-B2A4-47D1-8116-3B47110C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0A9082-17E0-4361-9563-11AB2B64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3543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MP4 / MOV / WebM -&gt; pipeline job.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635441-1E69-43F8-AB75-5A71C0D6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43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2B5A7C-6876-4FF5-BAA4-1B1297EB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3543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SSE progress shows stage and fatal errors.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BD50EC-80F2-403E-84C6-F822676C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0ABB29-5F5F-4322-A36D-1647BC64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86100"/>
            <a:ext cx="3543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Recent jobs reopen completed analyses.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F221CD-A344-4211-B0C6-D5977079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1D44B9-0FE9-4806-88EF-3E0A96C5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3543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Stage order follows runtime: VLM -&gt; Embeddings.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979A72-BE01-42E9-BAC8-AF1222F5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37338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0F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B88CC5-2CF9-4BA8-85B4-2FD08C25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56C742-4D3F-4AB1-9F53-F7A63483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81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B7ACF4-BA24-4B84-BF14-B4F663AF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81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1B5E7C-DAEF-4232-AA1F-32F44F26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81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132052F-36B4-4FA4-A35C-F762A2FB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953000"/>
            <a:ext cx="2914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pipeline.log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EBE7087-1C2C-4835-A882-B7BA34FD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14950"/>
            <a:ext cx="3390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OK ingest: frames + audio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D692BDF-5E15-48C5-821A-3691C124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43550"/>
            <a:ext cx="3390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OK OCR: raw evidence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88B7941-711E-4B2D-BA53-22022996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72150"/>
            <a:ext cx="3390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B5CF6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8B5CF6"/>
                </a:solidFill>
                <a:latin typeface="Aptos Mono"/>
                <a:ea typeface="Aptos Mono"/>
                <a:cs typeface="Aptos Mono"/>
              </a:rPr>
              <a:t>VLM classification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DF3C8ED-0721-4A9F-A43E-C1E5BD3D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3390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OK embeddings: MiniLM + SigLIP 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99120E-74CC-498F-A667-16F661F26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076450"/>
            <a:ext cx="624840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D6465C6-8677-4DC7-801B-88343255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076450"/>
            <a:ext cx="624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CCE6797-0372-40BA-A90D-059CA0F1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CA4E8FE-FE59-4B3B-81B1-857FDAC3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483313A-79F3-4BF6-A88A-73109351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A8C8A1B-3993-44B7-995B-EABEC0A7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133600"/>
            <a:ext cx="5353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Upload module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12ac83933a4656"/>
          <a:srcRect xmlns:a="http://schemas.openxmlformats.org/drawingml/2006/main" l="0" t="5000" r="0" b="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0" y="2419350"/>
            <a:ext cx="6096000" cy="3429000"/>
          </a:xfrm>
          <a:prstGeom xmlns:a="http://schemas.openxmlformats.org/drawingml/2006/main" prst="rect">
            <a:avLst/>
          </a:prstGeom>
        </p:spPr>
      </p:pic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91952CD-20E7-462D-A111-A1CECA7E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093B20B-3D54-47F3-837E-AFDB93C1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0189286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2855D4-202B-4B97-8A61-76F375879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25DA4E-3AB6-4F50-9F4B-AB773709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119AC8-9F06-42F9-B235-1BB74D08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EBAA8D-9407-4E71-8F36-5C5304C7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A80167-BFF9-466A-BB91-64218657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B64ECB-538F-49CE-B220-71B9367D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A1C15D-6559-4C46-9711-BEC3DB18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A1C4BE-6751-4D39-BDE6-BCEC05E4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D04DE-2DB3-46AD-B195-D529457C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A95337-8FEB-4042-A5E2-442DF0CE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556155-AF6C-48D5-BFCC-DC0F7F53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88F666-F87F-4518-B1ED-CCE9CE84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AC514E-F382-4584-B570-DE731138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8061E8-3DD1-4A13-8424-9D428B1B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BC0E73-D30A-4D23-A0D5-5AF733CA1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6100B-88F6-4C51-BD1B-2BCAB35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6B1594-1381-4853-9285-F694F79A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FE38DD-AD5B-4167-8F83-38875197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350642-B79D-485D-925A-D0F83BF9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5EAF29-A4A6-4278-9543-8DE1D4ED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D8306C-BFC0-4A81-8EF3-DFE46D4D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50266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DCE51-6D3E-4471-899E-43B38D64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274064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02 - LIBRARY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32C30D-255D-4E74-9190-4CD7D232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95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Library показва persisted evidence.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F17A15-D79B-425A-901D-7A636441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Each ad record carries classification, entities, OCR, transcript, frames, campaigns and related ads.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A65A6D-C5E5-4AFD-9A38-8AB3691D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343650" cy="389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6C0680-6E62-481A-9995-8EC59E20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343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4B569B-5A4B-444C-8FB9-16E9E991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CF01BB-5542-47AE-8C1C-AD2DD0C2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28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1AF69C-F68C-4F4F-86E5-5BA19EDC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28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E2D548-BDA4-4022-A450-F8CF10DD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71700"/>
            <a:ext cx="5448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Library detail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d46051ef0a4d8a"/>
          <a:srcRect xmlns:a="http://schemas.openxmlformats.org/drawingml/2006/main" l="0" t="5077" r="0" b="50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457450"/>
            <a:ext cx="6191250" cy="3476625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25D088-F8A2-4105-9E63-07A7D6A2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09800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52E1D0-5DC8-4AA2-8818-EDA39749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384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D4A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D4A6"/>
                </a:solidFill>
                <a:latin typeface="Aptos"/>
                <a:ea typeface="Aptos"/>
                <a:cs typeface="Aptos"/>
              </a:rPr>
              <a:t>Core output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EEEE63-551B-4015-8034-D2DAE302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86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searchable timestamped record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E98186-4AFC-4A22-B3E6-B403A0A5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390900"/>
            <a:ext cx="1314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1E1CB2-B9C1-41FB-B933-63D03764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147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C2FF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C2FF"/>
                </a:solidFill>
                <a:latin typeface="Aptos Mono"/>
                <a:ea typeface="Aptos Mono"/>
                <a:cs typeface="Aptos Mono"/>
              </a:rPr>
              <a:t>brand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8FA0BC-0B0F-4F14-8A8C-DA33E36D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481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entity extraction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0FA252-57CE-4FC7-B1A2-18B8D30B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90900"/>
            <a:ext cx="1314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71AA04-8411-40EF-BD1D-FE15588E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5147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B5CF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8B5CF6"/>
                </a:solidFill>
                <a:latin typeface="Aptos Mono"/>
                <a:ea typeface="Aptos Mono"/>
                <a:cs typeface="Aptos Mono"/>
              </a:rPr>
              <a:t>category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B1B014-3FB3-4533-BFDF-9529960D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8481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taxonomy label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0D349E4-3A01-4E53-BB5B-B7EB8FDB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43400"/>
            <a:ext cx="1314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881AB9F-73C4-4D4E-AD8B-9D52C735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672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299DFD-9EC1-4E94-AB41-59DC95D3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006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frame + timestamp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986DE66-9DF3-4415-B8DF-18F60853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43400"/>
            <a:ext cx="1314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E370A1-7770-48C5-943A-4FAF2DFD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4672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rPr>
              <a:t>campaign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7A5FF8-EEEA-4A83-8A02-79AE8EA3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8006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grouping signal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7602EC6-CFC2-4B8C-A3BF-EA98EB87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91150"/>
            <a:ext cx="3009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Inspection shows why classification happened, not only the final label.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A371579-CA8A-4FD0-9B87-4F7F1106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D9DD61E-193F-42C4-A7BD-6B27B567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915860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0049D3-9233-459D-871B-21DDF415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BF5862-4118-4BBB-84BA-D8EE2DDD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08FD63-DDB5-4F33-9DB1-342C0F18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39A30-187B-40CC-AB48-35F3206E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0ED70D-98F1-4E64-96D7-3F3C429F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94ED4-BD56-422D-A3F9-5E32C021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CAEA26-18F9-43D1-B337-BF0EC682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DF7B85-FFB0-43D1-B48A-9B4C5317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1F9431-A502-47C6-820E-5DE016B8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9199EE-0DAA-43F9-B065-EC23A60F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CA899C-FB77-4122-BB0B-8C3FCEE6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3FD144-E3E4-4994-BFB7-E4C12D2B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C862C8-18C1-4A1A-A752-652C26EF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BD7584-1186-4923-A692-9E58ABBE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628A0D-1957-4386-BB06-E4937D1C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A97BF9-52ED-4585-BD38-5F6C90B5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F5ADEF-5E3D-4EF3-A794-69EAC26D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B501F8-9194-4A1A-8A8A-0F607234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B1210E-F8CA-480D-ADDA-07814204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7BDE5-7C54-4273-85BD-EFA2C05C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DC2548-FBE5-4630-AAEC-9079BAAA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43560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F44A60-522E-4C7C-80C1-060681E7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207008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03 - 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49783A-EA96-4A71-9C68-03DB9907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95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Search комбинира keyword и semantic similarity.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02E359-1138-4AF2-82F8-5B2B9CA0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Results can come from keyword, text vector, visual vector or hybrid ranking.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4ECF18-C90D-4D9C-AE48-ED567A1F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33600"/>
            <a:ext cx="6343650" cy="389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3DCA7D-5290-4558-AAD2-D19D165C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33600"/>
            <a:ext cx="6343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4DD2F9-3CDF-4863-B994-48D47E54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988D9C-7CFD-42BC-BC99-5BB3F083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B886AF-0065-487D-834A-584C329A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25FB23-1445-4CC1-AC82-9E832A3CF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190750"/>
            <a:ext cx="5448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Search results - Jeep query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5179033e8947a6"/>
          <a:srcRect xmlns:a="http://schemas.openxmlformats.org/drawingml/2006/main" l="0" t="342" r="0" b="3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2476500"/>
            <a:ext cx="6191250" cy="3476625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8B03A4-D94D-4852-B8CC-7E7529B6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30480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5EFD55-E775-41D5-8430-704634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3365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Retrieval modes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73031E-A96D-47C8-AE1B-894AD45E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28950"/>
            <a:ext cx="1009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580742-3F9F-4620-B439-7F82C2E9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95625"/>
            <a:ext cx="800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C2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C2FF"/>
                </a:solidFill>
                <a:latin typeface="Aptos"/>
                <a:ea typeface="Aptos"/>
                <a:cs typeface="Aptos"/>
              </a:rPr>
              <a:t>Keyword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9398D8-19D9-4B34-A046-D32C8122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57525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FTS5 over brand, OCR, transcript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5EEAF9-B583-45C8-B709-C9AD3FA5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67100"/>
            <a:ext cx="1009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DFDE62-BE02-4791-A342-3966A78B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33775"/>
            <a:ext cx="800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D4A6"/>
                </a:solidFill>
                <a:latin typeface="Aptos"/>
                <a:ea typeface="Aptos"/>
                <a:cs typeface="Aptos"/>
              </a:rPr>
              <a:t>Text vector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B1024F-BA9E-462A-BD76-45B0EEA5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95675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MiniLM semantic query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74A318-045D-4A03-8D3B-02111AA8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1009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B9AF7D8-18FE-47DB-8057-AB729C67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71925"/>
            <a:ext cx="800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BBF24"/>
                </a:solidFill>
                <a:latin typeface="Aptos"/>
                <a:ea typeface="Aptos"/>
                <a:cs typeface="Aptos"/>
              </a:rPr>
              <a:t>Visual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5F084C6-837C-4DC6-B2F5-76D45569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33825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SigLIP 2 image/text space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2A7515-91D1-496F-9460-90FA93CA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43400"/>
            <a:ext cx="1009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478270A-B9EE-4F28-A741-EE8557E6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10075"/>
            <a:ext cx="800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B5CF6"/>
                </a:solidFill>
                <a:latin typeface="Aptos"/>
                <a:ea typeface="Aptos"/>
                <a:cs typeface="Aptos"/>
              </a:rPr>
              <a:t>Hybrid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06FE042-D1A9-4998-BA74-2426EBAE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371975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RRF style fusion + rerank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35E0F00-F614-479B-8575-655A1F6C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1244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Use case: find SUV creatives, disclaimers, offers, campaign variants or similar visuals.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8D4C02D-9188-420D-BF95-323F06AA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7760033-27B8-4BFD-9DF7-9B2FD4A1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4923518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3E551D-5135-499E-B364-AE5C045CD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A4CDAD-41BD-48B0-B16B-52943C4C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69D0DB-7287-4C61-8F27-A6500EB5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16ABE-1D1E-4780-A834-DF5E5654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EC3DBF-B365-4F30-895D-B00F849C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7BD342-1C6E-4A10-8135-0CA15BBC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02129-E9D4-4944-87C2-7778420F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B6D3A-88A4-4E58-AD2B-A3CB7EE2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3A5100-6F91-4114-B546-8BEE579E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A10DE6-C246-422B-839B-5E7033CA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964D02-2593-4F7F-B41A-CB0120AD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CDF2CA-AD33-4EC1-9F63-24D925C9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E1B7D3-FC6B-4C72-9ACA-20367638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AF1A15-3B24-470B-B714-41441631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3A3108-9FF4-48D3-8D6F-81161023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CFEB9C-D11B-45B1-8AA7-73E7414C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469B1D-7873-40CD-B01B-56C6FA3E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CB310C-39B6-4C52-A5F2-38726078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985C44-9898-49FC-83D9-3103C433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FC995E-817F-4177-B926-C1D47D70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B8CE87-B68A-47B3-B406-A36CF882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636776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74C28C-DE20-45C0-B357-30EF0D25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408176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04 - CAMPAIGNS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4167CD-E0E1-487C-A0DA-373D4248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95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Campaigns групира повторения и variants.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90EE97-8BE1-4450-B96C-7B5831AA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Exact duplicates, near-duplicate frames and semantic similarity connect related ads.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019398-C6B6-4EEE-BF0D-C05D8948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3333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EC9E93-5C99-47E4-B8B3-6E50E35A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Какво носи grouping-ът?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54B93F-0132-4695-AEFB-0E1DD15F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2781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Related ads appear as campaign logic: product, offer, runtime, variants.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C793CD-96F4-498C-B982-79787872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13525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19AE75-240B-4906-A950-D5E0F97D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7192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C2FF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C2FF"/>
                </a:solidFill>
                <a:latin typeface="Aptos Mono"/>
                <a:ea typeface="Aptos Mono"/>
                <a:cs typeface="Aptos Mono"/>
              </a:rPr>
              <a:t>exact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207629-9DCB-4056-8E0D-003F3D7D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085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same upload hash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73E166-A23B-436A-ADE6-3FAE3911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848100"/>
            <a:ext cx="15049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B3E1DF-7760-4D56-8AB2-CF30AD6C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971925"/>
            <a:ext cx="123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near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EEEC39-B3E5-4B85-964F-38E30671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0530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pHash creative reuse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E3E24D-976A-4FCF-8704-A3AE66D2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9650"/>
            <a:ext cx="13525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C2AB37-B3E0-4CFF-B772-FB115699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434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rPr>
              <a:t>semantic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530457-89F5-4080-8B58-CB66E353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76850"/>
            <a:ext cx="1085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same campaign variants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5F2C3-B777-4446-BB69-9F26258A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19650"/>
            <a:ext cx="15049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46F6A1-A5DF-4CF6-84E9-573F4ACE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943475"/>
            <a:ext cx="123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B5CF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8B5CF6"/>
                </a:solidFill>
                <a:latin typeface="Aptos Mono"/>
                <a:ea typeface="Aptos Mono"/>
                <a:cs typeface="Aptos Mono"/>
              </a:rPr>
              <a:t>curated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40954E-2B06-476C-802C-984DBA50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27685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manual assignment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5FF7DF2-7C56-4C08-9769-D00EC46A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76450"/>
            <a:ext cx="6343650" cy="389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5F3D93-5A47-4D3F-98EE-6B655A18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76450"/>
            <a:ext cx="6343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1719B1-9781-4BE7-B721-92EB8182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2241E95-363F-47CB-8E7A-FE34C7D4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FC9B85-8FA0-4A28-BF6D-9A1193D5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B33907-438E-4E19-9EA6-58F903CC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133600"/>
            <a:ext cx="5448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Campaigns module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adfd22cf064064"/>
          <a:srcRect xmlns:a="http://schemas.openxmlformats.org/drawingml/2006/main" l="0" t="5077" r="0" b="50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53000" y="2419350"/>
            <a:ext cx="6191250" cy="3476625"/>
          </a:xfrm>
          <a:prstGeom xmlns:a="http://schemas.openxmlformats.org/drawingml/2006/main" prst="rect">
            <a:avLst/>
          </a:prstGeom>
        </p:spPr>
      </p:pic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2FDCAF7-B584-4F01-8574-473E017B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8FC84CE-5CB2-4F35-A9E4-6B9B987C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2351166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995EE9-3B98-417C-A879-597AA5FE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ED7001-65ED-4D89-B13C-CE3B0F13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4AF0FF-0730-419A-9521-6298004D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A3D7F9-DA94-451B-98AC-81D15287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C988EA-7AD0-4A2F-B655-88C8AC6D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BCB48-4A93-46D9-BC13-9235C53C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21192B-8FCE-4792-99E6-AB71F414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11C46-5367-4B70-96EA-E82F769D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6940D2-3836-4852-839E-DA81D635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99C3E4-6871-436F-BCB3-890444AE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B82AB8-3AD6-464E-B241-FE13F272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6938D9-A58D-49D2-A7DE-4BBCB14F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820D14-C47C-4344-A55F-B4EBB341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A25202-2013-4EC9-B921-195AB131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BCBAD8-6702-4ACB-9CF8-BBC15A82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232C82-7DC7-42A6-B212-974A9F82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083C3E-0F04-4810-98D0-908B5914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4D17F2-0FC9-411F-9C45-84946FC4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BA4D84-6ABE-4779-8F2E-9FD41D96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3908D7-A665-4243-8C92-BF1FEB94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F5B598-CE73-4BA1-835C-FC851B72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703832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2B032F-44B4-4CA7-9709-4EFE6A13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47523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05 - EMBEDDINGS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DAC0C3-5B8E-4162-B9B7-74F4D4DF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95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Embedding Space показва similarity визуално.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6AE5DD-63BF-47FA-A8D2-F104C42B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Clusters, outliers, category territory and visual/text drift become visible.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5183D8-696E-44E6-9489-8CE773E1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76450"/>
            <a:ext cx="6534150" cy="401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636ED0-E3B4-499A-9857-851C7691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76450"/>
            <a:ext cx="653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39EC3D-3F88-4296-8F1E-EBF37085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432E2F-1B5B-4735-B777-83D6F43C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701829-B0A0-40D6-AE14-8FF3093E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AC4700-DFD8-4FF2-99A5-CD8DDD21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133600"/>
            <a:ext cx="563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Embedding Space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fc60b51ef49f9"/>
          <a:srcRect xmlns:a="http://schemas.openxmlformats.org/drawingml/2006/main" l="0" t="4985" r="0" b="49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2419350"/>
            <a:ext cx="6381750" cy="3590925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55EA18-F32C-49F4-BC3A-B27F728F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57450"/>
            <a:ext cx="2190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715125-67E2-42F3-BD06-467067FF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81275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384d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4AAF16-8A8C-43FD-AB17-9DBDA749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14650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MiniLM transcript + OCR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B73378-A065-4F2B-9B1B-825E1107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29000"/>
            <a:ext cx="2190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1D69895-6C24-4AC8-A9DB-7EF767A3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52825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rPr>
              <a:t>768d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BF4A149-AAFA-489E-84D0-78142C7E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86200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SigLIP 2 keyframe visuals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506516-3892-436B-807B-10B11295B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38650"/>
            <a:ext cx="2667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CC9CDB-4AF5-44F5-A87A-E04536BC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291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B5CF6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15E636-1ECD-4570-A98C-1F6B9C10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53000"/>
            <a:ext cx="2190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semantic search, visual queries and duplicate/campaign enrichment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13E3CD1-169B-46BA-B463-00F1FF78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6260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B0BB1A-0F98-47BA-BB87-74CE3C80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6769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The map exposes neighborhood structure.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41F221-354A-40BC-9542-DD3795B7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B62C7A-904D-464B-8323-43F7ACCF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5806897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6C343E-F5C3-468E-9FE8-6D31CDC8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24481-7E4D-4180-9EB7-0B4EEBF7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89DC9-10F2-423C-A87A-07ED6362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73A58E-D32F-4879-88C5-284FBE9C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ABDB8-8A88-43A0-9BFE-D62B4615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2422D5-5184-488F-AA19-6F263103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293B1A-2504-4D0C-ACA2-4A7F204BE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087048-F7BA-4A92-B5B5-C4FD9B29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5AF66D-086F-4C83-87BA-D19FFA66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DF60AD-F586-4846-8B27-6167051A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881280-D66C-4D4D-84BD-DD2979D9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015E77-4B62-4233-9037-CD1689EB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1E853-C416-4BB9-8940-564D62CF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3EB74F-9B63-483B-9E96-B6CE904E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F02A9B-4B9B-4206-B53C-308F6647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8CF612-79C5-40C2-9D04-FE106165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645597-B58F-41BD-B03F-DDF9111E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F80AD4-E226-4D76-BA21-B36D3856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044E64-8364-499D-9E55-66DEE7D7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BFDCEB-45F0-4C6A-96EE-C62245F6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157611-DB50-4B22-876B-7B395326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368552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21CE06-8CA6-4A88-AAA4-6B364FAC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13995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06 - 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251652-3C69-4849-B665-57029E07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95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Agent задава read-only въпроси към database-а.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3F4F0D-2136-4FFE-A414-A682B49A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Tool-calling loop: list/count/get/aggregate/search/vector tools with audited sessions.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B9721A-01A8-4EF7-834B-B0DE008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076450"/>
            <a:ext cx="6057900" cy="3743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7964DA-0A07-49DA-9FEE-81727267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076450"/>
            <a:ext cx="605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AC0764-A540-404B-A018-860379DE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4120CB-1C4B-4EA0-9CEB-B5B4B071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866936-523B-4CBD-98FA-06092F8F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8A8ADE-EBA8-4A65-BE62-ECA1A318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133600"/>
            <a:ext cx="516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Agent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3b737869cf49a3"/>
          <a:srcRect xmlns:a="http://schemas.openxmlformats.org/drawingml/2006/main" l="0" t="4968" r="0" b="49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00650" y="2419350"/>
            <a:ext cx="5905500" cy="3324225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75F747-5629-4602-9680-DE57C0F4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3905250" cy="2419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46275C-9879-47FE-B7E4-87A6F7A5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Примерни въпроси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82C896-E36F-4D0D-AD36-E2486999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9085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553504-CDEC-424F-8354-083248A9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2971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Колко SUV ads има?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1EAD55-9ED6-46FC-AE62-9B60E127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0995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BD4371-606A-41E2-88FC-BFE1D010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86150"/>
            <a:ext cx="2971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Покажи urgency + price offers.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E6AE6F-DCE6-41C2-A1D3-6269A118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2905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A259B0-05C9-488E-92BC-213998FB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05250"/>
            <a:ext cx="2971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Compare two automotive ads.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7D7DED-1043-4C93-A1C6-76500827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F6B6-10E7-4399-BBD8-19992E9F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24350"/>
            <a:ext cx="2971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Групирай по category и brand.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54197B-CC8C-4A45-A93A-E86855B63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D28A23-5883-4317-A517-7FC51BAE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0150"/>
            <a:ext cx="971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read-only DB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AA7C28-4520-4BBB-BB55-C7CF7F12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53000"/>
            <a:ext cx="1066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E926774-E0C7-4999-BCD5-F1FB6058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10150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B5CF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B5CF6"/>
                </a:solidFill>
                <a:latin typeface="Aptos Mono"/>
                <a:ea typeface="Aptos Mono"/>
                <a:cs typeface="Aptos Mono"/>
              </a:rPr>
              <a:t>tool calls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D69932E-3CDE-40C1-BBAC-BDE1DC89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953000"/>
            <a:ext cx="933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E7C207-2491-421F-9FB4-45298A0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10150"/>
            <a:ext cx="704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C2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0C2FF"/>
                </a:solidFill>
                <a:latin typeface="Aptos Mono"/>
                <a:ea typeface="Aptos Mono"/>
                <a:cs typeface="Aptos Mono"/>
              </a:rPr>
              <a:t>citations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2C0DE15-EDD1-4CBB-B782-D75E5A60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E66319E-03F6-4C93-8A4E-5234F614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7700231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8F642E-FAE3-4088-B814-779131A9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0899C3-BD30-4A3B-B437-15973BAF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7B4B4E-B9C0-4B16-AF4E-B94881A2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17AF48-FD3D-4AC1-8F4B-52EB81CB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D5F687-0B6C-4A6A-B765-4105F02D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71C706-7B46-463F-98BF-0157B76F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A7D48D-1B64-4FCC-B5AB-465C5736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8E3F6A-9EE3-43DD-826C-97B47639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89FA6-F8EC-4BE7-AAA5-3F089EFD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732529-5514-4D5E-8C26-3DDCCE75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1015EF-447D-4E64-815E-448C65D7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F77FE-54ED-435B-92F3-574583C1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2E876F-29ED-4613-8275-E4B35A1F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8E872D-BF96-4A2A-99A3-3B61C669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818F17-74F4-46E4-AF90-753838A6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CD678A-ACB5-4FB9-8CA9-50A4A0FC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73823E-BF35-476B-85AC-7DAD2F25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E59FED-F371-45E4-AA12-8A4CDF4C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D3FD04-5489-4D33-8597-C81EA591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7C98EC-E168-465C-9AA3-9F2B05A6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28079A-BE33-4AC6-ADA5-0146BCBF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703832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0DFE0A-41F0-4DE9-9B93-780E1C13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47523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07 - OPERATIONS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57EC8E-2D88-4BD2-812C-30AED56A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95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Settings, Taxonomy и Jobs държат runtime-а configurable.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32895D-838F-4901-A652-825D6D41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Model routes, prompts, OCR, taxonomy and job recovery stay visible.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AA933B-024D-4C30-97F4-35ED7FFE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71700"/>
            <a:ext cx="4248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B05667-6333-476B-BD95-B176EDE5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71700"/>
            <a:ext cx="4248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776754-0632-46E4-B803-D407D434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9A7BE2-D37A-49AE-B94D-5BC067B8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D0988C-5C90-483D-BC60-0E4C4C66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A7679E-E18A-41A8-96CD-D36C4FEC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28850"/>
            <a:ext cx="3352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Settings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959526eee345f1"/>
          <a:srcRect xmlns:a="http://schemas.openxmlformats.org/drawingml/2006/main" l="0" t="4977" r="0" b="49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2514600"/>
            <a:ext cx="4095750" cy="2305050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65EACF-4124-4B73-BB2C-3D20EA12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71700"/>
            <a:ext cx="4248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A0F6D3-9506-4EE3-9235-D0DF39B1C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71700"/>
            <a:ext cx="4248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DEC71A-9AAF-48FB-8B54-06F5F426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860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8A9276-C231-4444-BC0D-CED816EB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860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E1859D-323A-4CD6-AD3E-C20D8C5B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2860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4720EF-C860-427F-970B-2BAC1DFC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28850"/>
            <a:ext cx="3352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Taxonomy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11b9c805774f0e"/>
          <a:srcRect xmlns:a="http://schemas.openxmlformats.org/drawingml/2006/main" l="0" t="4977" r="0" b="49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57750" y="2514600"/>
            <a:ext cx="4095750" cy="230505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D1667A-836A-4545-B9DF-6893EB1A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47900"/>
            <a:ext cx="19050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239845-2F6B-4D1E-9C9D-8A530D12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765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Jobs &amp; Runtime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77080B-D136-4E0D-8626-C7252A4C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009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6B98F7-136E-4928-8E9F-35F0FAF9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33700"/>
            <a:ext cx="1257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state cleanup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6CEDF2D-22D4-4C6B-82D3-055CBC5E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5ED0BC-39B2-446C-B9F5-BC72922F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276600"/>
            <a:ext cx="1257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cancel / delete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144CA87-B76A-41CA-85CC-238606D1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95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0949BCE-2C1F-4246-9511-70F4086B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19500"/>
            <a:ext cx="1257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failed visibility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DC4F97A-B340-46CE-B193-66973C72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038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6DF05F2-0C47-4E25-91B3-98F7BA3F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962400"/>
            <a:ext cx="1257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demo recovery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8805516-E0D8-422A-9BC3-D89D0441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52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635284D-E102-4BC9-BC38-F096D88C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00700"/>
            <a:ext cx="885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Control surface: model routing, editable prompts, OCR config, taxonomy knowledge and job state cleanup.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20E49E-4C1C-44A8-A771-79678912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C91ADEA-EA2C-4131-8852-1B869F38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6581255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499AB1-1A26-4865-9BC1-BDAC649C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7B205B-5B78-4C54-85DD-3AA07182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0EE4B1-17F0-4E88-8E73-D0F517AB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823B3-0854-4576-A86C-D50172A5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692DDE-9EE3-4B20-A8B5-05B5A74F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6D916-5A23-4367-A085-ABFEDE45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11B7A-A607-41C9-8C52-8233356E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A8C0B0-E17D-4FC8-8C68-BCBEC764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714F31-D51A-4E53-8935-02324F58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D32EFD-611E-4391-9ECC-ABE57C3F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22289-B269-46AE-82CC-17D5E8C7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CBB46F-B7FD-4E27-9E6E-A1DB060C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7D8472-2963-4E35-87F2-926D5C30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71BD24-3FB6-48C3-8E8F-C6637A7E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82640F-4C82-4D8F-B105-558C49B0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B3F518-55A3-4A6B-809C-8264F063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F8FBAA-BFB1-4AE0-9D8C-9372174F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21809D-EF5E-4C36-A3C6-D5560576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C7DB62-D390-462B-BE28-2DFDF8C6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B999F3-EACF-431C-8B17-0984897E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84BBEC-19DB-4E51-ABCA-5A1DB8BB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83210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63FA13-B047-4750-B6F3-E47620AF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603504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DEMO PATH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A3581A-8AE7-4AAE-B810-32CD5A2C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95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Demo flow: upload -&gt; inspect -&gt; retrieve -&gt; ask.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D9BBD8-5523-4D51-A472-0C4E24D8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Shows backend architecture and end-user value without deep setup detail.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1D49E3-962E-487D-A010-D95C61F2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19350"/>
            <a:ext cx="1809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B1E7EB-6277-48F0-8732-6F1F437D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90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402BCE-9845-4111-BEBE-83AA3558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1. Upload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BA824E-D825-4CDD-9BCC-76EF941B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352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clip -&gt; stage progress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9701BE-9845-4613-9D3E-6514EB86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9908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310627-9BE3-4020-8E8F-7CEEDC90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1809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EDE8C8-31C0-4E35-AF1B-77937199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90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C43C8F-07CB-41EA-AAA6-348D6A4F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5336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2. Inspect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C76CF6-4E2D-482A-9007-73A62EBE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19400"/>
            <a:ext cx="1352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classification, entities, evidence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DA5F92-92A6-40F7-870B-0916C32B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9908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471953-B53E-4C83-B25F-7A0BEF1B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19350"/>
            <a:ext cx="1809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76A3AC-1354-45C0-AB24-28FAA40C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590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035022-F13A-41A9-84A3-905B0C0C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336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3. Search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AB51C6-0810-4C4C-9A5D-6E67D537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19400"/>
            <a:ext cx="1352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keyword / vector / visual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EB588D-21AF-462B-8C35-170509B4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908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A919ED-08D8-4272-A12F-1241B209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19350"/>
            <a:ext cx="1809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186BACD-0964-40CB-8F2C-60B66CC6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90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D37205B-C606-4599-80C3-D0F465B8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336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4. Campaign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464318-882B-40AB-A9A8-CEFE85C7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19400"/>
            <a:ext cx="1352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variants + similarity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47BAE9-C2CF-435D-8A8A-197800CC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908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EDF675-1431-49BC-BF6A-492CC5B3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19350"/>
            <a:ext cx="1809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F5C7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6AD001-7450-43E8-B7CA-C6BC45D6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590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F3C7E8-4140-4495-80CD-9B14CDE5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5336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5. Agent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DE371F-FE06-4D28-8C6A-1BBD3475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19400"/>
            <a:ext cx="1352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plain-language query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AE3D5C9-1320-4614-B190-34C29FB8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81500"/>
            <a:ext cx="4762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8B8995-03BC-4BC8-9E0B-0F782E552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91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D4A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0D4A6"/>
                </a:solidFill>
                <a:latin typeface="Aptos"/>
                <a:ea typeface="Aptos"/>
                <a:cs typeface="Aptos"/>
              </a:rPr>
              <a:t>Какво показва demo-то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1C17FC9-A031-452E-9197-76B16584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D40331B-AC37-459A-A1AB-0FAF0DD8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53000"/>
            <a:ext cx="3924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local-first pipeline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CEFA14D-68E1-4D33-A2EB-B88AD702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76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E251BB1-8D14-473D-B262-D4C352BC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00650"/>
            <a:ext cx="3924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structured evidence and entities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BF9B2CF-8098-4C1D-971B-D3083900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24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067D501-A42F-42F0-86AB-7E56D799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48300"/>
            <a:ext cx="3924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hybrid retrieval and campaigns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FC47D54-B8FA-41BA-918D-FA929445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4762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28CADCE-8835-4CFA-AB0A-99CC417D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B5CF6"/>
                </a:solidFill>
                <a:latin typeface="Aptos"/>
                <a:ea typeface="Aptos"/>
                <a:cs typeface="Aptos"/>
              </a:rPr>
              <a:t>Следващи подобрения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1D20EBF-ACF0-4619-AC69-D9E25AF2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E79AB74-C874-401D-B363-0D152E5F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53000"/>
            <a:ext cx="3924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more sample ads and benchmark runs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C32DAE0-8597-4ADA-9C9A-E92C5C27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76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F2C0EEF-794F-400C-B179-675EB438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200650"/>
            <a:ext cx="3924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clearer install path for public repo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E4CFD52-8C5A-42A0-98DE-F17F3CFE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24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4CA7528-DC9F-4C11-881E-C20F19F2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448300"/>
            <a:ext cx="3924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prompt presets and reset controls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7787EF4-B3F6-454A-8A27-269DD365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showcase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F34C8F6-2D61-4789-B934-0B087A66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692716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2026-06-02T06:52:15.6510000Z</dcterms:created>
  <dcterms:modified xsi:type="dcterms:W3CDTF">2026-06-02T06:52:15.6510000Z</dcterms:modified>
</coreProperties>
</file>