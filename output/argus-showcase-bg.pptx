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13fbc7e374f4af9" /><Relationship Type="http://schemas.openxmlformats.org/officeDocument/2006/relationships/extended-properties" Target="/docProps/app.xml" Id="R90829b9474aa4382" /><Relationship Type="http://schemas.openxmlformats.org/officeDocument/2006/relationships/officeDocument" Target="/ppt/presentation.xml" Id="R6404e94e7bea40c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bbbc2cb99ff443b"/>
  </p:sldMasterIdLst>
  <p:notesMasterIdLst>
    <p:notesMasterId xmlns:r="http://schemas.openxmlformats.org/officeDocument/2006/relationships" r:id="Rb1b92752e83844a5"/>
  </p:notesMasterIdLst>
  <p:sldIdLst>
    <p:sldId xmlns:r="http://schemas.openxmlformats.org/officeDocument/2006/relationships" id="256" r:id="Rdc13d68a0bab4a85"/>
    <p:sldId xmlns:r="http://schemas.openxmlformats.org/officeDocument/2006/relationships" id="257" r:id="R95a4b999eb604ea1"/>
    <p:sldId xmlns:r="http://schemas.openxmlformats.org/officeDocument/2006/relationships" id="258" r:id="R6c9d95fce11449db"/>
    <p:sldId xmlns:r="http://schemas.openxmlformats.org/officeDocument/2006/relationships" id="259" r:id="Raa85456158ed464a"/>
    <p:sldId xmlns:r="http://schemas.openxmlformats.org/officeDocument/2006/relationships" id="260" r:id="Rdab530cf210341b9"/>
    <p:sldId xmlns:r="http://schemas.openxmlformats.org/officeDocument/2006/relationships" id="261" r:id="R04c05c73ef174173"/>
    <p:sldId xmlns:r="http://schemas.openxmlformats.org/officeDocument/2006/relationships" id="262" r:id="Ra377e82b004344a8"/>
    <p:sldId xmlns:r="http://schemas.openxmlformats.org/officeDocument/2006/relationships" id="263" r:id="Rb4396ec2435d44e2"/>
    <p:sldId xmlns:r="http://schemas.openxmlformats.org/officeDocument/2006/relationships" id="264" r:id="Re143ec0514374e80"/>
    <p:sldId xmlns:r="http://schemas.openxmlformats.org/officeDocument/2006/relationships" id="265" r:id="Rbf5c88bd643d45f9"/>
    <p:sldId xmlns:r="http://schemas.openxmlformats.org/officeDocument/2006/relationships" id="266" r:id="R392f79adb7d642cd"/>
    <p:sldId xmlns:r="http://schemas.openxmlformats.org/officeDocument/2006/relationships" id="267" r:id="R892a2fb621574acf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17ab3e6ef824c2e" /><Relationship Type="http://schemas.openxmlformats.org/officeDocument/2006/relationships/slideMaster" Target="/ppt/slideMasters/slideMaster1.xml" Id="R8bbbc2cb99ff443b" /><Relationship Type="http://schemas.openxmlformats.org/officeDocument/2006/relationships/notesMaster" Target="/ppt/notesMasters/notesMaster1.xml" Id="Rb1b92752e83844a5" /><Relationship Type="http://schemas.openxmlformats.org/officeDocument/2006/relationships/presProps" Target="/ppt/presProps.xml" Id="R84aba2b3fbcc4f46" /><Relationship Type="http://schemas.openxmlformats.org/officeDocument/2006/relationships/viewProps" Target="/ppt/viewProps.xml" Id="R48dc94484b034e77" /><Relationship Type="http://schemas.openxmlformats.org/officeDocument/2006/relationships/tableStyles" Target="/ppt/tableStyles.xml" Id="R97db91dbb04a454f" /><Relationship Type="http://schemas.openxmlformats.org/officeDocument/2006/relationships/slide" Target="/ppt/slides/slide1.xml" Id="Rdc13d68a0bab4a85" /><Relationship Type="http://schemas.openxmlformats.org/officeDocument/2006/relationships/slide" Target="/ppt/slides/slide2.xml" Id="R95a4b999eb604ea1" /><Relationship Type="http://schemas.openxmlformats.org/officeDocument/2006/relationships/slide" Target="/ppt/slides/slide3.xml" Id="R6c9d95fce11449db" /><Relationship Type="http://schemas.openxmlformats.org/officeDocument/2006/relationships/slide" Target="/ppt/slides/slide4.xml" Id="Raa85456158ed464a" /><Relationship Type="http://schemas.openxmlformats.org/officeDocument/2006/relationships/slide" Target="/ppt/slides/slide5.xml" Id="Rdab530cf210341b9" /><Relationship Type="http://schemas.openxmlformats.org/officeDocument/2006/relationships/slide" Target="/ppt/slides/slide6.xml" Id="R04c05c73ef174173" /><Relationship Type="http://schemas.openxmlformats.org/officeDocument/2006/relationships/slide" Target="/ppt/slides/slide7.xml" Id="Ra377e82b004344a8" /><Relationship Type="http://schemas.openxmlformats.org/officeDocument/2006/relationships/slide" Target="/ppt/slides/slide8.xml" Id="Rb4396ec2435d44e2" /><Relationship Type="http://schemas.openxmlformats.org/officeDocument/2006/relationships/slide" Target="/ppt/slides/slide9.xml" Id="Re143ec0514374e80" /><Relationship Type="http://schemas.openxmlformats.org/officeDocument/2006/relationships/slide" Target="/ppt/slides/slide10.xml" Id="Rbf5c88bd643d45f9" /><Relationship Type="http://schemas.openxmlformats.org/officeDocument/2006/relationships/slide" Target="/ppt/slides/slide11.xml" Id="R392f79adb7d642cd" /><Relationship Type="http://schemas.openxmlformats.org/officeDocument/2006/relationships/slide" Target="/ppt/slides/slide12.xml" Id="R892a2fb621574ac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94ff26d9f984db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2860a2252104633" /><Relationship Type="http://schemas.openxmlformats.org/officeDocument/2006/relationships/notesMaster" Target="/ppt/notesMasters/notesMaster1.xml" Id="Rd01fc446236440a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ec931e6d44e4426" /><Relationship Type="http://schemas.openxmlformats.org/officeDocument/2006/relationships/notesMaster" Target="/ppt/notesMasters/notesMaster1.xml" Id="R45fbdba7cb294d5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8927242522440e3" /><Relationship Type="http://schemas.openxmlformats.org/officeDocument/2006/relationships/notesMaster" Target="/ppt/notesMasters/notesMaster1.xml" Id="Rc04f180ed46f4ac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dc9219736d24e14" /><Relationship Type="http://schemas.openxmlformats.org/officeDocument/2006/relationships/notesMaster" Target="/ppt/notesMasters/notesMaster1.xml" Id="R128bcae0410a40c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ad3ca734492421b" /><Relationship Type="http://schemas.openxmlformats.org/officeDocument/2006/relationships/notesMaster" Target="/ppt/notesMasters/notesMaster1.xml" Id="R16d472fb73b34bd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0041f96e3804acd" /><Relationship Type="http://schemas.openxmlformats.org/officeDocument/2006/relationships/notesMaster" Target="/ppt/notesMasters/notesMaster1.xml" Id="R68ab11ef565f459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bd2da1359104a52" /><Relationship Type="http://schemas.openxmlformats.org/officeDocument/2006/relationships/notesMaster" Target="/ppt/notesMasters/notesMaster1.xml" Id="R958906f492cd4b3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071fc01f4194014" /><Relationship Type="http://schemas.openxmlformats.org/officeDocument/2006/relationships/notesMaster" Target="/ppt/notesMasters/notesMaster1.xml" Id="R39d9584dfab94c9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16eb5d1b86c4de4" /><Relationship Type="http://schemas.openxmlformats.org/officeDocument/2006/relationships/notesMaster" Target="/ppt/notesMasters/notesMaster1.xml" Id="R63eac4af479f412c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37a6a59bdb14d6c" /><Relationship Type="http://schemas.openxmlformats.org/officeDocument/2006/relationships/notesMaster" Target="/ppt/notesMasters/notesMaster1.xml" Id="R12a8cbc3315f486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838f89c53884c65" /><Relationship Type="http://schemas.openxmlformats.org/officeDocument/2006/relationships/notesMaster" Target="/ppt/notesMasters/notesMaster1.xml" Id="Rfe5627d4a6d744a9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a011eb91a6d24933" /><Relationship Type="http://schemas.openxmlformats.org/officeDocument/2006/relationships/notesMaster" Target="/ppt/notesMasters/notesMaster1.xml" Id="Ra435b351139e4c3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1982859823a4b8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a0a1467866643ef" /><Relationship Type="http://schemas.openxmlformats.org/officeDocument/2006/relationships/slideLayout" Target="/ppt/slideLayouts/slideLayout1.xml" Id="R8c2e4c33bfad4b7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c2e4c33bfad4b7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b1ef34137c849d7" /><Relationship Type="http://schemas.openxmlformats.org/officeDocument/2006/relationships/image" Target="/ppt/media/image.jpeg" Id="Re3c21fd8d9504ed4" /><Relationship Type="http://schemas.openxmlformats.org/officeDocument/2006/relationships/notesSlide" Target="/ppt/notesSlides/notesSlide1.xml" Id="R830185c3303f417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167792da904f51" /><Relationship Type="http://schemas.openxmlformats.org/officeDocument/2006/relationships/notesSlide" Target="/ppt/notesSlides/notesSlide2.xml" Id="R54841e3a71ca438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2c183c79c8d411f" /><Relationship Type="http://schemas.openxmlformats.org/officeDocument/2006/relationships/notesSlide" Target="/ppt/notesSlides/notesSlide3.xml" Id="R37f232303ed4456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f969de82d04500" /><Relationship Type="http://schemas.openxmlformats.org/officeDocument/2006/relationships/notesSlide" Target="/ppt/notesSlides/notesSlide4.xml" Id="R4b81597d8b7e4d9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548024a08d492a" /><Relationship Type="http://schemas.openxmlformats.org/officeDocument/2006/relationships/notesSlide" Target="/ppt/notesSlides/notesSlide5.xml" Id="R719219f5164045d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54f6eb2bcf4cc0" /><Relationship Type="http://schemas.openxmlformats.org/officeDocument/2006/relationships/image" Target="/ppt/media/image.png" Id="Ra16a60391674418a" /><Relationship Type="http://schemas.openxmlformats.org/officeDocument/2006/relationships/notesSlide" Target="/ppt/notesSlides/notesSlide6.xml" Id="R09ac7f6c84b84ac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2554e4726ae40d5" /><Relationship Type="http://schemas.openxmlformats.org/officeDocument/2006/relationships/image" Target="/ppt/media/image2.png" Id="Rc301fa5aab984813" /><Relationship Type="http://schemas.openxmlformats.org/officeDocument/2006/relationships/notesSlide" Target="/ppt/notesSlides/notesSlide7.xml" Id="R3510738cef1c4a1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4b2f8dd48f644cc" /><Relationship Type="http://schemas.openxmlformats.org/officeDocument/2006/relationships/image" Target="/ppt/media/image3.png" Id="R791c6c3ab93343cb" /><Relationship Type="http://schemas.openxmlformats.org/officeDocument/2006/relationships/notesSlide" Target="/ppt/notesSlides/notesSlide8.xml" Id="R67cda36d2ad1437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97f9ff37054ddb" /><Relationship Type="http://schemas.openxmlformats.org/officeDocument/2006/relationships/image" Target="/ppt/media/image4.png" Id="Rc12df2ae013d4b76" /><Relationship Type="http://schemas.openxmlformats.org/officeDocument/2006/relationships/notesSlide" Target="/ppt/notesSlides/notesSlide9.xml" Id="R90e524c5d9744bb7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d83cdca41e47ab" /><Relationship Type="http://schemas.openxmlformats.org/officeDocument/2006/relationships/image" Target="/ppt/media/image5.png" Id="R504710d6e90d4e1e" /><Relationship Type="http://schemas.openxmlformats.org/officeDocument/2006/relationships/notesSlide" Target="/ppt/notesSlides/notesSlide10.xml" Id="R18b6fcf2e4d24902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cb4be694b74f13" /><Relationship Type="http://schemas.openxmlformats.org/officeDocument/2006/relationships/image" Target="/ppt/media/image6.png" Id="R12376a7f4f2b4b77" /><Relationship Type="http://schemas.openxmlformats.org/officeDocument/2006/relationships/image" Target="/ppt/media/image7.png" Id="R5964a95e9e4241e2" /><Relationship Type="http://schemas.openxmlformats.org/officeDocument/2006/relationships/notesSlide" Target="/ppt/notesSlides/notesSlide11.xml" Id="R516848a8862b4162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861326930d469a" /><Relationship Type="http://schemas.openxmlformats.org/officeDocument/2006/relationships/notesSlide" Target="/ppt/notesSlides/notesSlide12.xml" Id="R859cd02b63cc483a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3c21fd8d9504ed4"/>
          <a:srcRect xmlns:a="http://schemas.openxmlformats.org/drawingml/2006/main" l="5556" t="0" r="5556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C2664B3-7B94-4068-86C1-592C41360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70B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F35ED64-68EF-419C-9EB0-ED3109C87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70B">
              <a:alpha val="3333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551B68A-21B8-4F0D-B954-C007DF026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654E8EF-27C0-43F3-99B6-EC8796599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78E4652-D116-4024-B0DA-DC7507090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F7C8C45-FD86-4F94-8F15-ABA06ED59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A2D14D8-9E84-41AD-8620-5FB386A68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22DA5E9-46F6-40EF-B069-076DF77AC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13C0416-C644-46CB-AB6C-70E769670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D2DF88B-3B18-40EB-BB28-58F1844E6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6598DAB-1EFA-4B9F-BF79-A1A892DEC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4425557-3268-4764-977D-12F3E2EA2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7755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B84B3A6-F409-40FC-891A-5E933260E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D0419B1-1A9D-422A-8F44-70C615850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0D01AED-8DDD-423E-95EF-30962AF72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8859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E7C8D36-38D0-40CC-8577-4FF88D1C5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0099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730A03E-53CF-4440-852D-33D0F4C06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1338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AA31B39-DF72-492C-BEC0-88F292B69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2578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EED94EB-3DAB-499A-ACE3-D9C628254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817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E9D4763-2CB4-4EC6-9264-209415039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5CF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666F947-1F1E-4135-8C43-DE037B7B9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13410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23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BA12E18-B82E-4437-A410-894ECAB36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15049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926"/>
          </a:solidFill>
          <a:ln xmlns:a="http://schemas.openxmlformats.org/drawingml/2006/main" w="9525">
            <a:solidFill>
              <a:srgbClr val="00D4A6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342AE6B-62B0-4F3F-A976-DB466DCB5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485900"/>
            <a:ext cx="12763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0D4A6"/>
                </a:solidFill>
                <a:latin typeface="Aptos Mono"/>
                <a:ea typeface="Aptos Mono"/>
                <a:cs typeface="Aptos Mono"/>
              </a:defRPr>
            </a:pPr>
            <a:r>
              <a:rPr sz="825" b="1">
                <a:solidFill>
                  <a:srgbClr val="00D4A6"/>
                </a:solidFill>
                <a:latin typeface="Aptos Mono"/>
                <a:ea typeface="Aptos Mono"/>
                <a:cs typeface="Aptos Mono"/>
              </a:rPr>
              <a:t>SYSTEM OVERVIEW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E7A2CFA-6C9D-482A-A114-D32E62834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28800"/>
            <a:ext cx="6667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F4F7FB"/>
                </a:solidFill>
                <a:latin typeface="Aptos Display"/>
                <a:ea typeface="Aptos Display"/>
                <a:cs typeface="Aptos Display"/>
              </a:defRPr>
            </a:pPr>
            <a:r>
              <a:rPr sz="3600" b="1">
                <a:solidFill>
                  <a:srgbClr val="F4F7FB"/>
                </a:solidFill>
                <a:latin typeface="Aptos Display"/>
                <a:ea typeface="Aptos Display"/>
                <a:cs typeface="Aptos Display"/>
              </a:rPr>
              <a:t>ARGUS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697B9A7-1F19-41E6-9C1C-7BD152C7E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24150"/>
            <a:ext cx="7239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F4F7F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F4F7FB"/>
                </a:solidFill>
                <a:latin typeface="Aptos"/>
                <a:ea typeface="Aptos"/>
                <a:cs typeface="Aptos"/>
              </a:rPr>
              <a:t>Local multimodal ad intelligence pipeline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97C2214-DE2C-40EF-90C9-9866A0030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24250"/>
            <a:ext cx="6572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8B3C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A8B3C7"/>
                </a:solidFill>
                <a:latin typeface="Aptos"/>
                <a:ea typeface="Aptos"/>
                <a:cs typeface="Aptos"/>
              </a:rPr>
              <a:t>Video ads become structured evidence, searchable records, campaigns, and read-only answers.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8447F49-D57E-4541-9570-0AE2387ED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95800"/>
            <a:ext cx="9906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926"/>
          </a:solidFill>
          <a:ln xmlns:a="http://schemas.openxmlformats.org/drawingml/2006/main" w="9525">
            <a:solidFill>
              <a:srgbClr val="00D4A6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C477B8B-0709-4319-8173-BE1455DD0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552950"/>
            <a:ext cx="76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0D4A6"/>
                </a:solidFill>
                <a:latin typeface="Aptos Mono"/>
                <a:ea typeface="Aptos Mono"/>
                <a:cs typeface="Aptos Mono"/>
              </a:defRPr>
            </a:pPr>
            <a:r>
              <a:rPr sz="825" b="1">
                <a:solidFill>
                  <a:srgbClr val="00D4A6"/>
                </a:solidFill>
                <a:latin typeface="Aptos Mono"/>
                <a:ea typeface="Aptos Mono"/>
                <a:cs typeface="Aptos Mono"/>
              </a:rPr>
              <a:t>local-first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D7A7F53-DCFD-41A1-AA04-BC8B4592E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495800"/>
            <a:ext cx="10287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926"/>
          </a:solidFill>
          <a:ln xmlns:a="http://schemas.openxmlformats.org/drawingml/2006/main" w="9525">
            <a:solidFill>
              <a:srgbClr val="8B5CF6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8DC0B65-3DEC-4632-B3D9-73A6F26EE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4552950"/>
            <a:ext cx="8001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8B5CF6"/>
                </a:solidFill>
                <a:latin typeface="Aptos Mono"/>
                <a:ea typeface="Aptos Mono"/>
                <a:cs typeface="Aptos Mono"/>
              </a:defRPr>
            </a:pPr>
            <a:r>
              <a:rPr sz="825" b="1">
                <a:solidFill>
                  <a:srgbClr val="8B5CF6"/>
                </a:solidFill>
                <a:latin typeface="Aptos Mono"/>
                <a:ea typeface="Aptos Mono"/>
                <a:cs typeface="Aptos Mono"/>
              </a:rPr>
              <a:t>OCR + VLM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B0503D7-5FDB-402F-9C66-5A122C38B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4495800"/>
            <a:ext cx="12001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926"/>
          </a:solidFill>
          <a:ln xmlns:a="http://schemas.openxmlformats.org/drawingml/2006/main" w="9525">
            <a:solidFill>
              <a:srgbClr val="00C2FF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3B46F77-3691-49F8-8181-B68466E95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4552950"/>
            <a:ext cx="9715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0C2FF"/>
                </a:solidFill>
                <a:latin typeface="Aptos Mono"/>
                <a:ea typeface="Aptos Mono"/>
                <a:cs typeface="Aptos Mono"/>
              </a:defRPr>
            </a:pPr>
            <a:r>
              <a:rPr sz="825" b="1">
                <a:solidFill>
                  <a:srgbClr val="00C2FF"/>
                </a:solidFill>
                <a:latin typeface="Aptos Mono"/>
                <a:ea typeface="Aptos Mono"/>
                <a:cs typeface="Aptos Mono"/>
              </a:rPr>
              <a:t>FTS5 search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1475BC8-6EDF-4483-AB55-D70A326DA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495800"/>
            <a:ext cx="1428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926"/>
          </a:solidFill>
          <a:ln xmlns:a="http://schemas.openxmlformats.org/drawingml/2006/main" w="9525">
            <a:solidFill>
              <a:srgbClr val="FBBF24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968DC68-4D6F-426A-A964-9D4C28B37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552950"/>
            <a:ext cx="12001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FBBF24"/>
                </a:solidFill>
                <a:latin typeface="Aptos Mono"/>
                <a:ea typeface="Aptos Mono"/>
                <a:cs typeface="Aptos Mono"/>
              </a:defRPr>
            </a:pPr>
            <a:r>
              <a:rPr sz="825" b="1">
                <a:solidFill>
                  <a:srgbClr val="FBBF24"/>
                </a:solidFill>
                <a:latin typeface="Aptos Mono"/>
                <a:ea typeface="Aptos Mono"/>
                <a:cs typeface="Aptos Mono"/>
              </a:rPr>
              <a:t>read-only agent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1DD6A5D-B1E4-4D86-9943-B5E45B231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305300"/>
            <a:ext cx="257175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3">
              <a:alpha val="86667"/>
            </a:srgbClr>
          </a:solidFill>
          <a:ln xmlns:a="http://schemas.openxmlformats.org/drawingml/2006/main" w="9525">
            <a:solidFill>
              <a:srgbClr val="263142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F37E0B0-904E-489A-8798-71EAA5857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4533900"/>
            <a:ext cx="2190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A8B3C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A8B3C7"/>
                </a:solidFill>
                <a:latin typeface="Aptos"/>
                <a:ea typeface="Aptos"/>
                <a:cs typeface="Aptos"/>
              </a:rPr>
              <a:t>Demo arc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C69A20F-2586-4032-B72D-4E34BFDA4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4819650"/>
            <a:ext cx="21907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4F7FB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F4F7FB"/>
                </a:solidFill>
                <a:latin typeface="Aptos"/>
                <a:ea typeface="Aptos"/>
                <a:cs typeface="Aptos"/>
              </a:rPr>
              <a:t>Upload -&gt; inspect -&gt; search -&gt; ask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0D82EBD-0D51-49C1-B833-60B7323A0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0"/>
            <a:ext cx="2476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47084"/>
                </a:solidFill>
                <a:latin typeface="Aptos Mono"/>
                <a:ea typeface="Aptos Mono"/>
                <a:cs typeface="Aptos Mono"/>
              </a:defRPr>
            </a:pPr>
            <a:r>
              <a:rPr sz="825" b="0">
                <a:solidFill>
                  <a:srgbClr val="647084"/>
                </a:solidFill>
                <a:latin typeface="Aptos Mono"/>
                <a:ea typeface="Aptos Mono"/>
                <a:cs typeface="Aptos Mono"/>
              </a:rPr>
              <a:t>ARGUS system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C2D7689-906F-4BE3-96AE-9107256FA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86500"/>
            <a:ext cx="1047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47084"/>
                </a:solidFill>
                <a:latin typeface="Aptos Mono"/>
                <a:ea typeface="Aptos Mono"/>
                <a:cs typeface="Aptos Mono"/>
              </a:defRPr>
            </a:pPr>
            <a:r>
              <a:rPr sz="825" b="0">
                <a:solidFill>
                  <a:srgbClr val="647084"/>
                </a:solidFill>
                <a:latin typeface="Aptos Mono"/>
                <a:ea typeface="Aptos Mono"/>
                <a:cs typeface="Aptos Mono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360484925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00BEF32-02BD-42A2-BEDD-B7F96C7A1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70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0222B56-EC71-4CFB-A3FF-1A0392FFB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B109D6B-4E05-428B-B4A4-C3F2ECA6E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F330DC5-A8A8-47B5-98FF-477710C2B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EB975BB-0BD4-42F5-9214-7E1032C17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F5CBC5A-8063-43A7-A1A8-82D5C1468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E325973-B493-4B9A-ADF0-C857F3C66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A7D9783-19D7-41CE-942E-AF2039031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C76CF45-F9FD-4B6E-A46B-6C87A8C2B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F07E91D-91AC-4EE1-98D5-DEE06C354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3A71ED7-D412-4776-9B9E-C7CB3E03F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7755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2459466-ADA5-4B04-BF5B-DB10AA9B6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677F202-5BB7-42FA-99BE-7C8554D50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0E79D33-66AE-431D-A9F5-6EC95D8C9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8859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A95FF39-0C71-4AAB-AE50-3227526F5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0099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26557AB-D2E0-433E-BEA4-E29FEF5C2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1338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D20687F-8146-49A5-B847-EB6368A58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2578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F7E9A1B-FA50-4164-8789-C0628DBF6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817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84521E5-0676-4F7E-8BBE-37DF60F95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5CF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55AE765-CB28-46C7-8488-50213D09A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13410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23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A5A2440-2C9C-4FAE-BB48-74954F976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800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926"/>
          </a:solidFill>
          <a:ln xmlns:a="http://schemas.openxmlformats.org/drawingml/2006/main" w="9525">
            <a:solidFill>
              <a:srgbClr val="00D4A6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394D91C-A11C-44FB-BEAD-3C865A3EC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95300"/>
            <a:ext cx="571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0D4A6"/>
                </a:solidFill>
                <a:latin typeface="Aptos Mono"/>
                <a:ea typeface="Aptos Mono"/>
                <a:cs typeface="Aptos Mono"/>
              </a:defRPr>
            </a:pPr>
            <a:r>
              <a:rPr sz="825" b="1">
                <a:solidFill>
                  <a:srgbClr val="00D4A6"/>
                </a:solidFill>
                <a:latin typeface="Aptos Mono"/>
                <a:ea typeface="Aptos Mono"/>
                <a:cs typeface="Aptos Mono"/>
              </a:rPr>
              <a:t>PURPOSE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1E96272-E4DA-4454-BB81-F7CE07326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38200"/>
            <a:ext cx="9144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F4F7FB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F4F7FB"/>
                </a:solidFill>
                <a:latin typeface="Aptos Display"/>
                <a:ea typeface="Aptos Display"/>
                <a:cs typeface="Aptos Display"/>
              </a:rPr>
              <a:t>The system turns ads into searchable evidence.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9CEED3B-0637-46BC-898B-5CA5C40B2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95450"/>
            <a:ext cx="876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A8B3C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A8B3C7"/>
                </a:solidFill>
                <a:latin typeface="Aptos"/>
                <a:ea typeface="Aptos"/>
                <a:cs typeface="Aptos"/>
              </a:rPr>
              <a:t>The goal is a repeatable workflow from raw video to structured records and answers.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2BB56A2-C96E-40CD-AE34-05F643BCC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24100"/>
            <a:ext cx="22860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926"/>
          </a:solidFill>
          <a:ln xmlns:a="http://schemas.openxmlformats.org/drawingml/2006/main" w="9525">
            <a:solidFill>
              <a:srgbClr val="00C2F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214ABEF-A6F3-4FEE-8259-7E341F1B4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146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C2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A5B25BB-FB35-4B39-833E-241ACF907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457450"/>
            <a:ext cx="1752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4F7F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4F7FB"/>
                </a:solidFill>
                <a:latin typeface="Aptos"/>
                <a:ea typeface="Aptos"/>
                <a:cs typeface="Aptos"/>
              </a:rPr>
              <a:t>Raw ad clip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3146E21-F519-42C4-91F1-07DEC4C24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781300"/>
            <a:ext cx="17526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8B3C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8B3C7"/>
                </a:solidFill>
                <a:latin typeface="Aptos"/>
                <a:ea typeface="Aptos"/>
                <a:cs typeface="Aptos"/>
              </a:rPr>
              <a:t>MP4 / MOV / WebM</a:t>
            </a:r>
          </a:p>
          <a:p xmlns:a="http://schemas.openxmlformats.org/drawingml/2006/main">
            <a:pPr algn="l">
              <a:defRPr sz="1050" b="0">
                <a:solidFill>
                  <a:srgbClr val="A8B3C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8B3C7"/>
                </a:solidFill>
                <a:latin typeface="Aptos"/>
                <a:ea typeface="Aptos"/>
                <a:cs typeface="Aptos"/>
              </a:rPr>
              <a:t>frames + audio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519E9BF-FFDD-41EA-9BA9-F34C0861C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2038350"/>
            <a:ext cx="266700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926"/>
          </a:solidFill>
          <a:ln xmlns:a="http://schemas.openxmlformats.org/drawingml/2006/main" w="9525">
            <a:solidFill>
              <a:srgbClr val="8B5CF6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AAE0723-5AB1-4513-86E8-5F37448E2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2288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5CF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ABDB9E1-06D9-41C7-8AC4-F4E4348DF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171700"/>
            <a:ext cx="2133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4F7F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4F7FB"/>
                </a:solidFill>
                <a:latin typeface="Aptos"/>
                <a:ea typeface="Aptos"/>
                <a:cs typeface="Aptos"/>
              </a:rPr>
              <a:t>Evidence pipeline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193CD24-BC46-439E-A689-2E93F91D9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495550"/>
            <a:ext cx="21336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8B3C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8B3C7"/>
                </a:solidFill>
                <a:latin typeface="Aptos"/>
                <a:ea typeface="Aptos"/>
                <a:cs typeface="Aptos"/>
              </a:rPr>
              <a:t>transcript</a:t>
            </a:r>
          </a:p>
          <a:p xmlns:a="http://schemas.openxmlformats.org/drawingml/2006/main">
            <a:pPr algn="l">
              <a:defRPr sz="1050" b="0">
                <a:solidFill>
                  <a:srgbClr val="A8B3C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8B3C7"/>
                </a:solidFill>
                <a:latin typeface="Aptos"/>
                <a:ea typeface="Aptos"/>
                <a:cs typeface="Aptos"/>
              </a:rPr>
              <a:t>visible text</a:t>
            </a:r>
          </a:p>
          <a:p xmlns:a="http://schemas.openxmlformats.org/drawingml/2006/main">
            <a:pPr algn="l">
              <a:defRPr sz="1050" b="0">
                <a:solidFill>
                  <a:srgbClr val="A8B3C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8B3C7"/>
                </a:solidFill>
                <a:latin typeface="Aptos"/>
                <a:ea typeface="Aptos"/>
                <a:cs typeface="Aptos"/>
              </a:rPr>
              <a:t>rules + timestamps</a:t>
            </a:r>
          </a:p>
          <a:p xmlns:a="http://schemas.openxmlformats.org/drawingml/2006/main">
            <a:pPr algn="l">
              <a:defRPr sz="1050" b="0">
                <a:solidFill>
                  <a:srgbClr val="A8B3C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8B3C7"/>
                </a:solidFill>
                <a:latin typeface="Aptos"/>
                <a:ea typeface="Aptos"/>
                <a:cs typeface="Aptos"/>
              </a:rPr>
              <a:t>VLM verification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9345478-4563-456F-9A4C-F4F2281FB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324100"/>
            <a:ext cx="238125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926"/>
          </a:solidFill>
          <a:ln xmlns:a="http://schemas.openxmlformats.org/drawingml/2006/main" w="9525">
            <a:solidFill>
              <a:srgbClr val="00D4A6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1B6096B-B8B1-4E87-B4B5-4C9D4B819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5146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D4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CD8D4DB-18C1-4EB5-A508-EA45685BD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2457450"/>
            <a:ext cx="1847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4F7F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4F7FB"/>
                </a:solidFill>
                <a:latin typeface="Aptos"/>
                <a:ea typeface="Aptos"/>
                <a:cs typeface="Aptos"/>
              </a:rPr>
              <a:t>Structured record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8C44D2B-4FF8-4C01-8FA9-ADE6716A9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2781300"/>
            <a:ext cx="18478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8B3C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8B3C7"/>
                </a:solidFill>
                <a:latin typeface="Aptos"/>
                <a:ea typeface="Aptos"/>
                <a:cs typeface="Aptos"/>
              </a:rPr>
              <a:t>category, entities</a:t>
            </a:r>
          </a:p>
          <a:p xmlns:a="http://schemas.openxmlformats.org/drawingml/2006/main">
            <a:pPr algn="l">
              <a:defRPr sz="1050" b="0">
                <a:solidFill>
                  <a:srgbClr val="A8B3C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8B3C7"/>
                </a:solidFill>
                <a:latin typeface="Aptos"/>
                <a:ea typeface="Aptos"/>
                <a:cs typeface="Aptos"/>
              </a:rPr>
              <a:t>risks, campaigns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C58E287-7398-4218-968F-11DFF395D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876550"/>
            <a:ext cx="3238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43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31AF731-FB03-4B34-8873-9DCA0C1CE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876550"/>
            <a:ext cx="3238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43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F6D680F-7C81-4DAE-BB38-537C30275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171950"/>
            <a:ext cx="16192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926"/>
          </a:solidFill>
          <a:ln xmlns:a="http://schemas.openxmlformats.org/drawingml/2006/main" w="9525">
            <a:solidFill>
              <a:srgbClr val="263142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CB1FE99-293A-4E3C-8ABE-329058C8E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295775"/>
            <a:ext cx="13525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0C2FF"/>
                </a:solidFill>
                <a:latin typeface="Aptos Mono"/>
                <a:ea typeface="Aptos Mono"/>
                <a:cs typeface="Aptos Mono"/>
              </a:defRPr>
            </a:pPr>
            <a:r>
              <a:rPr sz="1800" b="1">
                <a:solidFill>
                  <a:srgbClr val="00C2FF"/>
                </a:solidFill>
                <a:latin typeface="Aptos Mono"/>
                <a:ea typeface="Aptos Mono"/>
                <a:cs typeface="Aptos Mono"/>
              </a:rPr>
              <a:t>OCR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D9761FE-4C1E-41C7-8196-962B3A74D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629150"/>
            <a:ext cx="13525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A8B3C7"/>
                </a:solidFill>
                <a:latin typeface="Aptos Mono"/>
                <a:ea typeface="Aptos Mono"/>
                <a:cs typeface="Aptos Mono"/>
              </a:defRPr>
            </a:pPr>
            <a:r>
              <a:rPr sz="825" b="0">
                <a:solidFill>
                  <a:srgbClr val="A8B3C7"/>
                </a:solidFill>
                <a:latin typeface="Aptos Mono"/>
                <a:ea typeface="Aptos Mono"/>
                <a:cs typeface="Aptos Mono"/>
              </a:rPr>
              <a:t>visible text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557644C-34FE-47E1-8017-B12611A78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4171950"/>
            <a:ext cx="16192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926"/>
          </a:solidFill>
          <a:ln xmlns:a="http://schemas.openxmlformats.org/drawingml/2006/main" w="9525">
            <a:solidFill>
              <a:srgbClr val="263142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C9DF076-F120-40CA-BB1C-3DBC23A69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4295775"/>
            <a:ext cx="13525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8B5CF6"/>
                </a:solidFill>
                <a:latin typeface="Aptos Mono"/>
                <a:ea typeface="Aptos Mono"/>
                <a:cs typeface="Aptos Mono"/>
              </a:defRPr>
            </a:pPr>
            <a:r>
              <a:rPr sz="1800" b="1">
                <a:solidFill>
                  <a:srgbClr val="8B5CF6"/>
                </a:solidFill>
                <a:latin typeface="Aptos Mono"/>
                <a:ea typeface="Aptos Mono"/>
                <a:cs typeface="Aptos Mono"/>
              </a:rPr>
              <a:t>VLM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1C6BB6C-04E3-4534-915C-414248746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4629150"/>
            <a:ext cx="13525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A8B3C7"/>
                </a:solidFill>
                <a:latin typeface="Aptos Mono"/>
                <a:ea typeface="Aptos Mono"/>
                <a:cs typeface="Aptos Mono"/>
              </a:defRPr>
            </a:pPr>
            <a:r>
              <a:rPr sz="825" b="0">
                <a:solidFill>
                  <a:srgbClr val="A8B3C7"/>
                </a:solidFill>
                <a:latin typeface="Aptos Mono"/>
                <a:ea typeface="Aptos Mono"/>
                <a:cs typeface="Aptos Mono"/>
              </a:rPr>
              <a:t>semantic check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E7E08F0-8E34-4944-88D8-C33292838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171950"/>
            <a:ext cx="16192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926"/>
          </a:solidFill>
          <a:ln xmlns:a="http://schemas.openxmlformats.org/drawingml/2006/main" w="9525">
            <a:solidFill>
              <a:srgbClr val="263142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03C97D93-C53F-4EA0-9356-2CB80A319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4295775"/>
            <a:ext cx="13525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0D4A6"/>
                </a:solidFill>
                <a:latin typeface="Aptos Mono"/>
                <a:ea typeface="Aptos Mono"/>
                <a:cs typeface="Aptos Mono"/>
              </a:defRPr>
            </a:pPr>
            <a:r>
              <a:rPr sz="1800" b="1">
                <a:solidFill>
                  <a:srgbClr val="00D4A6"/>
                </a:solidFill>
                <a:latin typeface="Aptos Mono"/>
                <a:ea typeface="Aptos Mono"/>
                <a:cs typeface="Aptos Mono"/>
              </a:rPr>
              <a:t>FTS5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C374B72D-5A39-4A5C-B093-6117C7FC7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4629150"/>
            <a:ext cx="13525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A8B3C7"/>
                </a:solidFill>
                <a:latin typeface="Aptos Mono"/>
                <a:ea typeface="Aptos Mono"/>
                <a:cs typeface="Aptos Mono"/>
              </a:defRPr>
            </a:pPr>
            <a:r>
              <a:rPr sz="825" b="0">
                <a:solidFill>
                  <a:srgbClr val="A8B3C7"/>
                </a:solidFill>
                <a:latin typeface="Aptos Mono"/>
                <a:ea typeface="Aptos Mono"/>
                <a:cs typeface="Aptos Mono"/>
              </a:rPr>
              <a:t>keyword search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E95A5558-EDE6-40EF-B5BE-7EED08E1D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4171950"/>
            <a:ext cx="16192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926"/>
          </a:solidFill>
          <a:ln xmlns:a="http://schemas.openxmlformats.org/drawingml/2006/main" w="9525">
            <a:solidFill>
              <a:srgbClr val="263142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B341F259-F04C-46CB-AD1F-03D44DA53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295775"/>
            <a:ext cx="13525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BBF24"/>
                </a:solidFill>
                <a:latin typeface="Aptos Mono"/>
                <a:ea typeface="Aptos Mono"/>
                <a:cs typeface="Aptos Mono"/>
              </a:defRPr>
            </a:pPr>
            <a:r>
              <a:rPr sz="1800" b="1">
                <a:solidFill>
                  <a:srgbClr val="FBBF24"/>
                </a:solidFill>
                <a:latin typeface="Aptos Mono"/>
                <a:ea typeface="Aptos Mono"/>
                <a:cs typeface="Aptos Mono"/>
              </a:rPr>
              <a:t>Agent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CA070787-0C86-4848-ABF0-4301AAAF8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629150"/>
            <a:ext cx="13525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A8B3C7"/>
                </a:solidFill>
                <a:latin typeface="Aptos Mono"/>
                <a:ea typeface="Aptos Mono"/>
                <a:cs typeface="Aptos Mono"/>
              </a:defRPr>
            </a:pPr>
            <a:r>
              <a:rPr sz="825" b="0">
                <a:solidFill>
                  <a:srgbClr val="A8B3C7"/>
                </a:solidFill>
                <a:latin typeface="Aptos Mono"/>
                <a:ea typeface="Aptos Mono"/>
                <a:cs typeface="Aptos Mono"/>
              </a:rPr>
              <a:t>read-only tools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543FC945-1AAF-441A-8670-607A75E89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4038600"/>
            <a:ext cx="209550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926"/>
          </a:solidFill>
          <a:ln xmlns:a="http://schemas.openxmlformats.org/drawingml/2006/main" w="9525">
            <a:solidFill>
              <a:srgbClr val="263142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88CF8233-06B2-4F88-AFCA-6FA67F91F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4210050"/>
            <a:ext cx="1714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4F7F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4F7FB"/>
                </a:solidFill>
                <a:latin typeface="Aptos"/>
                <a:ea typeface="Aptos"/>
                <a:cs typeface="Aptos"/>
              </a:rPr>
              <a:t>Outcome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B905357B-28AE-4E63-93A4-2B57BB48E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45910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D4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F42E35FA-E137-4BC7-8AB9-822B6A295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4514850"/>
            <a:ext cx="14859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F4F7F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F4F7FB"/>
                </a:solidFill>
                <a:latin typeface="Aptos"/>
                <a:ea typeface="Aptos"/>
                <a:cs typeface="Aptos"/>
              </a:rPr>
              <a:t>inspect records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B23708C8-C6AE-4C25-99AB-0295AD339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482917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D4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AAEAAF7E-EC5C-4777-ACED-EC8D97359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4752975"/>
            <a:ext cx="14859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F4F7F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F4F7FB"/>
                </a:solidFill>
                <a:latin typeface="Aptos"/>
                <a:ea typeface="Aptos"/>
                <a:cs typeface="Aptos"/>
              </a:rPr>
              <a:t>compare ads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599590F3-B3C1-44CE-898C-E13713A6E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50673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D4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289D799A-F31D-4AFE-9426-8C7C7707F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4991100"/>
            <a:ext cx="14859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F4F7F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F4F7FB"/>
                </a:solidFill>
                <a:latin typeface="Aptos"/>
                <a:ea typeface="Aptos"/>
                <a:cs typeface="Aptos"/>
              </a:rPr>
              <a:t>ask questions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25BC72D8-080E-471C-8275-3EEA520CF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0"/>
            <a:ext cx="2476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47084"/>
                </a:solidFill>
                <a:latin typeface="Aptos Mono"/>
                <a:ea typeface="Aptos Mono"/>
                <a:cs typeface="Aptos Mono"/>
              </a:defRPr>
            </a:pPr>
            <a:r>
              <a:rPr sz="825" b="0">
                <a:solidFill>
                  <a:srgbClr val="647084"/>
                </a:solidFill>
                <a:latin typeface="Aptos Mono"/>
                <a:ea typeface="Aptos Mono"/>
                <a:cs typeface="Aptos Mono"/>
              </a:rPr>
              <a:t>ARGUS system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D491B374-709D-432D-83C5-D232D5072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86500"/>
            <a:ext cx="1047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47084"/>
                </a:solidFill>
                <a:latin typeface="Aptos Mono"/>
                <a:ea typeface="Aptos Mono"/>
                <a:cs typeface="Aptos Mono"/>
              </a:defRPr>
            </a:pPr>
            <a:r>
              <a:rPr sz="825" b="0">
                <a:solidFill>
                  <a:srgbClr val="647084"/>
                </a:solidFill>
                <a:latin typeface="Aptos Mono"/>
                <a:ea typeface="Aptos Mono"/>
                <a:cs typeface="Aptos Mono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336360109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DE2CF8A-C19C-466F-BC7B-034D064BC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70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5DB0F68-90FF-4FAC-A4AD-D3CC544D5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D609068-EB10-4454-975F-4F0F23068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5402AD3-7CB7-4117-B90F-6991DA2B0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DD9368D-F4D9-4C63-B5D8-542E0847B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209490A-044E-4A9E-97D8-E8405D283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357C260-E34B-4BBF-B695-248DD7430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FC50801-C7BE-462E-B50C-E322E755C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ECBE42C-6B55-43D6-9EF6-385D7E448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D2C6B2C-7E75-40A1-98D6-BB7B1422F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5CF4A48-6F1C-4A27-8FB4-237D29D6B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7755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755832E-1388-4EF9-AFB3-AFEC23E5A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626E3E0-C634-4250-B07F-C53FC6036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FB8A80A-9E58-4A8E-9F5D-2096A0111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8859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9AE783C-C241-480A-969F-A7D661D77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0099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22A4946-C7D7-4914-913A-5A929075E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1338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427C27C-46AC-447B-9782-2720D7FB7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2578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CFD800A-6BC0-4564-9B88-D10A7E3F4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817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3033D17-75A4-44F7-9B61-E9FA51583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5CF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2163A37-D434-46F2-8D98-8A66416C9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13410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23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1AFDB3F-3434-45A2-AAFE-FAE9B38B7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1033272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926"/>
          </a:solidFill>
          <a:ln xmlns:a="http://schemas.openxmlformats.org/drawingml/2006/main" w="9525">
            <a:solidFill>
              <a:srgbClr val="00D4A6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E434AED-C458-4BA7-858B-911BDC83F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95300"/>
            <a:ext cx="804672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0D4A6"/>
                </a:solidFill>
                <a:latin typeface="Aptos Mono"/>
                <a:ea typeface="Aptos Mono"/>
                <a:cs typeface="Aptos Mono"/>
              </a:defRPr>
            </a:pPr>
            <a:r>
              <a:rPr sz="825" b="1">
                <a:solidFill>
                  <a:srgbClr val="00D4A6"/>
                </a:solidFill>
                <a:latin typeface="Aptos Mono"/>
                <a:ea typeface="Aptos Mono"/>
                <a:cs typeface="Aptos Mono"/>
              </a:rPr>
              <a:t>ARCHITECTURE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FFF0FE5-6F20-45E3-A0F3-3CFC44239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38200"/>
            <a:ext cx="9144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4F7FB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F4F7FB"/>
                </a:solidFill>
                <a:latin typeface="Aptos Display"/>
                <a:ea typeface="Aptos Display"/>
                <a:cs typeface="Aptos Display"/>
              </a:rPr>
              <a:t>The frontend, API, worker, models, and database are decoupled.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608F07F-9114-4992-AEB6-6D4C4D34C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95450"/>
            <a:ext cx="876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A8B3C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A8B3C7"/>
                </a:solidFill>
                <a:latin typeface="Aptos"/>
                <a:ea typeface="Aptos"/>
                <a:cs typeface="Aptos"/>
              </a:rPr>
              <a:t>Each layer has a clear responsibility and communicates through stable interfaces.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A94EE56-5688-4566-9DD5-0A1A9BEF7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381250"/>
            <a:ext cx="1809750" cy="129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926"/>
          </a:solidFill>
          <a:ln xmlns:a="http://schemas.openxmlformats.org/drawingml/2006/main" w="9525">
            <a:solidFill>
              <a:srgbClr val="8B5CF6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E9CA2CA-A9D6-4A19-BDF1-786465EC2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5717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5CF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AAF8E8E-BDF7-4CBC-A7A6-662C9D07A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514600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4F7F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4F7FB"/>
                </a:solidFill>
                <a:latin typeface="Aptos"/>
                <a:ea typeface="Aptos"/>
                <a:cs typeface="Aptos"/>
              </a:rPr>
              <a:t>Frontend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6663A02-6D7A-45D7-8436-9AA041565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838450"/>
            <a:ext cx="12763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8B3C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8B3C7"/>
                </a:solidFill>
                <a:latin typeface="Aptos"/>
                <a:ea typeface="Aptos"/>
                <a:cs typeface="Aptos"/>
              </a:rPr>
              <a:t>Vite + React</a:t>
            </a:r>
          </a:p>
          <a:p xmlns:a="http://schemas.openxmlformats.org/drawingml/2006/main">
            <a:pPr algn="l">
              <a:defRPr sz="1050" b="0">
                <a:solidFill>
                  <a:srgbClr val="A8B3C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8B3C7"/>
                </a:solidFill>
                <a:latin typeface="Aptos"/>
                <a:ea typeface="Aptos"/>
                <a:cs typeface="Aptos"/>
              </a:rPr>
              <a:t>Upload, Library</a:t>
            </a:r>
          </a:p>
          <a:p xmlns:a="http://schemas.openxmlformats.org/drawingml/2006/main">
            <a:pPr algn="l">
              <a:defRPr sz="1050" b="0">
                <a:solidFill>
                  <a:srgbClr val="A8B3C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8B3C7"/>
                </a:solidFill>
                <a:latin typeface="Aptos"/>
                <a:ea typeface="Aptos"/>
                <a:cs typeface="Aptos"/>
              </a:rPr>
              <a:t>Search, Agent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D8F5F9F-502E-48B9-A5C6-F62EBC0A9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819400"/>
            <a:ext cx="1809750" cy="129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926"/>
          </a:solidFill>
          <a:ln xmlns:a="http://schemas.openxmlformats.org/drawingml/2006/main" w="9525">
            <a:solidFill>
              <a:srgbClr val="00C2FF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7C2ECF4-2EB0-4FB3-8B67-C3FE54E1E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0099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C2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44120DA-F7AA-4A94-868E-E97F8D5D0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2952750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4F7F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4F7FB"/>
                </a:solidFill>
                <a:latin typeface="Aptos"/>
                <a:ea typeface="Aptos"/>
                <a:cs typeface="Aptos"/>
              </a:rPr>
              <a:t>FastAPI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F73F2B4-B641-4543-BC0E-6D1A16556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3276600"/>
            <a:ext cx="12763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8B3C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8B3C7"/>
                </a:solidFill>
                <a:latin typeface="Aptos"/>
                <a:ea typeface="Aptos"/>
                <a:cs typeface="Aptos"/>
              </a:rPr>
              <a:t>OpenAPI surface</a:t>
            </a:r>
          </a:p>
          <a:p xmlns:a="http://schemas.openxmlformats.org/drawingml/2006/main">
            <a:pPr algn="l">
              <a:defRPr sz="1050" b="0">
                <a:solidFill>
                  <a:srgbClr val="A8B3C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8B3C7"/>
                </a:solidFill>
                <a:latin typeface="Aptos"/>
                <a:ea typeface="Aptos"/>
                <a:cs typeface="Aptos"/>
              </a:rPr>
              <a:t>Jobs + SSE</a:t>
            </a:r>
          </a:p>
          <a:p xmlns:a="http://schemas.openxmlformats.org/drawingml/2006/main">
            <a:pPr algn="l">
              <a:defRPr sz="1050" b="0">
                <a:solidFill>
                  <a:srgbClr val="A8B3C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8B3C7"/>
                </a:solidFill>
                <a:latin typeface="Aptos"/>
                <a:ea typeface="Aptos"/>
                <a:cs typeface="Aptos"/>
              </a:rPr>
              <a:t>read-only endpoints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E5181FF-864D-4823-84E9-6389DEFE6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381250"/>
            <a:ext cx="1809750" cy="129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926"/>
          </a:solidFill>
          <a:ln xmlns:a="http://schemas.openxmlformats.org/drawingml/2006/main" w="9525">
            <a:solidFill>
              <a:srgbClr val="00D4A6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3E29B01-A6FB-413A-AC9E-B42E0BEB6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25717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D4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0926CBD-2B37-4110-B137-256F124A2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2514600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4F7F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4F7FB"/>
                </a:solidFill>
                <a:latin typeface="Aptos"/>
                <a:ea typeface="Aptos"/>
                <a:cs typeface="Aptos"/>
              </a:rPr>
              <a:t>Worker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72EBBBA-1BF0-4B72-9990-C24738D77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2838450"/>
            <a:ext cx="12763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8B3C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8B3C7"/>
                </a:solidFill>
                <a:latin typeface="Aptos"/>
                <a:ea typeface="Aptos"/>
                <a:cs typeface="Aptos"/>
              </a:rPr>
              <a:t>restartable stages</a:t>
            </a:r>
          </a:p>
          <a:p xmlns:a="http://schemas.openxmlformats.org/drawingml/2006/main">
            <a:pPr algn="l">
              <a:defRPr sz="1050" b="0">
                <a:solidFill>
                  <a:srgbClr val="A8B3C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8B3C7"/>
                </a:solidFill>
                <a:latin typeface="Aptos"/>
                <a:ea typeface="Aptos"/>
                <a:cs typeface="Aptos"/>
              </a:rPr>
              <a:t>OCR / VLM</a:t>
            </a:r>
          </a:p>
          <a:p xmlns:a="http://schemas.openxmlformats.org/drawingml/2006/main">
            <a:pPr algn="l">
              <a:defRPr sz="1050" b="0">
                <a:solidFill>
                  <a:srgbClr val="A8B3C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8B3C7"/>
                </a:solidFill>
                <a:latin typeface="Aptos"/>
                <a:ea typeface="Aptos"/>
                <a:cs typeface="Aptos"/>
              </a:rPr>
              <a:t>persistence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BE2346B-F22C-42B5-86BE-D619B26A2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819400"/>
            <a:ext cx="1809750" cy="129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926"/>
          </a:solidFill>
          <a:ln xmlns:a="http://schemas.openxmlformats.org/drawingml/2006/main" w="9525">
            <a:solidFill>
              <a:srgbClr val="FBBF24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F62DDB1-FEEA-4154-9823-10F947B41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0099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3BA0763-24FC-4DE1-9CDA-F1423727A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952750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4F7F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4F7FB"/>
                </a:solidFill>
                <a:latin typeface="Aptos"/>
                <a:ea typeface="Aptos"/>
                <a:cs typeface="Aptos"/>
              </a:rPr>
              <a:t>Local models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21E57C3-6E4C-4E25-A219-41AC7B8AA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276600"/>
            <a:ext cx="12763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8B3C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8B3C7"/>
                </a:solidFill>
                <a:latin typeface="Aptos"/>
                <a:ea typeface="Aptos"/>
                <a:cs typeface="Aptos"/>
              </a:rPr>
              <a:t>Whisper, OCR</a:t>
            </a:r>
          </a:p>
          <a:p xmlns:a="http://schemas.openxmlformats.org/drawingml/2006/main">
            <a:pPr algn="l">
              <a:defRPr sz="1050" b="0">
                <a:solidFill>
                  <a:srgbClr val="A8B3C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8B3C7"/>
                </a:solidFill>
                <a:latin typeface="Aptos"/>
                <a:ea typeface="Aptos"/>
                <a:cs typeface="Aptos"/>
              </a:rPr>
              <a:t>Gemma/VLM</a:t>
            </a:r>
          </a:p>
          <a:p xmlns:a="http://schemas.openxmlformats.org/drawingml/2006/main">
            <a:pPr algn="l">
              <a:defRPr sz="1050" b="0">
                <a:solidFill>
                  <a:srgbClr val="A8B3C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8B3C7"/>
                </a:solidFill>
                <a:latin typeface="Aptos"/>
                <a:ea typeface="Aptos"/>
                <a:cs typeface="Aptos"/>
              </a:rPr>
              <a:t>local runtime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A30BD77-560E-487B-9296-EF5FDCF4B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2381250"/>
            <a:ext cx="1809750" cy="129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926"/>
          </a:solidFill>
          <a:ln xmlns:a="http://schemas.openxmlformats.org/drawingml/2006/main" w="9525">
            <a:solidFill>
              <a:srgbClr val="FF5C7A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4B738DB-FFDA-49D9-AF7D-0E6BBB85B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25717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7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BEE30F7-ECE6-4604-9BF8-9FD14BB7F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2514600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4F7F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4F7FB"/>
                </a:solidFill>
                <a:latin typeface="Aptos"/>
                <a:ea typeface="Aptos"/>
                <a:cs typeface="Aptos"/>
              </a:rPr>
              <a:t>SQLite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CD6DFE01-4698-45D8-97FB-EE0B13A07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2838450"/>
            <a:ext cx="12763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8B3C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8B3C7"/>
                </a:solidFill>
                <a:latin typeface="Aptos"/>
                <a:ea typeface="Aptos"/>
                <a:cs typeface="Aptos"/>
              </a:rPr>
              <a:t>ads, frames, OCR</a:t>
            </a:r>
          </a:p>
          <a:p xmlns:a="http://schemas.openxmlformats.org/drawingml/2006/main">
            <a:pPr algn="l">
              <a:defRPr sz="1050" b="0">
                <a:solidFill>
                  <a:srgbClr val="A8B3C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8B3C7"/>
                </a:solidFill>
                <a:latin typeface="Aptos"/>
                <a:ea typeface="Aptos"/>
                <a:cs typeface="Aptos"/>
              </a:rPr>
              <a:t>FTS5 index</a:t>
            </a:r>
          </a:p>
          <a:p xmlns:a="http://schemas.openxmlformats.org/drawingml/2006/main">
            <a:pPr algn="l">
              <a:defRPr sz="1050" b="0">
                <a:solidFill>
                  <a:srgbClr val="A8B3C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8B3C7"/>
                </a:solidFill>
                <a:latin typeface="Aptos"/>
                <a:ea typeface="Aptos"/>
                <a:cs typeface="Aptos"/>
              </a:rPr>
              <a:t>agent audit trail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2748E2E9-7057-4187-A7DC-5BEB09BFF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3009900"/>
            <a:ext cx="304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43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37DFE8DA-0078-4DBB-80F3-74E7939A4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3009900"/>
            <a:ext cx="304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43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2CC3C89F-2BB2-456F-ACAB-E13F166A1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009900"/>
            <a:ext cx="304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43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67AAD9E7-D3A9-49E1-98D4-8EDD30EC0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3009900"/>
            <a:ext cx="304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43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7ECF62C4-362E-4B1A-8F87-C54A6233B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991100"/>
            <a:ext cx="9144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926"/>
          </a:solidFill>
          <a:ln xmlns:a="http://schemas.openxmlformats.org/drawingml/2006/main" w="9525">
            <a:solidFill>
              <a:srgbClr val="263142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D9C5A845-48AE-4F72-9672-F8FB7BB5F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181600"/>
            <a:ext cx="8667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4F7F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4F7FB"/>
                </a:solidFill>
                <a:latin typeface="Aptos"/>
                <a:ea typeface="Aptos"/>
                <a:cs typeface="Aptos"/>
              </a:rPr>
              <a:t>Design principle: deterministic evidence first, VLM verification second, retrieval over persisted data.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CD96D4B6-42B9-468C-9ADF-F44AE39BE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0"/>
            <a:ext cx="2476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47084"/>
                </a:solidFill>
                <a:latin typeface="Aptos Mono"/>
                <a:ea typeface="Aptos Mono"/>
                <a:cs typeface="Aptos Mono"/>
              </a:defRPr>
            </a:pPr>
            <a:r>
              <a:rPr sz="825" b="0">
                <a:solidFill>
                  <a:srgbClr val="647084"/>
                </a:solidFill>
                <a:latin typeface="Aptos Mono"/>
                <a:ea typeface="Aptos Mono"/>
                <a:cs typeface="Aptos Mono"/>
              </a:rPr>
              <a:t>ARGUS system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34B5E9B8-8D1C-45C5-9C4C-FC718A1F2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86500"/>
            <a:ext cx="1047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47084"/>
                </a:solidFill>
                <a:latin typeface="Aptos Mono"/>
                <a:ea typeface="Aptos Mono"/>
                <a:cs typeface="Aptos Mono"/>
              </a:defRPr>
            </a:pPr>
            <a:r>
              <a:rPr sz="825" b="0">
                <a:solidFill>
                  <a:srgbClr val="647084"/>
                </a:solidFill>
                <a:latin typeface="Aptos Mono"/>
                <a:ea typeface="Aptos Mono"/>
                <a:cs typeface="Aptos Mono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71304460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5D2F428-A6C2-4AF3-8041-CA2B9A350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70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0940615-D092-4752-8CD7-9CE630C5B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5113644-D137-4B59-8C1D-5CA94F652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9EAC1E7-D2FD-48D1-996F-0ED51172C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28FDD9D-D28B-46BC-8315-50C2413D5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D99E661-1942-4BFE-BB20-A6CF0F0F9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C5AFFCE-0D79-4A5C-81DB-3901FFE5A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1146659-B2A0-494B-A9B2-DF0416603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C6EBFDA-9026-44BC-8DD1-4C540E12E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57BAA9B-2782-4F79-AE29-5784D6147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C0F7814-8D51-4554-8E41-FEC520E71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7755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914DC92-03DE-41A5-ACEA-B0F267F7C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DCB4A08-29FD-4C8C-99F3-BE6AF1970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B945B3B-E7FB-45AB-8629-BEBE08D1B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8859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CD76B01-E5F0-4379-95DC-753573489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0099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27510B3-9201-4AE3-B3EB-49F75E6F9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1338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306C952-65DD-4E7A-9199-FAF8B16B0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2578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A2695C5-7297-496F-B013-C2397F711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817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FB4A577-507C-4E3F-A798-E4C7B0634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5CF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4BE2A0C-27EB-4617-A2FD-9462CAE73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13410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23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20680D4-7015-4ADA-965E-EC818E6EF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800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926"/>
          </a:solidFill>
          <a:ln xmlns:a="http://schemas.openxmlformats.org/drawingml/2006/main" w="9525">
            <a:solidFill>
              <a:srgbClr val="00D4A6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043C3F7-CCAD-491F-B70F-203FF055D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95300"/>
            <a:ext cx="571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0D4A6"/>
                </a:solidFill>
                <a:latin typeface="Aptos Mono"/>
                <a:ea typeface="Aptos Mono"/>
                <a:cs typeface="Aptos Mono"/>
              </a:defRPr>
            </a:pPr>
            <a:r>
              <a:rPr sz="825" b="1">
                <a:solidFill>
                  <a:srgbClr val="00D4A6"/>
                </a:solidFill>
                <a:latin typeface="Aptos Mono"/>
                <a:ea typeface="Aptos Mono"/>
                <a:cs typeface="Aptos Mono"/>
              </a:rPr>
              <a:t>PIPELINE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C37AE04-9200-4ABE-AA27-943C21139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38200"/>
            <a:ext cx="9144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F4F7FB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F4F7FB"/>
                </a:solidFill>
                <a:latin typeface="Aptos Display"/>
                <a:ea typeface="Aptos Display"/>
                <a:cs typeface="Aptos Display"/>
              </a:rPr>
              <a:t>Each job moves through observable processing stages.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9D40A8C-5B60-48F2-B7BD-9F507B180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95450"/>
            <a:ext cx="876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A8B3C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A8B3C7"/>
                </a:solidFill>
                <a:latin typeface="Aptos"/>
                <a:ea typeface="Aptos"/>
                <a:cs typeface="Aptos"/>
              </a:rPr>
              <a:t>Progress events, cached artifacts, and failure states make the runtime easier to debug.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8D2C7CB-CE41-4E53-AACC-3B268C602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66950"/>
            <a:ext cx="21907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926"/>
          </a:solidFill>
          <a:ln xmlns:a="http://schemas.openxmlformats.org/drawingml/2006/main" w="9525">
            <a:solidFill>
              <a:srgbClr val="00C2F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BFE894B-F313-4EAC-8F08-3D57DD6F9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4574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C2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6D06A33-EBA2-4C36-B9C1-149F4A513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657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4F7F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4F7FB"/>
                </a:solidFill>
                <a:latin typeface="Aptos"/>
                <a:ea typeface="Aptos"/>
                <a:cs typeface="Aptos"/>
              </a:rPr>
              <a:t>Upload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D43D785-7DFD-48EC-9D31-DA17AE317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724150"/>
            <a:ext cx="16573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8B3C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8B3C7"/>
                </a:solidFill>
                <a:latin typeface="Aptos"/>
                <a:ea typeface="Aptos"/>
                <a:cs typeface="Aptos"/>
              </a:rPr>
              <a:t>Create job and store the source file.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869B9DD-911F-48B4-9314-85031A1CE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266950"/>
            <a:ext cx="21907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926"/>
          </a:solidFill>
          <a:ln xmlns:a="http://schemas.openxmlformats.org/drawingml/2006/main" w="9525">
            <a:solidFill>
              <a:srgbClr val="00C2FF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9298040-4995-414A-880C-87638BC6C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4574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C2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C9CDD67-4BF1-4BAF-989A-DD79523CF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2400300"/>
            <a:ext cx="1657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4F7F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4F7FB"/>
                </a:solidFill>
                <a:latin typeface="Aptos"/>
                <a:ea typeface="Aptos"/>
                <a:cs typeface="Aptos"/>
              </a:rPr>
              <a:t>Ingest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6BF45C2-03DF-4EA5-BD7F-0B2CFE804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2724150"/>
            <a:ext cx="16573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8B3C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8B3C7"/>
                </a:solidFill>
                <a:latin typeface="Aptos"/>
                <a:ea typeface="Aptos"/>
                <a:cs typeface="Aptos"/>
              </a:rPr>
              <a:t>Extract frames, audio, and transcript.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D6FD6FA-D224-4974-9ABD-8D9B5274F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266950"/>
            <a:ext cx="21907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926"/>
          </a:solidFill>
          <a:ln xmlns:a="http://schemas.openxmlformats.org/drawingml/2006/main" w="9525">
            <a:solidFill>
              <a:srgbClr val="00D4A6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7926D2D-4D57-4391-B30E-EC59C60EA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4574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D4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A3333C3-B701-417C-9D36-C5A982EF3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2400300"/>
            <a:ext cx="1657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4F7F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4F7FB"/>
                </a:solidFill>
                <a:latin typeface="Aptos"/>
                <a:ea typeface="Aptos"/>
                <a:cs typeface="Aptos"/>
              </a:rPr>
              <a:t>Evidence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B64175B-F00F-4C01-98BF-CC18C24CA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2724150"/>
            <a:ext cx="16573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8B3C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8B3C7"/>
                </a:solidFill>
                <a:latin typeface="Aptos"/>
                <a:ea typeface="Aptos"/>
                <a:cs typeface="Aptos"/>
              </a:rPr>
              <a:t>Collect OCR, timestamps, and rule matches.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6205515-813F-49C9-80A7-3853024A0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266950"/>
            <a:ext cx="21907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926"/>
          </a:solidFill>
          <a:ln xmlns:a="http://schemas.openxmlformats.org/drawingml/2006/main" w="9525">
            <a:solidFill>
              <a:srgbClr val="8B5CF6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DECF60C-FA65-4873-BF4B-97D9DCC81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24574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5CF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C316159-2931-4CE4-89BC-3DCC6AF37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2400300"/>
            <a:ext cx="1657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4F7F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4F7FB"/>
                </a:solidFill>
                <a:latin typeface="Aptos"/>
                <a:ea typeface="Aptos"/>
                <a:cs typeface="Aptos"/>
              </a:rPr>
              <a:t>VLM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A445866-8F56-4A27-86B2-D85DCC137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2724150"/>
            <a:ext cx="16573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8B3C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8B3C7"/>
                </a:solidFill>
                <a:latin typeface="Aptos"/>
                <a:ea typeface="Aptos"/>
                <a:cs typeface="Aptos"/>
              </a:rPr>
              <a:t>Verify evidence and produce structured output.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B0D9B8E-36A6-4BAB-9203-44477D05F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67150"/>
            <a:ext cx="21907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926"/>
          </a:solidFill>
          <a:ln xmlns:a="http://schemas.openxmlformats.org/drawingml/2006/main" w="9525">
            <a:solidFill>
              <a:srgbClr val="FF5C7A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5A04188-6EE7-45C6-AD2A-080932449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0576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7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CD0341D-F051-414E-B829-D9A17F1F5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000500"/>
            <a:ext cx="1657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4F7F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4F7FB"/>
                </a:solidFill>
                <a:latin typeface="Aptos"/>
                <a:ea typeface="Aptos"/>
                <a:cs typeface="Aptos"/>
              </a:rPr>
              <a:t>Persist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1F769FD-47BE-449A-9660-4A359DE80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324350"/>
            <a:ext cx="16573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8B3C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8B3C7"/>
                </a:solidFill>
                <a:latin typeface="Aptos"/>
                <a:ea typeface="Aptos"/>
                <a:cs typeface="Aptos"/>
              </a:rPr>
              <a:t>Write records, evidence, and search indexes.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4E8D0F75-285D-4EFF-8955-E0D74E608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3867150"/>
            <a:ext cx="21907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926"/>
          </a:solidFill>
          <a:ln xmlns:a="http://schemas.openxmlformats.org/drawingml/2006/main" w="9525">
            <a:solidFill>
              <a:srgbClr val="00D4A6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68FEF33-E9A5-4DDA-A4F6-285E7B283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40576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D4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22ACE98A-FD3A-45FC-8C96-E4982622A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4000500"/>
            <a:ext cx="1657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4F7F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4F7FB"/>
                </a:solidFill>
                <a:latin typeface="Aptos"/>
                <a:ea typeface="Aptos"/>
                <a:cs typeface="Aptos"/>
              </a:rPr>
              <a:t>Library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B75D1656-C065-431B-AE47-E0E68D7CD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4324350"/>
            <a:ext cx="16573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8B3C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8B3C7"/>
                </a:solidFill>
                <a:latin typeface="Aptos"/>
                <a:ea typeface="Aptos"/>
                <a:cs typeface="Aptos"/>
              </a:rPr>
              <a:t>Open the completed ad record.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E86BD0FC-81EF-4D1B-8A73-D315691B4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867150"/>
            <a:ext cx="21907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926"/>
          </a:solidFill>
          <a:ln xmlns:a="http://schemas.openxmlformats.org/drawingml/2006/main" w="9525">
            <a:solidFill>
              <a:srgbClr val="00C2FF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6B465A29-6A98-4587-8199-F657D960F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40576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C2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FC58D43A-C66A-4ADB-80FF-E517BDBA2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4000500"/>
            <a:ext cx="1657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4F7F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4F7FB"/>
                </a:solidFill>
                <a:latin typeface="Aptos"/>
                <a:ea typeface="Aptos"/>
                <a:cs typeface="Aptos"/>
              </a:rPr>
              <a:t>Search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478D28EB-E2B0-4847-8E61-085106DC4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4324350"/>
            <a:ext cx="16573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8B3C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8B3C7"/>
                </a:solidFill>
                <a:latin typeface="Aptos"/>
                <a:ea typeface="Aptos"/>
                <a:cs typeface="Aptos"/>
              </a:rPr>
              <a:t>Find ads by keyword, filters, or similarity.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8C79ABBD-EDE4-4E00-B33A-01F236933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867150"/>
            <a:ext cx="21907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926"/>
          </a:solidFill>
          <a:ln xmlns:a="http://schemas.openxmlformats.org/drawingml/2006/main" w="9525">
            <a:solidFill>
              <a:srgbClr val="FBBF24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B8984643-ABAC-4DEE-8162-3C4272AA3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40576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59178A32-631C-4977-AEAB-00DE8B0CA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4000500"/>
            <a:ext cx="1657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4F7F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4F7FB"/>
                </a:solidFill>
                <a:latin typeface="Aptos"/>
                <a:ea typeface="Aptos"/>
                <a:cs typeface="Aptos"/>
              </a:rPr>
              <a:t>Agent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F0A8D9DB-0254-494F-8ED6-C8BB77BFF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4324350"/>
            <a:ext cx="16573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8B3C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8B3C7"/>
                </a:solidFill>
                <a:latin typeface="Aptos"/>
                <a:ea typeface="Aptos"/>
                <a:cs typeface="Aptos"/>
              </a:rPr>
              <a:t>Answer read-only questions through tools.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ECFBFF57-385E-4462-BC63-94A9E2947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762250"/>
            <a:ext cx="419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43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7ABABCDF-96E1-4791-8353-283CBA8C5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2762250"/>
            <a:ext cx="419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43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19F40BA5-F363-4C64-A984-DB1CE2692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762250"/>
            <a:ext cx="419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43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C07636A1-0732-41C0-A140-12A21E32D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4400550"/>
            <a:ext cx="419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43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25147996-83B1-47ED-AA58-08847D449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4400550"/>
            <a:ext cx="419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43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CEE793AC-3CA7-4167-B236-BBA8ABCC5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400550"/>
            <a:ext cx="419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43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6EC8DE11-EEF1-4E98-B1E6-88B453444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219700"/>
            <a:ext cx="97536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926"/>
          </a:solidFill>
          <a:ln xmlns:a="http://schemas.openxmlformats.org/drawingml/2006/main" w="9525">
            <a:solidFill>
              <a:srgbClr val="263142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A8F32EDB-DD5C-4345-B7E3-DBC158AB8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5391150"/>
            <a:ext cx="9144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8B3C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A8B3C7"/>
                </a:solidFill>
                <a:latin typeface="Aptos"/>
                <a:ea typeface="Aptos"/>
                <a:cs typeface="Aptos"/>
              </a:rPr>
              <a:t>Operational behavior: warnings and fatal errors are visible, and completed artifacts can be reused on rerun.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D7A09634-49C7-4579-B0FA-FF4F9080D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0"/>
            <a:ext cx="2476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47084"/>
                </a:solidFill>
                <a:latin typeface="Aptos Mono"/>
                <a:ea typeface="Aptos Mono"/>
                <a:cs typeface="Aptos Mono"/>
              </a:defRPr>
            </a:pPr>
            <a:r>
              <a:rPr sz="825" b="0">
                <a:solidFill>
                  <a:srgbClr val="647084"/>
                </a:solidFill>
                <a:latin typeface="Aptos Mono"/>
                <a:ea typeface="Aptos Mono"/>
                <a:cs typeface="Aptos Mono"/>
              </a:rPr>
              <a:t>ARGUS system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B434D5EF-BB14-4C5D-A1BC-0525E72CF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86500"/>
            <a:ext cx="1047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47084"/>
                </a:solidFill>
                <a:latin typeface="Aptos Mono"/>
                <a:ea typeface="Aptos Mono"/>
                <a:cs typeface="Aptos Mono"/>
              </a:defRPr>
            </a:pPr>
            <a:r>
              <a:rPr sz="825" b="0">
                <a:solidFill>
                  <a:srgbClr val="647084"/>
                </a:solidFill>
                <a:latin typeface="Aptos Mono"/>
                <a:ea typeface="Aptos Mono"/>
                <a:cs typeface="Aptos Mono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509013615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BB2576D-9A3F-4319-91D2-A1EE8A017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70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FFB5207-7145-4648-B082-60E0BD4F5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35E5FE6-4C06-499C-B6C8-5D5CBD142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90495F-9AF9-4205-B99B-B37011F0E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7250479-09F1-4A71-9CBB-01723A67C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1D2FE52-F22D-408F-9903-991C54920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4AC11D1-D75E-401C-9A4F-72AFD81FD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330C5F2-1689-4B48-A9BC-FD5A8CCDA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1C853AF-2B00-4FB0-B7E2-364977C57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0291A9C-E480-4213-B7C9-EF36865A4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B132AC2-E77F-43FD-A7F9-88B0764EB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7755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6D9F6C8-8338-4FF8-B6F5-ED7AD50F8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F953A14-866F-4858-98B0-5DB67F5B0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6F71D09-E90B-4E90-B2D0-ADDB69102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8859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178448B-1E00-41C0-AD86-BC9D5AE0F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0099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A83C9DA-B2F3-409A-B7D9-C625E07B9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1338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429B71D-61DC-4A0A-817F-A2669484F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2578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A24A961-718F-4300-91A5-29BABB0DA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817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F9BB076-CE13-445A-A6F8-84CEAAFEA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5CF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B2CF7BE-1CD9-4325-A3C5-1F93A80F8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13410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23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6585E21-AF0A-4F80-8274-ADF1B13D5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1368552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926"/>
          </a:solidFill>
          <a:ln xmlns:a="http://schemas.openxmlformats.org/drawingml/2006/main" w="9525">
            <a:solidFill>
              <a:srgbClr val="00D4A6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01EEE91-78F8-438A-906F-81E93DC9A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95300"/>
            <a:ext cx="1139952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0D4A6"/>
                </a:solidFill>
                <a:latin typeface="Aptos Mono"/>
                <a:ea typeface="Aptos Mono"/>
                <a:cs typeface="Aptos Mono"/>
              </a:defRPr>
            </a:pPr>
            <a:r>
              <a:rPr sz="825" b="1">
                <a:solidFill>
                  <a:srgbClr val="00D4A6"/>
                </a:solidFill>
                <a:latin typeface="Aptos Mono"/>
                <a:ea typeface="Aptos Mono"/>
                <a:cs typeface="Aptos Mono"/>
              </a:rPr>
              <a:t>EVIDENCE-FIRST AI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9581E5D-E65D-4F0C-8C54-C70888CFB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38200"/>
            <a:ext cx="9144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F4F7FB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F4F7FB"/>
                </a:solidFill>
                <a:latin typeface="Aptos Display"/>
                <a:ea typeface="Aptos Display"/>
                <a:cs typeface="Aptos Display"/>
              </a:rPr>
              <a:t>The VLM verifies an evidence bundle, not a blank prompt.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247CC1D-D87E-47A0-9DEE-D43209648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95450"/>
            <a:ext cx="876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A8B3C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A8B3C7"/>
                </a:solidFill>
                <a:latin typeface="Aptos"/>
                <a:ea typeface="Aptos"/>
                <a:cs typeface="Aptos"/>
              </a:rPr>
              <a:t>Frames, visible text, transcript, rules, and timestamps are preserved before the model call.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9B8193A-1E85-44BB-A0D3-CCB58840E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343150"/>
            <a:ext cx="2095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926"/>
          </a:solidFill>
          <a:ln xmlns:a="http://schemas.openxmlformats.org/drawingml/2006/main" w="9525">
            <a:solidFill>
              <a:srgbClr val="00C2F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411A56A-2979-4AA0-96EE-2BBFA3493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5336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C2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B527CDF-CE5F-435A-9832-77B3B95D6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476500"/>
            <a:ext cx="1562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4F7F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4F7FB"/>
                </a:solidFill>
                <a:latin typeface="Aptos"/>
                <a:ea typeface="Aptos"/>
                <a:cs typeface="Aptos"/>
              </a:rPr>
              <a:t>Frames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4130EB9-9EC9-46E6-AB16-6BFCE0D4B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800350"/>
            <a:ext cx="1562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8B3C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8B3C7"/>
                </a:solidFill>
                <a:latin typeface="Aptos"/>
                <a:ea typeface="Aptos"/>
                <a:cs typeface="Aptos"/>
              </a:rPr>
              <a:t>selected keyframes</a:t>
            </a:r>
          </a:p>
          <a:p xmlns:a="http://schemas.openxmlformats.org/drawingml/2006/main">
            <a:pPr algn="l">
              <a:defRPr sz="1050" b="0">
                <a:solidFill>
                  <a:srgbClr val="A8B3C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8B3C7"/>
                </a:solidFill>
                <a:latin typeface="Aptos"/>
                <a:ea typeface="Aptos"/>
                <a:cs typeface="Aptos"/>
              </a:rPr>
              <a:t>blur and dedup filtered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3C40F2C-AC08-4424-8E8A-D183FF211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657600"/>
            <a:ext cx="2095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926"/>
          </a:solidFill>
          <a:ln xmlns:a="http://schemas.openxmlformats.org/drawingml/2006/main" w="9525">
            <a:solidFill>
              <a:srgbClr val="00D4A6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18B3FCA-5380-4E94-8414-EC9AA2F72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8481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D4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8D192DF-5ACD-4146-8F17-9818AA465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790950"/>
            <a:ext cx="1562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4F7F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4F7FB"/>
                </a:solidFill>
                <a:latin typeface="Aptos"/>
                <a:ea typeface="Aptos"/>
                <a:cs typeface="Aptos"/>
              </a:rPr>
              <a:t>Text signals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6B18E05-124C-4D94-A5AD-19C3D4667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14800"/>
            <a:ext cx="1562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8B3C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8B3C7"/>
                </a:solidFill>
                <a:latin typeface="Aptos"/>
                <a:ea typeface="Aptos"/>
                <a:cs typeface="Aptos"/>
              </a:rPr>
              <a:t>OCR + transcript</a:t>
            </a:r>
          </a:p>
          <a:p xmlns:a="http://schemas.openxmlformats.org/drawingml/2006/main">
            <a:pPr algn="l">
              <a:defRPr sz="1050" b="0">
                <a:solidFill>
                  <a:srgbClr val="A8B3C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8B3C7"/>
                </a:solidFill>
                <a:latin typeface="Aptos"/>
                <a:ea typeface="Aptos"/>
                <a:cs typeface="Aptos"/>
              </a:rPr>
              <a:t>raw sources preserved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2B651D3-48FF-4A4C-80DB-A5D8835DA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3829050"/>
            <a:ext cx="457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43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BE2F4BA-4F0D-4E8B-B84F-F5E1CBCA5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3009900"/>
            <a:ext cx="23812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926"/>
          </a:solidFill>
          <a:ln xmlns:a="http://schemas.openxmlformats.org/drawingml/2006/main" w="9525">
            <a:solidFill>
              <a:srgbClr val="8B5CF6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E32798B-EB89-4DFB-A702-1B947B7AE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32004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5CF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14ACE85-E3AB-47FA-A385-497E12843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3143250"/>
            <a:ext cx="1847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4F7F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4F7FB"/>
                </a:solidFill>
                <a:latin typeface="Aptos"/>
                <a:ea typeface="Aptos"/>
                <a:cs typeface="Aptos"/>
              </a:rPr>
              <a:t>Evidence bundle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0FA3EC6-224C-4CEA-ADF4-CB7D9B973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3467100"/>
            <a:ext cx="1847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8B3C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8B3C7"/>
                </a:solidFill>
                <a:latin typeface="Aptos"/>
                <a:ea typeface="Aptos"/>
                <a:cs typeface="Aptos"/>
              </a:rPr>
              <a:t>chronological context</a:t>
            </a:r>
          </a:p>
          <a:p xmlns:a="http://schemas.openxmlformats.org/drawingml/2006/main">
            <a:pPr algn="l">
              <a:defRPr sz="1050" b="0">
                <a:solidFill>
                  <a:srgbClr val="A8B3C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8B3C7"/>
                </a:solidFill>
                <a:latin typeface="Aptos"/>
                <a:ea typeface="Aptos"/>
                <a:cs typeface="Aptos"/>
              </a:rPr>
              <a:t>rules + metadata</a:t>
            </a:r>
          </a:p>
          <a:p xmlns:a="http://schemas.openxmlformats.org/drawingml/2006/main">
            <a:pPr algn="l">
              <a:defRPr sz="1050" b="0">
                <a:solidFill>
                  <a:srgbClr val="A8B3C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8B3C7"/>
                </a:solidFill>
                <a:latin typeface="Aptos"/>
                <a:ea typeface="Aptos"/>
                <a:cs typeface="Aptos"/>
              </a:rPr>
              <a:t>selected images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0ABD017-1A48-4A9B-BD6C-372B1D8B9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562350"/>
            <a:ext cx="476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43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B740E66-8EA8-4B61-BACB-92AEC9E0C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438400"/>
            <a:ext cx="21907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926"/>
          </a:solidFill>
          <a:ln xmlns:a="http://schemas.openxmlformats.org/drawingml/2006/main" w="9525">
            <a:solidFill>
              <a:srgbClr val="FBBF24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4AE8805-0DAF-47E9-86DE-1108BB346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6289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82EB537-D83E-4C2A-83AB-A9F4B8529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571750"/>
            <a:ext cx="1657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4F7F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4F7FB"/>
                </a:solidFill>
                <a:latin typeface="Aptos"/>
                <a:ea typeface="Aptos"/>
                <a:cs typeface="Aptos"/>
              </a:rPr>
              <a:t>VLM verifier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C9FB321-66C9-4259-985F-96BB11478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895600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8B3C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8B3C7"/>
                </a:solidFill>
                <a:latin typeface="Aptos"/>
                <a:ea typeface="Aptos"/>
                <a:cs typeface="Aptos"/>
              </a:rPr>
              <a:t>category, entities</a:t>
            </a:r>
          </a:p>
          <a:p xmlns:a="http://schemas.openxmlformats.org/drawingml/2006/main">
            <a:pPr algn="l">
              <a:defRPr sz="1050" b="0">
                <a:solidFill>
                  <a:srgbClr val="A8B3C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8B3C7"/>
                </a:solidFill>
                <a:latin typeface="Aptos"/>
                <a:ea typeface="Aptos"/>
                <a:cs typeface="Aptos"/>
              </a:rPr>
              <a:t>conflicts, evidence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813B33D-9C61-4DAD-8848-5C5576F3B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943350"/>
            <a:ext cx="21907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926"/>
          </a:solidFill>
          <a:ln xmlns:a="http://schemas.openxmlformats.org/drawingml/2006/main" w="9525">
            <a:solidFill>
              <a:srgbClr val="FF5C7A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8E0EBCD-B26D-465E-9D8A-1015003D4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1338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7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C5A5D81-DC43-42B5-BE1B-F2C35DF21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4076700"/>
            <a:ext cx="1657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4F7F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4F7FB"/>
                </a:solidFill>
                <a:latin typeface="Aptos"/>
                <a:ea typeface="Aptos"/>
                <a:cs typeface="Aptos"/>
              </a:rPr>
              <a:t>Validation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6AEC0C04-19B0-4CEA-92B3-B2ACC93D6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4400550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8B3C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8B3C7"/>
                </a:solidFill>
                <a:latin typeface="Aptos"/>
                <a:ea typeface="Aptos"/>
                <a:cs typeface="Aptos"/>
              </a:rPr>
              <a:t>allowed labels</a:t>
            </a:r>
          </a:p>
          <a:p xmlns:a="http://schemas.openxmlformats.org/drawingml/2006/main">
            <a:pPr algn="l">
              <a:defRPr sz="1050" b="0">
                <a:solidFill>
                  <a:srgbClr val="A8B3C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8B3C7"/>
                </a:solidFill>
                <a:latin typeface="Aptos"/>
                <a:ea typeface="Aptos"/>
                <a:cs typeface="Aptos"/>
              </a:rPr>
              <a:t>observed fields only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50A4A830-34C4-4E5C-A4B4-0A3D22B56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3695700"/>
            <a:ext cx="419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43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0BDA223D-3943-4354-A5BD-486238339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724150"/>
            <a:ext cx="1619250" cy="1943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926"/>
          </a:solidFill>
          <a:ln xmlns:a="http://schemas.openxmlformats.org/drawingml/2006/main" w="9525">
            <a:solidFill>
              <a:srgbClr val="35435A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41BB247F-9F18-4661-AA1F-063B61D74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2990850"/>
            <a:ext cx="1238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4F7F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4F7FB"/>
                </a:solidFill>
                <a:latin typeface="Aptos"/>
                <a:ea typeface="Aptos"/>
                <a:cs typeface="Aptos"/>
              </a:rPr>
              <a:t>Final JSON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75D2C435-389F-4158-8BD4-1F7101D42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4480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D4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11ECD219-C7DA-4F7C-B828-1AD338801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3371850"/>
            <a:ext cx="1066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F4F7F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4F7FB"/>
                </a:solidFill>
                <a:latin typeface="Aptos"/>
                <a:ea typeface="Aptos"/>
                <a:cs typeface="Aptos"/>
              </a:rPr>
              <a:t>category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F084F776-D7F6-4B08-8C58-E8288AD03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6957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D4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DEC43B94-9289-4932-8D5A-CCE92F1B6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3619500"/>
            <a:ext cx="1066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F4F7F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4F7FB"/>
                </a:solidFill>
                <a:latin typeface="Aptos"/>
                <a:ea typeface="Aptos"/>
                <a:cs typeface="Aptos"/>
              </a:rPr>
              <a:t>risk tags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50E31BB3-D4A2-47E2-9ABB-E50C792DE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9433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D4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A2FABE68-E087-490E-A3FD-E643FF564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3867150"/>
            <a:ext cx="1066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F4F7F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4F7FB"/>
                </a:solidFill>
                <a:latin typeface="Aptos"/>
                <a:ea typeface="Aptos"/>
                <a:cs typeface="Aptos"/>
              </a:rPr>
              <a:t>entities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CB326427-30F5-4950-A1AE-B3C08BBF6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41910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D4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D8CB0C62-F1E6-41BE-9EC5-860B47998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4114800"/>
            <a:ext cx="1066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F4F7F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4F7FB"/>
                </a:solidFill>
                <a:latin typeface="Aptos"/>
                <a:ea typeface="Aptos"/>
                <a:cs typeface="Aptos"/>
              </a:rPr>
              <a:t>evidence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75305E16-059E-4DB0-BD4C-35D102952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44386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D4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AED24B07-3C8F-42FF-AC8A-BB1BB3A4F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4362450"/>
            <a:ext cx="1066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F4F7F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4F7FB"/>
                </a:solidFill>
                <a:latin typeface="Aptos"/>
                <a:ea typeface="Aptos"/>
                <a:cs typeface="Aptos"/>
              </a:rPr>
              <a:t>related ads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34521EC3-11F9-4924-9832-74F2BA63C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0"/>
            <a:ext cx="2476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47084"/>
                </a:solidFill>
                <a:latin typeface="Aptos Mono"/>
                <a:ea typeface="Aptos Mono"/>
                <a:cs typeface="Aptos Mono"/>
              </a:defRPr>
            </a:pPr>
            <a:r>
              <a:rPr sz="825" b="0">
                <a:solidFill>
                  <a:srgbClr val="647084"/>
                </a:solidFill>
                <a:latin typeface="Aptos Mono"/>
                <a:ea typeface="Aptos Mono"/>
                <a:cs typeface="Aptos Mono"/>
              </a:rPr>
              <a:t>ARGUS system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21A422DC-16C0-4674-A055-3D7ECA6F5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86500"/>
            <a:ext cx="1047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47084"/>
                </a:solidFill>
                <a:latin typeface="Aptos Mono"/>
                <a:ea typeface="Aptos Mono"/>
                <a:cs typeface="Aptos Mono"/>
              </a:defRPr>
            </a:pPr>
            <a:r>
              <a:rPr sz="825" b="0">
                <a:solidFill>
                  <a:srgbClr val="647084"/>
                </a:solidFill>
                <a:latin typeface="Aptos Mono"/>
                <a:ea typeface="Aptos Mono"/>
                <a:cs typeface="Aptos Mono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9835133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0C14746-FFFD-458B-97FB-B16F49724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70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DD73F38-6245-4A49-B211-AEE1136FB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AF6AA3A-9668-41D0-A7DA-7741E463F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0BE9D0F-8327-44CA-BADC-2376BDCF5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7F10E8A-3A89-417D-B073-B6B146FC6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354CC5F-ECB4-49FA-8132-F01BA68E8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BF4651-94A6-47AB-8807-68DB02555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C77E7A9-5BE0-4697-A4DC-54CA9CAF5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CE72701-022F-4796-A496-432181069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A00F237-4DEE-4671-8F82-E0CEAA5FF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0DE568F-5051-4BE3-A040-1927F819C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7755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E9C05D2-5EC7-417F-8139-B3584A782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64CE216-D123-432E-A3B3-FEFB3EC8B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7FD5DC6-AECE-448A-B196-F8A1CE42C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8859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989172D-5064-4596-B87B-87BD6C55B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0099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231B3E3-EC72-4131-9267-E68FEF7B3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1338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3DB012B-5CCD-40CE-A96B-7F15E0634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2578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CE7DB17-3688-48B6-9094-09744703A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817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8A658FE-4FA8-4B5D-ADEC-32E7C39DB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5CF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56E2977-55AD-4094-85D9-FB511D616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13410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23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10B3586-6481-4976-A1D4-E46772DFF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1435608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926"/>
          </a:solidFill>
          <a:ln xmlns:a="http://schemas.openxmlformats.org/drawingml/2006/main" w="9525">
            <a:solidFill>
              <a:srgbClr val="00D4A6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E019454-C348-49EB-AB0F-CEE8E6AF1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95300"/>
            <a:ext cx="1207008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0D4A6"/>
                </a:solidFill>
                <a:latin typeface="Aptos Mono"/>
                <a:ea typeface="Aptos Mono"/>
                <a:cs typeface="Aptos Mono"/>
              </a:defRPr>
            </a:pPr>
            <a:r>
              <a:rPr sz="825" b="1">
                <a:solidFill>
                  <a:srgbClr val="00D4A6"/>
                </a:solidFill>
                <a:latin typeface="Aptos Mono"/>
                <a:ea typeface="Aptos Mono"/>
                <a:cs typeface="Aptos Mono"/>
              </a:rPr>
              <a:t>MODULE 01 - UPLOAD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20F2C3A-F8B2-47BE-949E-E79809A9A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38200"/>
            <a:ext cx="9144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F4F7FB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F4F7FB"/>
                </a:solidFill>
                <a:latin typeface="Aptos Display"/>
                <a:ea typeface="Aptos Display"/>
                <a:cs typeface="Aptos Display"/>
              </a:rPr>
              <a:t>Upload creates an observable pipeline job.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D1CF278-959C-4E9B-9DF5-B79A8F7E4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95450"/>
            <a:ext cx="876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A8B3C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A8B3C7"/>
                </a:solidFill>
                <a:latin typeface="Aptos"/>
                <a:ea typeface="Aptos"/>
                <a:cs typeface="Aptos"/>
              </a:rPr>
              <a:t>The first screen covers drag/drop, queue state, progress, cancel, and terminal error handling.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34A0289-3A2C-44AA-B72D-4526008C9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D4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5C6D2C8-07C5-45BD-8F73-4796EA2EF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247900"/>
            <a:ext cx="35433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F4F7F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F4F7FB"/>
                </a:solidFill>
                <a:latin typeface="Aptos"/>
                <a:ea typeface="Aptos"/>
                <a:cs typeface="Aptos"/>
              </a:rPr>
              <a:t>MP4 / MOV / WebM becomes a pipeline job.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A0FB720-8805-4A59-89BD-3B3CEE6B6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432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D4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5C41077-D655-4A35-B898-37748D883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667000"/>
            <a:ext cx="35433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F4F7F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F4F7FB"/>
                </a:solidFill>
                <a:latin typeface="Aptos"/>
                <a:ea typeface="Aptos"/>
                <a:cs typeface="Aptos"/>
              </a:rPr>
              <a:t>SSE progress shows stages and fatal errors.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91219B7-439F-4BC7-8B09-5A0FC066D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623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D4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EFF9348-19D2-456A-BA33-9180E81CE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086100"/>
            <a:ext cx="35433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F4F7F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F4F7FB"/>
                </a:solidFill>
                <a:latin typeface="Aptos"/>
                <a:ea typeface="Aptos"/>
                <a:cs typeface="Aptos"/>
              </a:rPr>
              <a:t>Recent jobs reopen completed analyses.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8AD071B-CFF4-4DB2-BA98-475D2F90C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5814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D4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2E2EF64-7C98-45D7-BFC6-EC0B26294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505200"/>
            <a:ext cx="35433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F4F7F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F4F7FB"/>
                </a:solidFill>
                <a:latin typeface="Aptos"/>
                <a:ea typeface="Aptos"/>
                <a:cs typeface="Aptos"/>
              </a:rPr>
              <a:t>Terminal logs expose runtime failures.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B771214-FA3B-44FD-83C4-0DD9A4A96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857750"/>
            <a:ext cx="37338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0A0F"/>
          </a:solidFill>
          <a:ln xmlns:a="http://schemas.openxmlformats.org/drawingml/2006/main" w="9525">
            <a:solidFill>
              <a:srgbClr val="263142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30E3276-6315-4249-AA33-8C8E731D6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857750"/>
            <a:ext cx="37338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1B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E0A89A4-3890-47DC-A1A4-EA8BE00A4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9815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7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EA6263D-B847-4D81-9962-EF40BD1DD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9815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0010E24-F159-4E0A-B9C5-AF5CA94C3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9815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D4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F0AD807-8EDE-4CBC-AED8-3309EF20A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953000"/>
            <a:ext cx="29146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47084"/>
                </a:solidFill>
                <a:latin typeface="Aptos Mono"/>
                <a:ea typeface="Aptos Mono"/>
                <a:cs typeface="Aptos Mono"/>
              </a:defRPr>
            </a:pPr>
            <a:r>
              <a:rPr sz="825" b="0">
                <a:solidFill>
                  <a:srgbClr val="647084"/>
                </a:solidFill>
                <a:latin typeface="Aptos Mono"/>
                <a:ea typeface="Aptos Mono"/>
                <a:cs typeface="Aptos Mono"/>
              </a:rPr>
              <a:t>pipeline.log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1829710-DBB6-48C0-BD02-D04FAD45B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314950"/>
            <a:ext cx="3390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D4A6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00D4A6"/>
                </a:solidFill>
                <a:latin typeface="Aptos Mono"/>
                <a:ea typeface="Aptos Mono"/>
                <a:cs typeface="Aptos Mono"/>
              </a:rPr>
              <a:t>OK ingest: frames + audio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6D7C7AC-C7D6-4C4B-A573-DFB84270C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543550"/>
            <a:ext cx="3390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D4A6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00D4A6"/>
                </a:solidFill>
                <a:latin typeface="Aptos Mono"/>
                <a:ea typeface="Aptos Mono"/>
                <a:cs typeface="Aptos Mono"/>
              </a:rPr>
              <a:t>OK OCR: raw evidence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B31F11F-556A-48F3-BCCC-5F86085B1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772150"/>
            <a:ext cx="3390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8B5CF6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8B5CF6"/>
                </a:solidFill>
                <a:latin typeface="Aptos Mono"/>
                <a:ea typeface="Aptos Mono"/>
                <a:cs typeface="Aptos Mono"/>
              </a:rPr>
              <a:t>VLM classification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EB68345-C042-4AF6-8E6B-E4951C340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000750"/>
            <a:ext cx="3390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D4A6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00D4A6"/>
                </a:solidFill>
                <a:latin typeface="Aptos Mono"/>
                <a:ea typeface="Aptos Mono"/>
                <a:cs typeface="Aptos Mono"/>
              </a:rPr>
              <a:t>OK persist: records + index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B832AFD-B764-4E85-B02B-EE0A15243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2076450"/>
            <a:ext cx="6248400" cy="384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018"/>
          </a:solidFill>
          <a:ln xmlns:a="http://schemas.openxmlformats.org/drawingml/2006/main" w="9525">
            <a:solidFill>
              <a:srgbClr val="35435A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D016988-D926-4322-ADAA-5F41633ED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2076450"/>
            <a:ext cx="6248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19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6F494D07-A3C4-4C4A-AA22-B272F1DEC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1907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7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03E122CC-465B-4265-80FC-148D5F455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21907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C50D98B7-9B7E-4F3A-89B1-868737209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1907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D4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ECD1E4D9-F4B1-44C6-AEE0-3F182BD3A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2133600"/>
            <a:ext cx="53530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47084"/>
                </a:solidFill>
                <a:latin typeface="Aptos Mono"/>
                <a:ea typeface="Aptos Mono"/>
                <a:cs typeface="Aptos Mono"/>
              </a:defRPr>
            </a:pPr>
            <a:r>
              <a:rPr sz="825" b="0">
                <a:solidFill>
                  <a:srgbClr val="647084"/>
                </a:solidFill>
                <a:latin typeface="Aptos Mono"/>
                <a:ea typeface="Aptos Mono"/>
                <a:cs typeface="Aptos Mono"/>
              </a:rPr>
              <a:t>Upload module</a:t>
            </a:r>
          </a:p>
        </p:txBody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16a60391674418a"/>
          <a:srcRect xmlns:a="http://schemas.openxmlformats.org/drawingml/2006/main" l="0" t="5000" r="0" b="500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143500" y="2419350"/>
            <a:ext cx="6096000" cy="3429000"/>
          </a:xfrm>
          <a:prstGeom xmlns:a="http://schemas.openxmlformats.org/drawingml/2006/main" prst="rect">
            <a:avLst/>
          </a:prstGeom>
        </p:spPr>
      </p:pic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360505CB-3E04-4776-A574-2435EACB8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0"/>
            <a:ext cx="2476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47084"/>
                </a:solidFill>
                <a:latin typeface="Aptos Mono"/>
                <a:ea typeface="Aptos Mono"/>
                <a:cs typeface="Aptos Mono"/>
              </a:defRPr>
            </a:pPr>
            <a:r>
              <a:rPr sz="825" b="0">
                <a:solidFill>
                  <a:srgbClr val="647084"/>
                </a:solidFill>
                <a:latin typeface="Aptos Mono"/>
                <a:ea typeface="Aptos Mono"/>
                <a:cs typeface="Aptos Mono"/>
              </a:rPr>
              <a:t>ARGUS system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8BE0158B-47FB-4C44-A045-A0A052BEE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86500"/>
            <a:ext cx="1047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47084"/>
                </a:solidFill>
                <a:latin typeface="Aptos Mono"/>
                <a:ea typeface="Aptos Mono"/>
                <a:cs typeface="Aptos Mono"/>
              </a:defRPr>
            </a:pPr>
            <a:r>
              <a:rPr sz="825" b="0">
                <a:solidFill>
                  <a:srgbClr val="647084"/>
                </a:solidFill>
                <a:latin typeface="Aptos Mono"/>
                <a:ea typeface="Aptos Mono"/>
                <a:cs typeface="Aptos Mono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2083418578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8255177-A52E-48CA-B737-5B5956815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70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3C25454-3737-4E77-877E-23C960A36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061263E-6A40-42B3-8E5F-755F7C7A4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5B8AA80-AE1B-45AA-BD44-9739EDFEE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015208-8598-4996-A529-4B8AFDD88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FB55D1F-20FA-4094-9EB8-52F21318E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F91F3D9-D88E-4790-A65B-769050054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E4EE5A9-FD73-47FE-B974-B29BD8627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768825F-9F41-4FEF-99AB-CD9636A3C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6538044-8B33-463A-A008-14650598E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CAB2FC0-06A7-4C1E-814C-FD4FD7312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7755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E59479E-3DF2-4884-AD0A-74B35B7C2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5D42C67-6C5C-4AD0-838E-DD0F2196D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92E4895-D70C-475C-9058-29FEEECF8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8859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D207ACE-460A-4164-AFD0-F58D111C0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0099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934949E-CF82-44D3-8A9C-81DAB3DDF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1338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237DCEC-CE69-4A49-808E-297D3029D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2578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75CFA0E-F5D8-444A-B0AC-E2BAE8FA7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817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0F047D4-0421-4920-B89F-8BBB027D1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5CF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947FCC3-6807-4BC8-B8B7-7301E8E7A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13410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23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BB5CA79-CC28-47EF-9E6E-0E4C4958B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1502664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926"/>
          </a:solidFill>
          <a:ln xmlns:a="http://schemas.openxmlformats.org/drawingml/2006/main" w="9525">
            <a:solidFill>
              <a:srgbClr val="00D4A6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CBDCBDA-50FF-4102-9AF7-311DDE08D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95300"/>
            <a:ext cx="1274064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0D4A6"/>
                </a:solidFill>
                <a:latin typeface="Aptos Mono"/>
                <a:ea typeface="Aptos Mono"/>
                <a:cs typeface="Aptos Mono"/>
              </a:defRPr>
            </a:pPr>
            <a:r>
              <a:rPr sz="825" b="1">
                <a:solidFill>
                  <a:srgbClr val="00D4A6"/>
                </a:solidFill>
                <a:latin typeface="Aptos Mono"/>
                <a:ea typeface="Aptos Mono"/>
                <a:cs typeface="Aptos Mono"/>
              </a:rPr>
              <a:t>MODULE 02 - LIBRARY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D4B4B36-BAD9-4259-83E7-D15520D65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38200"/>
            <a:ext cx="9144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F4F7FB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F4F7FB"/>
                </a:solidFill>
                <a:latin typeface="Aptos Display"/>
                <a:ea typeface="Aptos Display"/>
                <a:cs typeface="Aptos Display"/>
              </a:rPr>
              <a:t>Library shows persisted evidence, not only a gallery.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2C06AF4-75AA-4280-B73A-D007D4FE5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95450"/>
            <a:ext cx="876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A8B3C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A8B3C7"/>
                </a:solidFill>
                <a:latin typeface="Aptos"/>
                <a:ea typeface="Aptos"/>
                <a:cs typeface="Aptos"/>
              </a:rPr>
              <a:t>Each ad record carries classification, entities, OCR, transcript, frames, campaigns, and related ads.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B86D21A-6430-4D02-B5F0-F1F50FDF2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114550"/>
            <a:ext cx="6343650" cy="389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018"/>
          </a:solidFill>
          <a:ln xmlns:a="http://schemas.openxmlformats.org/drawingml/2006/main" w="9525">
            <a:solidFill>
              <a:srgbClr val="35435A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6CBE770-B7EA-4657-A3D1-113FA5280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114550"/>
            <a:ext cx="6343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19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9128E2C-2321-483E-8579-854620EBF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288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7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3BF41BF-44D9-4070-8FD0-52938E419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288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B382549-30CC-43E5-B2C0-EC6954F5B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2288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D4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30F6167-A341-4E05-9560-052E213DC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171700"/>
            <a:ext cx="54483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47084"/>
                </a:solidFill>
                <a:latin typeface="Aptos Mono"/>
                <a:ea typeface="Aptos Mono"/>
                <a:cs typeface="Aptos Mono"/>
              </a:defRPr>
            </a:pPr>
            <a:r>
              <a:rPr sz="825" b="0">
                <a:solidFill>
                  <a:srgbClr val="647084"/>
                </a:solidFill>
                <a:latin typeface="Aptos Mono"/>
                <a:ea typeface="Aptos Mono"/>
                <a:cs typeface="Aptos Mono"/>
              </a:rPr>
              <a:t>Library detail</a:t>
            </a:r>
          </a:p>
        </p:txBody>
      </p:sp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301fa5aab984813"/>
          <a:srcRect xmlns:a="http://schemas.openxmlformats.org/drawingml/2006/main" l="0" t="5077" r="0" b="507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52450" y="2457450"/>
            <a:ext cx="6191250" cy="3476625"/>
          </a:xfrm>
          <a:prstGeom xmlns:a="http://schemas.openxmlformats.org/drawingml/2006/main" prst="rect">
            <a:avLst/>
          </a:prstGeom>
        </p:spPr>
      </p:pic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D99BB50-0987-494E-92BA-A9E1D7B0A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209800"/>
            <a:ext cx="28575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926"/>
          </a:solidFill>
          <a:ln xmlns:a="http://schemas.openxmlformats.org/drawingml/2006/main" w="9525">
            <a:solidFill>
              <a:srgbClr val="00D4A6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43D4414-4E52-4F40-AF94-5D56E8AB9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438400"/>
            <a:ext cx="2381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0D4A6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0D4A6"/>
                </a:solidFill>
                <a:latin typeface="Aptos"/>
                <a:ea typeface="Aptos"/>
                <a:cs typeface="Aptos"/>
              </a:rPr>
              <a:t>Core output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D8B18F2-C011-4917-BCB8-B85431F39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686050"/>
            <a:ext cx="2381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4F7FB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4F7FB"/>
                </a:solidFill>
                <a:latin typeface="Aptos"/>
                <a:ea typeface="Aptos"/>
                <a:cs typeface="Aptos"/>
              </a:rPr>
              <a:t>searchable timestamped record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E7662A1-A029-47A6-B3EF-2B0709FA1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390900"/>
            <a:ext cx="13144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926"/>
          </a:solidFill>
          <a:ln xmlns:a="http://schemas.openxmlformats.org/drawingml/2006/main" w="9525">
            <a:solidFill>
              <a:srgbClr val="263142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249AB48-4130-41DC-98D9-144F7B96A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514725"/>
            <a:ext cx="1047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0C2FF"/>
                </a:solidFill>
                <a:latin typeface="Aptos Mono"/>
                <a:ea typeface="Aptos Mono"/>
                <a:cs typeface="Aptos Mono"/>
              </a:defRPr>
            </a:pPr>
            <a:r>
              <a:rPr sz="1800" b="1">
                <a:solidFill>
                  <a:srgbClr val="00C2FF"/>
                </a:solidFill>
                <a:latin typeface="Aptos Mono"/>
                <a:ea typeface="Aptos Mono"/>
                <a:cs typeface="Aptos Mono"/>
              </a:rPr>
              <a:t>brand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DF6FD42-2B39-4DE0-B477-DCE4C43CA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848100"/>
            <a:ext cx="1047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A8B3C7"/>
                </a:solidFill>
                <a:latin typeface="Aptos Mono"/>
                <a:ea typeface="Aptos Mono"/>
                <a:cs typeface="Aptos Mono"/>
              </a:defRPr>
            </a:pPr>
            <a:r>
              <a:rPr sz="825" b="0">
                <a:solidFill>
                  <a:srgbClr val="A8B3C7"/>
                </a:solidFill>
                <a:latin typeface="Aptos Mono"/>
                <a:ea typeface="Aptos Mono"/>
                <a:cs typeface="Aptos Mono"/>
              </a:rPr>
              <a:t>entity extraction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60A3E81-50C9-4FD4-92C5-FACCA32D7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3390900"/>
            <a:ext cx="13144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926"/>
          </a:solidFill>
          <a:ln xmlns:a="http://schemas.openxmlformats.org/drawingml/2006/main" w="9525">
            <a:solidFill>
              <a:srgbClr val="263142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1A32D53-B78C-49E6-A95D-56D0974DA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3514725"/>
            <a:ext cx="1047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8B5CF6"/>
                </a:solidFill>
                <a:latin typeface="Aptos Mono"/>
                <a:ea typeface="Aptos Mono"/>
                <a:cs typeface="Aptos Mono"/>
              </a:defRPr>
            </a:pPr>
            <a:r>
              <a:rPr sz="1800" b="1">
                <a:solidFill>
                  <a:srgbClr val="8B5CF6"/>
                </a:solidFill>
                <a:latin typeface="Aptos Mono"/>
                <a:ea typeface="Aptos Mono"/>
                <a:cs typeface="Aptos Mono"/>
              </a:rPr>
              <a:t>category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CD0F56B-89BF-41A2-B8F4-B748EB113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3848100"/>
            <a:ext cx="1047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A8B3C7"/>
                </a:solidFill>
                <a:latin typeface="Aptos Mono"/>
                <a:ea typeface="Aptos Mono"/>
                <a:cs typeface="Aptos Mono"/>
              </a:defRPr>
            </a:pPr>
            <a:r>
              <a:rPr sz="825" b="0">
                <a:solidFill>
                  <a:srgbClr val="A8B3C7"/>
                </a:solidFill>
                <a:latin typeface="Aptos Mono"/>
                <a:ea typeface="Aptos Mono"/>
                <a:cs typeface="Aptos Mono"/>
              </a:rPr>
              <a:t>taxonomy label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209A145-93ED-4639-8313-2795ACCC2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343400"/>
            <a:ext cx="13144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926"/>
          </a:solidFill>
          <a:ln xmlns:a="http://schemas.openxmlformats.org/drawingml/2006/main" w="9525">
            <a:solidFill>
              <a:srgbClr val="263142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73AC789-7648-4F09-8604-278FE7D7C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467225"/>
            <a:ext cx="1047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0D4A6"/>
                </a:solidFill>
                <a:latin typeface="Aptos Mono"/>
                <a:ea typeface="Aptos Mono"/>
                <a:cs typeface="Aptos Mono"/>
              </a:defRPr>
            </a:pPr>
            <a:r>
              <a:rPr sz="1800" b="1">
                <a:solidFill>
                  <a:srgbClr val="00D4A6"/>
                </a:solidFill>
                <a:latin typeface="Aptos Mono"/>
                <a:ea typeface="Aptos Mono"/>
                <a:cs typeface="Aptos Mono"/>
              </a:rPr>
              <a:t>evidence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D3DC9CC-BE9D-450C-AF7F-5D5F96F5E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800600"/>
            <a:ext cx="1047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A8B3C7"/>
                </a:solidFill>
                <a:latin typeface="Aptos Mono"/>
                <a:ea typeface="Aptos Mono"/>
                <a:cs typeface="Aptos Mono"/>
              </a:defRPr>
            </a:pPr>
            <a:r>
              <a:rPr sz="825" b="0">
                <a:solidFill>
                  <a:srgbClr val="A8B3C7"/>
                </a:solidFill>
                <a:latin typeface="Aptos Mono"/>
                <a:ea typeface="Aptos Mono"/>
                <a:cs typeface="Aptos Mono"/>
              </a:rPr>
              <a:t>frame + timestamp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B0E3C864-688B-432E-B4C4-BF05634F2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4343400"/>
            <a:ext cx="13144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926"/>
          </a:solidFill>
          <a:ln xmlns:a="http://schemas.openxmlformats.org/drawingml/2006/main" w="9525">
            <a:solidFill>
              <a:srgbClr val="263142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53AA96AE-54BA-4845-907E-1282788D5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4467225"/>
            <a:ext cx="1047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BBF24"/>
                </a:solidFill>
                <a:latin typeface="Aptos Mono"/>
                <a:ea typeface="Aptos Mono"/>
                <a:cs typeface="Aptos Mono"/>
              </a:defRPr>
            </a:pPr>
            <a:r>
              <a:rPr sz="1800" b="1">
                <a:solidFill>
                  <a:srgbClr val="FBBF24"/>
                </a:solidFill>
                <a:latin typeface="Aptos Mono"/>
                <a:ea typeface="Aptos Mono"/>
                <a:cs typeface="Aptos Mono"/>
              </a:rPr>
              <a:t>campaign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FD5BA5A9-5818-47F7-AAA2-C3431696C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4800600"/>
            <a:ext cx="1047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A8B3C7"/>
                </a:solidFill>
                <a:latin typeface="Aptos Mono"/>
                <a:ea typeface="Aptos Mono"/>
                <a:cs typeface="Aptos Mono"/>
              </a:defRPr>
            </a:pPr>
            <a:r>
              <a:rPr sz="825" b="0">
                <a:solidFill>
                  <a:srgbClr val="A8B3C7"/>
                </a:solidFill>
                <a:latin typeface="Aptos Mono"/>
                <a:ea typeface="Aptos Mono"/>
                <a:cs typeface="Aptos Mono"/>
              </a:rPr>
              <a:t>grouping signal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BDD0D0ED-326A-428C-B6B6-90822F1DD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391150"/>
            <a:ext cx="30099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A8B3C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A8B3C7"/>
                </a:solidFill>
                <a:latin typeface="Aptos"/>
                <a:ea typeface="Aptos"/>
                <a:cs typeface="Aptos"/>
              </a:rPr>
              <a:t>Inspection shows why the classification happened, not only the final label.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F5704479-8080-4E8C-8EF8-CE4A13CB8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0"/>
            <a:ext cx="2476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47084"/>
                </a:solidFill>
                <a:latin typeface="Aptos Mono"/>
                <a:ea typeface="Aptos Mono"/>
                <a:cs typeface="Aptos Mono"/>
              </a:defRPr>
            </a:pPr>
            <a:r>
              <a:rPr sz="825" b="0">
                <a:solidFill>
                  <a:srgbClr val="647084"/>
                </a:solidFill>
                <a:latin typeface="Aptos Mono"/>
                <a:ea typeface="Aptos Mono"/>
                <a:cs typeface="Aptos Mono"/>
              </a:rPr>
              <a:t>ARGUS system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7EB7A533-1ACA-4B09-A799-EEFF44A3D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86500"/>
            <a:ext cx="1047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47084"/>
                </a:solidFill>
                <a:latin typeface="Aptos Mono"/>
                <a:ea typeface="Aptos Mono"/>
                <a:cs typeface="Aptos Mono"/>
              </a:defRPr>
            </a:pPr>
            <a:r>
              <a:rPr sz="825" b="0">
                <a:solidFill>
                  <a:srgbClr val="647084"/>
                </a:solidFill>
                <a:latin typeface="Aptos Mono"/>
                <a:ea typeface="Aptos Mono"/>
                <a:cs typeface="Aptos Mono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81998822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240909A-480E-4741-A33C-F0F22D0A3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70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4A110C7-BEFD-42F8-BA07-EF2F4C03D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0002EDE-4495-409E-9A7A-290C33E93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FB2182F-446D-4883-9BDB-EDEAD710B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6DBE1F1-82F0-44E8-9B56-3FB374642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D49325F-2258-4892-A032-843591D30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BC06BF4-1113-479C-91B6-01717AF85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2718B86-F5A8-4347-9D21-97A9C940B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16E55F9-2C94-40CA-A953-4784EB96B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B02988A-6E9E-405B-82D4-91002E4CC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69558F7-E385-4372-9C8C-93AB00D85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7755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076ABAC-3EAE-4F61-B2B5-1B0D2BACF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285B495-597B-4BB7-86C1-23D5E878D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9D29D11-6EF9-47BD-9656-2BB5A413A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8859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04AA61B-5A4A-42C4-B1C0-184E32611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0099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5FAFB1E-1777-4BBB-B5E6-B87016EF1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1338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9DADECE-CE76-4602-AF13-460227F0E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2578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5F7AA4A-CDAF-461B-87B7-F2DD8CE8F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817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06ADDFE-E922-4E38-9B56-971D03BB1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5CF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32E9282-6511-434F-AE4A-99FF1F65F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13410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23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A4A88CF-E9DB-4819-B3FA-D81025231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1435608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926"/>
          </a:solidFill>
          <a:ln xmlns:a="http://schemas.openxmlformats.org/drawingml/2006/main" w="9525">
            <a:solidFill>
              <a:srgbClr val="00D4A6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600994B-46B8-4BAA-9265-371D34BCD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95300"/>
            <a:ext cx="1207008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0D4A6"/>
                </a:solidFill>
                <a:latin typeface="Aptos Mono"/>
                <a:ea typeface="Aptos Mono"/>
                <a:cs typeface="Aptos Mono"/>
              </a:defRPr>
            </a:pPr>
            <a:r>
              <a:rPr sz="825" b="1">
                <a:solidFill>
                  <a:srgbClr val="00D4A6"/>
                </a:solidFill>
                <a:latin typeface="Aptos Mono"/>
                <a:ea typeface="Aptos Mono"/>
                <a:cs typeface="Aptos Mono"/>
              </a:rPr>
              <a:t>MODULE 03 - SEARCH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3754443-57FD-4C02-85F9-CADA1074C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38200"/>
            <a:ext cx="9144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4F7FB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F4F7FB"/>
                </a:solidFill>
                <a:latin typeface="Aptos Display"/>
                <a:ea typeface="Aptos Display"/>
                <a:cs typeface="Aptos Display"/>
              </a:rPr>
              <a:t>Search combines exact words, filters, and semantic retrieval.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471B52C-7FC0-443F-80F3-0EB39B416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95450"/>
            <a:ext cx="876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A8B3C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A8B3C7"/>
                </a:solidFill>
                <a:latin typeface="Aptos"/>
                <a:ea typeface="Aptos"/>
                <a:cs typeface="Aptos"/>
              </a:rPr>
              <a:t>Results can come from keyword matches, text retrieval, visual retrieval, or hybrid ranking.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D1CC6C8-BCC5-465F-966A-70BA19BA9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33600"/>
            <a:ext cx="6343650" cy="389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018"/>
          </a:solidFill>
          <a:ln xmlns:a="http://schemas.openxmlformats.org/drawingml/2006/main" w="9525">
            <a:solidFill>
              <a:srgbClr val="35435A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ABC2969-CB6F-4227-918B-FA0AE17FA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33600"/>
            <a:ext cx="6343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19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553F15C-4503-410E-AA48-CF60792F7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4790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7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E7A488B-15D3-4A5A-8D8E-D28E173E4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4790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8B2C9A9-28D2-4715-931D-CFDD67B6A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4790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D4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634EC91-BB5F-4AD8-ADF3-1FDFE100B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190750"/>
            <a:ext cx="54483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47084"/>
                </a:solidFill>
                <a:latin typeface="Aptos Mono"/>
                <a:ea typeface="Aptos Mono"/>
                <a:cs typeface="Aptos Mono"/>
              </a:defRPr>
            </a:pPr>
            <a:r>
              <a:rPr sz="825" b="0">
                <a:solidFill>
                  <a:srgbClr val="647084"/>
                </a:solidFill>
                <a:latin typeface="Aptos Mono"/>
                <a:ea typeface="Aptos Mono"/>
                <a:cs typeface="Aptos Mono"/>
              </a:rPr>
              <a:t>Search results</a:t>
            </a:r>
          </a:p>
        </p:txBody>
      </p:sp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91c6c3ab93343cb"/>
          <a:srcRect xmlns:a="http://schemas.openxmlformats.org/drawingml/2006/main" l="0" t="342" r="0" b="34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33400" y="2476500"/>
            <a:ext cx="6191250" cy="3476625"/>
          </a:xfrm>
          <a:prstGeom xmlns:a="http://schemas.openxmlformats.org/drawingml/2006/main" prst="rect">
            <a:avLst/>
          </a:prstGeom>
        </p:spPr>
      </p:pic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F4A5364-E035-48F7-9F74-4E6C199D9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266950"/>
            <a:ext cx="3048000" cy="2609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926"/>
          </a:solidFill>
          <a:ln xmlns:a="http://schemas.openxmlformats.org/drawingml/2006/main" w="9525">
            <a:solidFill>
              <a:srgbClr val="35435A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C7A26F4-232F-45FA-8BA3-538A9ABEF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533650"/>
            <a:ext cx="2571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4F7FB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4F7FB"/>
                </a:solidFill>
                <a:latin typeface="Aptos"/>
                <a:ea typeface="Aptos"/>
                <a:cs typeface="Aptos"/>
              </a:rPr>
              <a:t>Retrieval modes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ABEB1AA-EBB5-4FD9-9840-E514B5593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028950"/>
            <a:ext cx="10096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019"/>
          </a:solidFill>
          <a:ln xmlns:a="http://schemas.openxmlformats.org/drawingml/2006/main" w="9525">
            <a:solidFill>
              <a:srgbClr val="00C2FF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806DC97-A6A3-4D91-A77A-395BE6D35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095625"/>
            <a:ext cx="8001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0C2F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00C2FF"/>
                </a:solidFill>
                <a:latin typeface="Aptos"/>
                <a:ea typeface="Aptos"/>
                <a:cs typeface="Aptos"/>
              </a:rPr>
              <a:t>Keyword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342A66E-F8CD-4EFC-8824-55CC6784C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057525"/>
            <a:ext cx="11239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A8B3C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A8B3C7"/>
                </a:solidFill>
                <a:latin typeface="Aptos"/>
                <a:ea typeface="Aptos"/>
                <a:cs typeface="Aptos"/>
              </a:rPr>
              <a:t>FTS5 over brand, OCR, transcript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F5DADAB-1A3A-4BDD-92ED-DFC2C2DD5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467100"/>
            <a:ext cx="10096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019"/>
          </a:solidFill>
          <a:ln xmlns:a="http://schemas.openxmlformats.org/drawingml/2006/main" w="9525">
            <a:solidFill>
              <a:srgbClr val="00D4A6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9860EDB-AF4E-4943-ACD7-E8BD0E499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533775"/>
            <a:ext cx="8001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0D4A6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00D4A6"/>
                </a:solidFill>
                <a:latin typeface="Aptos"/>
                <a:ea typeface="Aptos"/>
                <a:cs typeface="Aptos"/>
              </a:rPr>
              <a:t>Text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EB63C78-BBA7-44F4-BD2F-4E5CF8090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495675"/>
            <a:ext cx="11239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A8B3C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A8B3C7"/>
                </a:solidFill>
                <a:latin typeface="Aptos"/>
                <a:ea typeface="Aptos"/>
                <a:cs typeface="Aptos"/>
              </a:rPr>
              <a:t>semantic query over ad text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DFD2EE7-99DD-4A0C-B32E-17EF2EFF7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905250"/>
            <a:ext cx="10096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019"/>
          </a:solidFill>
          <a:ln xmlns:a="http://schemas.openxmlformats.org/drawingml/2006/main" w="9525">
            <a:solidFill>
              <a:srgbClr val="FBBF24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3949402-FEB3-4AC9-8BEF-4E2500D15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971925"/>
            <a:ext cx="8001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FBBF24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FBBF24"/>
                </a:solidFill>
                <a:latin typeface="Aptos"/>
                <a:ea typeface="Aptos"/>
                <a:cs typeface="Aptos"/>
              </a:rPr>
              <a:t>Visual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F558730-F6D0-4C3D-B4BD-76F0D5884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933825"/>
            <a:ext cx="11239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A8B3C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A8B3C7"/>
                </a:solidFill>
                <a:latin typeface="Aptos"/>
                <a:ea typeface="Aptos"/>
                <a:cs typeface="Aptos"/>
              </a:rPr>
              <a:t>image-space similarity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0387446-D6AB-4FC6-BF7B-9B99AC62E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343400"/>
            <a:ext cx="10096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019"/>
          </a:solidFill>
          <a:ln xmlns:a="http://schemas.openxmlformats.org/drawingml/2006/main" w="9525">
            <a:solidFill>
              <a:srgbClr val="8B5CF6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900B752-9777-4124-A1C7-5C2155583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410075"/>
            <a:ext cx="8001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8B5CF6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8B5CF6"/>
                </a:solidFill>
                <a:latin typeface="Aptos"/>
                <a:ea typeface="Aptos"/>
                <a:cs typeface="Aptos"/>
              </a:rPr>
              <a:t>Hybrid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1358CD5-A6B1-4B1A-B882-7B68E28B1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4371975"/>
            <a:ext cx="11239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A8B3C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A8B3C7"/>
                </a:solidFill>
                <a:latin typeface="Aptos"/>
                <a:ea typeface="Aptos"/>
                <a:cs typeface="Aptos"/>
              </a:rPr>
              <a:t>fusion and reranking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E333109B-CE78-427F-815C-6E88ABA6F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124450"/>
            <a:ext cx="2857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4F7F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F4F7FB"/>
                </a:solidFill>
                <a:latin typeface="Aptos"/>
                <a:ea typeface="Aptos"/>
                <a:cs typeface="Aptos"/>
              </a:rPr>
              <a:t>Use case: find creatives, disclaimers, offers, campaign variants, or similar visuals.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49CA6A2A-A8C5-4591-8D2B-B7593F502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0"/>
            <a:ext cx="2476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47084"/>
                </a:solidFill>
                <a:latin typeface="Aptos Mono"/>
                <a:ea typeface="Aptos Mono"/>
                <a:cs typeface="Aptos Mono"/>
              </a:defRPr>
            </a:pPr>
            <a:r>
              <a:rPr sz="825" b="0">
                <a:solidFill>
                  <a:srgbClr val="647084"/>
                </a:solidFill>
                <a:latin typeface="Aptos Mono"/>
                <a:ea typeface="Aptos Mono"/>
                <a:cs typeface="Aptos Mono"/>
              </a:rPr>
              <a:t>ARGUS system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282478CF-8B1B-476B-981C-F2C438AF5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86500"/>
            <a:ext cx="1047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47084"/>
                </a:solidFill>
                <a:latin typeface="Aptos Mono"/>
                <a:ea typeface="Aptos Mono"/>
                <a:cs typeface="Aptos Mono"/>
              </a:defRPr>
            </a:pPr>
            <a:r>
              <a:rPr sz="825" b="0">
                <a:solidFill>
                  <a:srgbClr val="647084"/>
                </a:solidFill>
                <a:latin typeface="Aptos Mono"/>
                <a:ea typeface="Aptos Mono"/>
                <a:cs typeface="Aptos Mono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719656508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E5DAE56-4360-4176-8675-47C6203BF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70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C42C7E3-757E-4629-9801-126244ACC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ACE0364-9F8C-42B4-8C73-83A58C941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8F5AC0E-3314-454B-889B-0A6FCC193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56C418-C9E8-4E4D-9BA7-422DF3857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06742F-B705-45D1-BA7A-69F0855D4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E532BD2-B88F-41D1-8961-D98BF4E24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FE42E5C-C36D-494D-AA34-C91957579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2255CE2-199E-4669-A356-CE24B9D24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9FE908D-A71D-469A-A81C-8DEEE2C2A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6DE462B-2756-4D68-BBDE-D1060922B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7755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A9EAC7A-0B4E-43CD-951B-CCBFE4CB5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82771C8-CDAD-41CF-BA2A-D6E56CA51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FB4F1E3-41B8-4205-A05F-AB79212C4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8859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A0092C8-0EC8-4B84-B48E-1EACF63DC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0099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8FF9FBD-14E5-48C2-8F3C-58F045C31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1338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77C7F3D-1E4B-473F-B0D1-6D91F25CF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2578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FC152BA-97BB-449C-B395-3F87104AF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817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B28B021-AF6D-43A6-A791-F6EB240EE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5CF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642C3F2-FB07-4322-8749-17F3AF054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13410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23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46358FB-9EFF-49FE-BF25-29A32C3B2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1636776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926"/>
          </a:solidFill>
          <a:ln xmlns:a="http://schemas.openxmlformats.org/drawingml/2006/main" w="9525">
            <a:solidFill>
              <a:srgbClr val="00D4A6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2F8C99B-53E7-428F-BF41-63182070D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95300"/>
            <a:ext cx="1408176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0D4A6"/>
                </a:solidFill>
                <a:latin typeface="Aptos Mono"/>
                <a:ea typeface="Aptos Mono"/>
                <a:cs typeface="Aptos Mono"/>
              </a:defRPr>
            </a:pPr>
            <a:r>
              <a:rPr sz="825" b="1">
                <a:solidFill>
                  <a:srgbClr val="00D4A6"/>
                </a:solidFill>
                <a:latin typeface="Aptos Mono"/>
                <a:ea typeface="Aptos Mono"/>
                <a:cs typeface="Aptos Mono"/>
              </a:rPr>
              <a:t>MODULE 04 - CAMPAIGNS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2BED54B-CFC0-4BB2-B0F2-3153C2B0E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38200"/>
            <a:ext cx="9144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F4F7FB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F4F7FB"/>
                </a:solidFill>
                <a:latin typeface="Aptos Display"/>
                <a:ea typeface="Aptos Display"/>
                <a:cs typeface="Aptos Display"/>
              </a:rPr>
              <a:t>Campaigns group repeated ads and variants.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A67432F-D5DE-4201-9A78-480542DCB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95450"/>
            <a:ext cx="876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A8B3C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A8B3C7"/>
                </a:solidFill>
                <a:latin typeface="Aptos"/>
                <a:ea typeface="Aptos"/>
                <a:cs typeface="Aptos"/>
              </a:rPr>
              <a:t>Exact duplicates, near-duplicate frames, and semantic similarity connect related ads.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4761ECD-7988-48AC-901D-E8B59BAB0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62200"/>
            <a:ext cx="333375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926"/>
          </a:solidFill>
          <a:ln xmlns:a="http://schemas.openxmlformats.org/drawingml/2006/main" w="9525">
            <a:solidFill>
              <a:srgbClr val="8B5CF6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3308668-E7A0-4CBB-A153-B36F7CEA1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571750"/>
            <a:ext cx="2857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4F7FB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4F7FB"/>
                </a:solidFill>
                <a:latin typeface="Aptos"/>
                <a:ea typeface="Aptos"/>
                <a:cs typeface="Aptos"/>
              </a:rPr>
              <a:t>What grouping adds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FA20303-DAE6-4F8C-9C61-DE1561B93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914650"/>
            <a:ext cx="27813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A8B3C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A8B3C7"/>
                </a:solidFill>
                <a:latin typeface="Aptos"/>
                <a:ea typeface="Aptos"/>
                <a:cs typeface="Aptos"/>
              </a:rPr>
              <a:t>Related ads appear as campaign logic: product, offer, runtime, and variants.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A44C4F4-633F-492F-AADD-D27811293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848100"/>
            <a:ext cx="13525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926"/>
          </a:solidFill>
          <a:ln xmlns:a="http://schemas.openxmlformats.org/drawingml/2006/main" w="9525">
            <a:solidFill>
              <a:srgbClr val="263142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DE0D6E7-A5C5-4C31-8C3A-C54EFBE5E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971925"/>
            <a:ext cx="1085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0C2FF"/>
                </a:solidFill>
                <a:latin typeface="Aptos Mono"/>
                <a:ea typeface="Aptos Mono"/>
                <a:cs typeface="Aptos Mono"/>
              </a:defRPr>
            </a:pPr>
            <a:r>
              <a:rPr sz="1800" b="1">
                <a:solidFill>
                  <a:srgbClr val="00C2FF"/>
                </a:solidFill>
                <a:latin typeface="Aptos Mono"/>
                <a:ea typeface="Aptos Mono"/>
                <a:cs typeface="Aptos Mono"/>
              </a:rPr>
              <a:t>exact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7063C8C-F761-475C-8D9D-16C685B39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305300"/>
            <a:ext cx="1085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A8B3C7"/>
                </a:solidFill>
                <a:latin typeface="Aptos Mono"/>
                <a:ea typeface="Aptos Mono"/>
                <a:cs typeface="Aptos Mono"/>
              </a:defRPr>
            </a:pPr>
            <a:r>
              <a:rPr sz="825" b="0">
                <a:solidFill>
                  <a:srgbClr val="A8B3C7"/>
                </a:solidFill>
                <a:latin typeface="Aptos Mono"/>
                <a:ea typeface="Aptos Mono"/>
                <a:cs typeface="Aptos Mono"/>
              </a:rPr>
              <a:t>same upload hash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060F4BA-31BF-4C10-A21E-2A834F1B0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3848100"/>
            <a:ext cx="15049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926"/>
          </a:solidFill>
          <a:ln xmlns:a="http://schemas.openxmlformats.org/drawingml/2006/main" w="9525">
            <a:solidFill>
              <a:srgbClr val="263142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5BF5FC1-2051-4975-95D3-192EACFD1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3971925"/>
            <a:ext cx="1238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0D4A6"/>
                </a:solidFill>
                <a:latin typeface="Aptos Mono"/>
                <a:ea typeface="Aptos Mono"/>
                <a:cs typeface="Aptos Mono"/>
              </a:defRPr>
            </a:pPr>
            <a:r>
              <a:rPr sz="1800" b="1">
                <a:solidFill>
                  <a:srgbClr val="00D4A6"/>
                </a:solidFill>
                <a:latin typeface="Aptos Mono"/>
                <a:ea typeface="Aptos Mono"/>
                <a:cs typeface="Aptos Mono"/>
              </a:rPr>
              <a:t>near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E671457-37F1-43FE-8F35-118E4E84D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4305300"/>
            <a:ext cx="1238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A8B3C7"/>
                </a:solidFill>
                <a:latin typeface="Aptos Mono"/>
                <a:ea typeface="Aptos Mono"/>
                <a:cs typeface="Aptos Mono"/>
              </a:defRPr>
            </a:pPr>
            <a:r>
              <a:rPr sz="825" b="0">
                <a:solidFill>
                  <a:srgbClr val="A8B3C7"/>
                </a:solidFill>
                <a:latin typeface="Aptos Mono"/>
                <a:ea typeface="Aptos Mono"/>
                <a:cs typeface="Aptos Mono"/>
              </a:rPr>
              <a:t>pHash creative reuse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DC4AF47-3D3D-4711-AD13-DACD6782F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819650"/>
            <a:ext cx="13525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926"/>
          </a:solidFill>
          <a:ln xmlns:a="http://schemas.openxmlformats.org/drawingml/2006/main" w="9525">
            <a:solidFill>
              <a:srgbClr val="263142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B3CC896-B6CD-4643-91BA-60FAA67F9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943475"/>
            <a:ext cx="1085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BBF24"/>
                </a:solidFill>
                <a:latin typeface="Aptos Mono"/>
                <a:ea typeface="Aptos Mono"/>
                <a:cs typeface="Aptos Mono"/>
              </a:defRPr>
            </a:pPr>
            <a:r>
              <a:rPr sz="1800" b="1">
                <a:solidFill>
                  <a:srgbClr val="FBBF24"/>
                </a:solidFill>
                <a:latin typeface="Aptos Mono"/>
                <a:ea typeface="Aptos Mono"/>
                <a:cs typeface="Aptos Mono"/>
              </a:rPr>
              <a:t>semantic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E08F2C7-8ACF-42CE-BCFB-D17511973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276850"/>
            <a:ext cx="1085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A8B3C7"/>
                </a:solidFill>
                <a:latin typeface="Aptos Mono"/>
                <a:ea typeface="Aptos Mono"/>
                <a:cs typeface="Aptos Mono"/>
              </a:defRPr>
            </a:pPr>
            <a:r>
              <a:rPr sz="825" b="0">
                <a:solidFill>
                  <a:srgbClr val="A8B3C7"/>
                </a:solidFill>
                <a:latin typeface="Aptos Mono"/>
                <a:ea typeface="Aptos Mono"/>
                <a:cs typeface="Aptos Mono"/>
              </a:rPr>
              <a:t>same campaign variants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542681E-7349-4196-BB28-2975A7C5D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4819650"/>
            <a:ext cx="15049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926"/>
          </a:solidFill>
          <a:ln xmlns:a="http://schemas.openxmlformats.org/drawingml/2006/main" w="9525">
            <a:solidFill>
              <a:srgbClr val="263142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DA64595-696A-47D5-A68B-C9285AD74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4943475"/>
            <a:ext cx="1238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8B5CF6"/>
                </a:solidFill>
                <a:latin typeface="Aptos Mono"/>
                <a:ea typeface="Aptos Mono"/>
                <a:cs typeface="Aptos Mono"/>
              </a:defRPr>
            </a:pPr>
            <a:r>
              <a:rPr sz="1800" b="1">
                <a:solidFill>
                  <a:srgbClr val="8B5CF6"/>
                </a:solidFill>
                <a:latin typeface="Aptos Mono"/>
                <a:ea typeface="Aptos Mono"/>
                <a:cs typeface="Aptos Mono"/>
              </a:rPr>
              <a:t>curated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A24279D-7B49-43DF-9558-18B97D468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5276850"/>
            <a:ext cx="1238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A8B3C7"/>
                </a:solidFill>
                <a:latin typeface="Aptos Mono"/>
                <a:ea typeface="Aptos Mono"/>
                <a:cs typeface="Aptos Mono"/>
              </a:defRPr>
            </a:pPr>
            <a:r>
              <a:rPr sz="825" b="0">
                <a:solidFill>
                  <a:srgbClr val="A8B3C7"/>
                </a:solidFill>
                <a:latin typeface="Aptos Mono"/>
                <a:ea typeface="Aptos Mono"/>
                <a:cs typeface="Aptos Mono"/>
              </a:rPr>
              <a:t>manual assignment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A9569B2-13B2-4A1A-AE20-C4D2AE5C1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076450"/>
            <a:ext cx="6343650" cy="389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018"/>
          </a:solidFill>
          <a:ln xmlns:a="http://schemas.openxmlformats.org/drawingml/2006/main" w="9525">
            <a:solidFill>
              <a:srgbClr val="35435A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5176A54-C228-405B-92DA-2202B7F8F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076450"/>
            <a:ext cx="6343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19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0FEB420-8BCC-4F03-9DD3-72E716354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1907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7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DCBD97C-C187-43EA-A857-05A0A6B71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21907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D292EC4-854A-4F49-996C-72BD3739E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1907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D4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2A59F90E-A3AA-4D21-913C-AE0B6C33D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2133600"/>
            <a:ext cx="54483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47084"/>
                </a:solidFill>
                <a:latin typeface="Aptos Mono"/>
                <a:ea typeface="Aptos Mono"/>
                <a:cs typeface="Aptos Mono"/>
              </a:defRPr>
            </a:pPr>
            <a:r>
              <a:rPr sz="825" b="0">
                <a:solidFill>
                  <a:srgbClr val="647084"/>
                </a:solidFill>
                <a:latin typeface="Aptos Mono"/>
                <a:ea typeface="Aptos Mono"/>
                <a:cs typeface="Aptos Mono"/>
              </a:rPr>
              <a:t>Campaigns module</a:t>
            </a:r>
          </a:p>
        </p:txBody>
      </p:sp>
      <p:pic>
        <p:nvPicPr>
          <p:cNvPr id="4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12df2ae013d4b76"/>
          <a:srcRect xmlns:a="http://schemas.openxmlformats.org/drawingml/2006/main" l="0" t="5077" r="0" b="507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953000" y="2419350"/>
            <a:ext cx="6191250" cy="3476625"/>
          </a:xfrm>
          <a:prstGeom xmlns:a="http://schemas.openxmlformats.org/drawingml/2006/main" prst="rect">
            <a:avLst/>
          </a:prstGeom>
        </p:spPr>
      </p:pic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F856C555-6467-40DC-A650-AAE681FA0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0"/>
            <a:ext cx="2476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47084"/>
                </a:solidFill>
                <a:latin typeface="Aptos Mono"/>
                <a:ea typeface="Aptos Mono"/>
                <a:cs typeface="Aptos Mono"/>
              </a:defRPr>
            </a:pPr>
            <a:r>
              <a:rPr sz="825" b="0">
                <a:solidFill>
                  <a:srgbClr val="647084"/>
                </a:solidFill>
                <a:latin typeface="Aptos Mono"/>
                <a:ea typeface="Aptos Mono"/>
                <a:cs typeface="Aptos Mono"/>
              </a:rPr>
              <a:t>ARGUS system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1EB17284-05FF-4B73-9D47-18F7324C1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86500"/>
            <a:ext cx="1047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47084"/>
                </a:solidFill>
                <a:latin typeface="Aptos Mono"/>
                <a:ea typeface="Aptos Mono"/>
                <a:cs typeface="Aptos Mono"/>
              </a:defRPr>
            </a:pPr>
            <a:r>
              <a:rPr sz="825" b="0">
                <a:solidFill>
                  <a:srgbClr val="647084"/>
                </a:solidFill>
                <a:latin typeface="Aptos Mono"/>
                <a:ea typeface="Aptos Mono"/>
                <a:cs typeface="Aptos Mono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533079034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A58BB68-9E5C-4179-85DC-A3E73883A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70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0FB5B83-4CB1-4357-B0C6-940EEAEA4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F5D0EFF-708F-40A1-9E2E-81EEE2803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D716339-4827-4C38-B1FD-7E59344C3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66BF3A7-CEFA-4A3A-B911-EC3A0B956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C91182-C584-421A-B390-4EF1B8A1D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6C976C3-B548-42A0-853F-E392A9FC1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66DD82A-5B7C-48E8-83E5-D853B7E17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2BFC2E5-3403-48A2-ABA9-7D3C075D0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829AF3C-A955-42EB-89A1-B93C6B4A0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66E68CF-B13A-4213-932F-0D421A61F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7755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B7B5D23-E090-41DF-9FA1-E0B20AE0A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6AFCC66-9317-45B9-97D4-C2694DC71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14E5E2B-F19E-4EA3-9E48-B145CA873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8859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E0B4A8A-494F-441D-85F1-063477F14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0099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487B1F3-FB3D-40DA-A569-E3A7FA921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1338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1F49966-5CA2-4AE8-A61A-F826D903E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2578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2A40EDB-CCB0-4F49-9F8E-2791CE293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817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992F369-768F-402C-BD74-7C05D04DC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5CF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C587D31-1105-437E-B74D-7E3A149AE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13410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23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8582E8B-38DF-4C51-983B-CD2C10910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1368552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926"/>
          </a:solidFill>
          <a:ln xmlns:a="http://schemas.openxmlformats.org/drawingml/2006/main" w="9525">
            <a:solidFill>
              <a:srgbClr val="00D4A6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623DB66-04D5-4029-B3F1-057BC00A3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95300"/>
            <a:ext cx="1139952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0D4A6"/>
                </a:solidFill>
                <a:latin typeface="Aptos Mono"/>
                <a:ea typeface="Aptos Mono"/>
                <a:cs typeface="Aptos Mono"/>
              </a:defRPr>
            </a:pPr>
            <a:r>
              <a:rPr sz="825" b="1">
                <a:solidFill>
                  <a:srgbClr val="00D4A6"/>
                </a:solidFill>
                <a:latin typeface="Aptos Mono"/>
                <a:ea typeface="Aptos Mono"/>
                <a:cs typeface="Aptos Mono"/>
              </a:rPr>
              <a:t>MODULE 05 - AGENT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586ECC1-D1AB-4187-9FB1-8DAB75F21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38200"/>
            <a:ext cx="9144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F4F7FB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F4F7FB"/>
                </a:solidFill>
                <a:latin typeface="Aptos Display"/>
                <a:ea typeface="Aptos Display"/>
                <a:cs typeface="Aptos Display"/>
              </a:rPr>
              <a:t>The agent answers read-only questions over the database.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C1DCB15-0510-4196-8B59-CEFFE0FDF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95450"/>
            <a:ext cx="876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A8B3C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A8B3C7"/>
                </a:solidFill>
                <a:latin typeface="Aptos"/>
                <a:ea typeface="Aptos"/>
                <a:cs typeface="Aptos"/>
              </a:rPr>
              <a:t>It uses tool calls for list, count, aggregate, search, and retrieval operations.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2D89732-ECDD-4257-B9A4-6910E218D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2076450"/>
            <a:ext cx="6057900" cy="3743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018"/>
          </a:solidFill>
          <a:ln xmlns:a="http://schemas.openxmlformats.org/drawingml/2006/main" w="9525">
            <a:solidFill>
              <a:srgbClr val="35435A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09F386E-A581-4CF3-9E5F-20FBD2754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2076450"/>
            <a:ext cx="60579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19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524A9A2-4858-47FA-BAE9-A6BD3ADC5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21907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7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19C9F83-24C3-4C30-B559-962FBB61E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1907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B8CEC3E-2675-45BD-BDC5-833C24C45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21907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D4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D2CCF39-0F4B-49B2-9851-5419321A3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2133600"/>
            <a:ext cx="51625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47084"/>
                </a:solidFill>
                <a:latin typeface="Aptos Mono"/>
                <a:ea typeface="Aptos Mono"/>
                <a:cs typeface="Aptos Mono"/>
              </a:defRPr>
            </a:pPr>
            <a:r>
              <a:rPr sz="825" b="0">
                <a:solidFill>
                  <a:srgbClr val="647084"/>
                </a:solidFill>
                <a:latin typeface="Aptos Mono"/>
                <a:ea typeface="Aptos Mono"/>
                <a:cs typeface="Aptos Mono"/>
              </a:rPr>
              <a:t>ARGUS Agent</a:t>
            </a:r>
          </a:p>
        </p:txBody>
      </p:sp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04710d6e90d4e1e"/>
          <a:srcRect xmlns:a="http://schemas.openxmlformats.org/drawingml/2006/main" l="0" t="4968" r="0" b="496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200650" y="2419350"/>
            <a:ext cx="5905500" cy="3324225"/>
          </a:xfrm>
          <a:prstGeom xmlns:a="http://schemas.openxmlformats.org/drawingml/2006/main" prst="rect">
            <a:avLst/>
          </a:prstGeom>
        </p:spPr>
      </p:pic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F8B192C-A31B-4EDD-8DF7-C4FF6EA25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247900"/>
            <a:ext cx="3905250" cy="2419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926"/>
          </a:solidFill>
          <a:ln xmlns:a="http://schemas.openxmlformats.org/drawingml/2006/main" w="9525">
            <a:solidFill>
              <a:srgbClr val="35435A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CB8983C-2CE9-4E02-B98C-D7F355CE9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476500"/>
            <a:ext cx="3333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4F7FB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4F7FB"/>
                </a:solidFill>
                <a:latin typeface="Aptos"/>
                <a:ea typeface="Aptos"/>
                <a:cs typeface="Aptos"/>
              </a:rPr>
              <a:t>Example questions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EBA596D-52C5-48E9-A680-76BC6E94C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990850"/>
            <a:ext cx="3238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019"/>
          </a:solidFill>
          <a:ln xmlns:a="http://schemas.openxmlformats.org/drawingml/2006/main" w="9525">
            <a:solidFill>
              <a:srgbClr val="263142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E88D84F-959A-4FFB-B00F-4B759CE09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067050"/>
            <a:ext cx="29718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F4F7F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F4F7FB"/>
                </a:solidFill>
                <a:latin typeface="Aptos"/>
                <a:ea typeface="Aptos"/>
                <a:cs typeface="Aptos"/>
              </a:rPr>
              <a:t>How many SUV ads are stored?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099DBF2-F393-44EE-8F91-A767FD18F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409950"/>
            <a:ext cx="3238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019"/>
          </a:solidFill>
          <a:ln xmlns:a="http://schemas.openxmlformats.org/drawingml/2006/main" w="9525">
            <a:solidFill>
              <a:srgbClr val="263142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2E0F263-6299-49D4-8F76-75EF82745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486150"/>
            <a:ext cx="29718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F4F7F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F4F7FB"/>
                </a:solidFill>
                <a:latin typeface="Aptos"/>
                <a:ea typeface="Aptos"/>
                <a:cs typeface="Aptos"/>
              </a:rPr>
              <a:t>Show urgency and price offers.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C026F4E-9643-47EB-83F7-74879FCAB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829050"/>
            <a:ext cx="3238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019"/>
          </a:solidFill>
          <a:ln xmlns:a="http://schemas.openxmlformats.org/drawingml/2006/main" w="9525">
            <a:solidFill>
              <a:srgbClr val="263142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F44B12A-1007-4BDC-A545-B71FB1B0B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905250"/>
            <a:ext cx="29718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F4F7F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F4F7FB"/>
                </a:solidFill>
                <a:latin typeface="Aptos"/>
                <a:ea typeface="Aptos"/>
                <a:cs typeface="Aptos"/>
              </a:rPr>
              <a:t>Compare two automotive ads.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510E0B3-E231-4C6F-AC22-269B5E421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248150"/>
            <a:ext cx="3238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019"/>
          </a:solidFill>
          <a:ln xmlns:a="http://schemas.openxmlformats.org/drawingml/2006/main" w="9525">
            <a:solidFill>
              <a:srgbClr val="263142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2D944B3-4149-4AA6-978B-F93E49B90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324350"/>
            <a:ext cx="29718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F4F7F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F4F7FB"/>
                </a:solidFill>
                <a:latin typeface="Aptos"/>
                <a:ea typeface="Aptos"/>
                <a:cs typeface="Aptos"/>
              </a:rPr>
              <a:t>Group by category and brand.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93BDC7D-ED1A-45F3-9185-BC9C7A740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953000"/>
            <a:ext cx="12001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926"/>
          </a:solidFill>
          <a:ln xmlns:a="http://schemas.openxmlformats.org/drawingml/2006/main" w="9525">
            <a:solidFill>
              <a:srgbClr val="00D4A6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94E6D2F-76F7-401B-8E3B-4A4598952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010150"/>
            <a:ext cx="9715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0D4A6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00D4A6"/>
                </a:solidFill>
                <a:latin typeface="Aptos Mono"/>
                <a:ea typeface="Aptos Mono"/>
                <a:cs typeface="Aptos Mono"/>
              </a:rPr>
              <a:t>read-only DB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E74F5DE0-A8D1-4C77-A7C2-5383F56D4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953000"/>
            <a:ext cx="10668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926"/>
          </a:solidFill>
          <a:ln xmlns:a="http://schemas.openxmlformats.org/drawingml/2006/main" w="9525">
            <a:solidFill>
              <a:srgbClr val="8B5CF6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00A89D78-F025-4A38-904F-EDBBC6964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5010150"/>
            <a:ext cx="8382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8B5CF6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8B5CF6"/>
                </a:solidFill>
                <a:latin typeface="Aptos Mono"/>
                <a:ea typeface="Aptos Mono"/>
                <a:cs typeface="Aptos Mono"/>
              </a:rPr>
              <a:t>tool calls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ED33F78-891E-4A20-BC65-81DA7DB0A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4953000"/>
            <a:ext cx="9334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926"/>
          </a:solidFill>
          <a:ln xmlns:a="http://schemas.openxmlformats.org/drawingml/2006/main" w="9525">
            <a:solidFill>
              <a:srgbClr val="00C2FF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66C8B12D-171F-4A86-B314-BC77254C4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5010150"/>
            <a:ext cx="7048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0C2FF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00C2FF"/>
                </a:solidFill>
                <a:latin typeface="Aptos Mono"/>
                <a:ea typeface="Aptos Mono"/>
                <a:cs typeface="Aptos Mono"/>
              </a:rPr>
              <a:t>citations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38605D5E-1003-4149-99CD-C91ABD02B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0"/>
            <a:ext cx="2476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47084"/>
                </a:solidFill>
                <a:latin typeface="Aptos Mono"/>
                <a:ea typeface="Aptos Mono"/>
                <a:cs typeface="Aptos Mono"/>
              </a:defRPr>
            </a:pPr>
            <a:r>
              <a:rPr sz="825" b="0">
                <a:solidFill>
                  <a:srgbClr val="647084"/>
                </a:solidFill>
                <a:latin typeface="Aptos Mono"/>
                <a:ea typeface="Aptos Mono"/>
                <a:cs typeface="Aptos Mono"/>
              </a:rPr>
              <a:t>ARGUS system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033D2D97-F802-48DE-9C1D-3CFC93765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86500"/>
            <a:ext cx="1047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47084"/>
                </a:solidFill>
                <a:latin typeface="Aptos Mono"/>
                <a:ea typeface="Aptos Mono"/>
                <a:cs typeface="Aptos Mono"/>
              </a:defRPr>
            </a:pPr>
            <a:r>
              <a:rPr sz="825" b="0">
                <a:solidFill>
                  <a:srgbClr val="647084"/>
                </a:solidFill>
                <a:latin typeface="Aptos Mono"/>
                <a:ea typeface="Aptos Mono"/>
                <a:cs typeface="Aptos Mono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601078092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4290A6F-7153-477C-BD5A-09DB52E00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70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F7D2CBB-21CD-4F0F-A050-7F941E019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4E03D21-4E3B-45A7-B03F-35318741C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967F92-9DE8-4194-997F-2F70507FF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BB35061-3C88-4767-ACD9-2D636A586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E2BDFC-A015-4B68-9E44-AC9EF2479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D5488B1-3CC7-4D15-B359-5B4860460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1F673F0-A880-4834-AA46-A1CACD5B8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79B840A-4AAA-4EE6-9F59-63B7C8413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00F8293-F415-4F6E-9903-E00BD7A3D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88900B4-47EA-4953-B458-F4609776B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7755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FC55D37-F710-4831-AFFF-70CE534D9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D2A32D9-E148-4754-9D11-053810161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D8CA1BF-101B-4B04-884B-7916686FA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8859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8876828-561F-4F9B-90BF-73399C482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0099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C602392-F2F6-40D1-A036-3BF7457CA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1338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B20E724-E8D5-4ED5-97F6-4401459CE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2578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19BEBC2-8224-4FFC-B7CE-74EC468CC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817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A8C4ECA-BCDE-416F-97CC-D497502C3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5CF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46A8079-9B8D-4F0B-9E86-C3C7B32D7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13410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23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A48B99C-45C1-4934-AF39-21166462B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1703832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926"/>
          </a:solidFill>
          <a:ln xmlns:a="http://schemas.openxmlformats.org/drawingml/2006/main" w="9525">
            <a:solidFill>
              <a:srgbClr val="00D4A6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840068C-0A29-4E2C-9534-CEDEB0470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95300"/>
            <a:ext cx="1475232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0D4A6"/>
                </a:solidFill>
                <a:latin typeface="Aptos Mono"/>
                <a:ea typeface="Aptos Mono"/>
                <a:cs typeface="Aptos Mono"/>
              </a:defRPr>
            </a:pPr>
            <a:r>
              <a:rPr sz="825" b="1">
                <a:solidFill>
                  <a:srgbClr val="00D4A6"/>
                </a:solidFill>
                <a:latin typeface="Aptos Mono"/>
                <a:ea typeface="Aptos Mono"/>
                <a:cs typeface="Aptos Mono"/>
              </a:rPr>
              <a:t>MODULE 06 - OPERATIONS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FE4AB06-E09C-4A50-A215-5D9C23E9D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38200"/>
            <a:ext cx="9144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4F7FB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F4F7FB"/>
                </a:solidFill>
                <a:latin typeface="Aptos Display"/>
                <a:ea typeface="Aptos Display"/>
                <a:cs typeface="Aptos Display"/>
              </a:rPr>
              <a:t>Settings, taxonomy, and jobs keep the runtime configurable.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6361E08-8E2A-44ED-AB13-FF2036F7D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95450"/>
            <a:ext cx="876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A8B3C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A8B3C7"/>
                </a:solidFill>
                <a:latin typeface="Aptos"/>
                <a:ea typeface="Aptos"/>
                <a:cs typeface="Aptos"/>
              </a:rPr>
              <a:t>Model routes, prompts, OCR behavior, taxonomy, and job recovery remain visible.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1AC4AFD-378F-4891-806E-D262F6ED9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71700"/>
            <a:ext cx="4248150" cy="2724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018"/>
          </a:solidFill>
          <a:ln xmlns:a="http://schemas.openxmlformats.org/drawingml/2006/main" w="9525">
            <a:solidFill>
              <a:srgbClr val="35435A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DAB0055-3AB7-4F95-97DE-0E1C4389A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71700"/>
            <a:ext cx="4248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19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C21F8E5-0425-4128-B25F-E16FDB74D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7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D61B8E7-0610-492D-9312-A9E8D1DF4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8600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D886DE8-507E-4C96-8D54-076DCF8F9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8600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D4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EEFD40C-8310-439D-81A6-414A59577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228850"/>
            <a:ext cx="3352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47084"/>
                </a:solidFill>
                <a:latin typeface="Aptos Mono"/>
                <a:ea typeface="Aptos Mono"/>
                <a:cs typeface="Aptos Mono"/>
              </a:defRPr>
            </a:pPr>
            <a:r>
              <a:rPr sz="825" b="0">
                <a:solidFill>
                  <a:srgbClr val="647084"/>
                </a:solidFill>
                <a:latin typeface="Aptos Mono"/>
                <a:ea typeface="Aptos Mono"/>
                <a:cs typeface="Aptos Mono"/>
              </a:rPr>
              <a:t>Settings</a:t>
            </a:r>
          </a:p>
        </p:txBody>
      </p:sp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2376a7f4f2b4b77"/>
          <a:srcRect xmlns:a="http://schemas.openxmlformats.org/drawingml/2006/main" l="0" t="4977" r="0" b="497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33400" y="2514600"/>
            <a:ext cx="4095750" cy="2305050"/>
          </a:xfrm>
          <a:prstGeom xmlns:a="http://schemas.openxmlformats.org/drawingml/2006/main" prst="rect">
            <a:avLst/>
          </a:prstGeom>
        </p:spPr>
      </p:pic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4F8E647-E43E-4461-B9B1-EF9A1C462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171700"/>
            <a:ext cx="4248150" cy="2724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018"/>
          </a:solidFill>
          <a:ln xmlns:a="http://schemas.openxmlformats.org/drawingml/2006/main" w="9525">
            <a:solidFill>
              <a:srgbClr val="35435A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7A728EE-57F8-44F1-B695-97749987E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171700"/>
            <a:ext cx="4248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19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4258541-188D-42B1-8179-C02709351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228600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7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4F4C162-3ECF-434D-A185-6C6A38639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28600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380B4BF-9B56-49EB-8FC8-3C3B8131E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228600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D4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D214ACC-2108-4E96-A39F-DFA06AAC3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2228850"/>
            <a:ext cx="3352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47084"/>
                </a:solidFill>
                <a:latin typeface="Aptos Mono"/>
                <a:ea typeface="Aptos Mono"/>
                <a:cs typeface="Aptos Mono"/>
              </a:defRPr>
            </a:pPr>
            <a:r>
              <a:rPr sz="825" b="0">
                <a:solidFill>
                  <a:srgbClr val="647084"/>
                </a:solidFill>
                <a:latin typeface="Aptos Mono"/>
                <a:ea typeface="Aptos Mono"/>
                <a:cs typeface="Aptos Mono"/>
              </a:rPr>
              <a:t>Taxonomy</a:t>
            </a:r>
          </a:p>
        </p:txBody>
      </p:sp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964a95e9e4241e2"/>
          <a:srcRect xmlns:a="http://schemas.openxmlformats.org/drawingml/2006/main" l="0" t="4977" r="0" b="497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857750" y="2514600"/>
            <a:ext cx="4095750" cy="2305050"/>
          </a:xfrm>
          <a:prstGeom xmlns:a="http://schemas.openxmlformats.org/drawingml/2006/main" prst="rect">
            <a:avLst/>
          </a:prstGeom>
        </p:spPr>
      </p:pic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9144A42-4DD0-43F0-B624-8F1DBC3DC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247900"/>
            <a:ext cx="1905000" cy="2724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926"/>
          </a:solidFill>
          <a:ln xmlns:a="http://schemas.openxmlformats.org/drawingml/2006/main" w="9525">
            <a:solidFill>
              <a:srgbClr val="263142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939DB5C-7B27-4B11-9E99-8BAB0808C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2476500"/>
            <a:ext cx="1428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4F7FB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4F7FB"/>
                </a:solidFill>
                <a:latin typeface="Aptos"/>
                <a:ea typeface="Aptos"/>
                <a:cs typeface="Aptos"/>
              </a:rPr>
              <a:t>Jobs &amp; runtime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3F0657A-EE8F-46D9-A1CB-20FCBB499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30099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B3C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6DF081D-B4D2-444E-B229-4CFC136E4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2933700"/>
            <a:ext cx="12573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F4F7F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F4F7FB"/>
                </a:solidFill>
                <a:latin typeface="Aptos"/>
                <a:ea typeface="Aptos"/>
                <a:cs typeface="Aptos"/>
              </a:rPr>
              <a:t>state cleanup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EA74CD2-473B-4888-A271-FF0623CA2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33528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B3C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6E39EE45-405F-473B-892F-733D4C6B2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3276600"/>
            <a:ext cx="12573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F4F7F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F4F7FB"/>
                </a:solidFill>
                <a:latin typeface="Aptos"/>
                <a:ea typeface="Aptos"/>
                <a:cs typeface="Aptos"/>
              </a:rPr>
              <a:t>cancel / delete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37AC98A-2360-4739-89CE-23EB257A1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36957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B3C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440B8EE0-DB6A-4412-BBD7-9E855A543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3619500"/>
            <a:ext cx="12573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F4F7F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F4F7FB"/>
                </a:solidFill>
                <a:latin typeface="Aptos"/>
                <a:ea typeface="Aptos"/>
                <a:cs typeface="Aptos"/>
              </a:rPr>
              <a:t>failure visibility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8973D317-7A5B-467C-9464-5D1386CEF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40386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B3C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D25C9613-0E14-406E-BB36-E4364FBE0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3962400"/>
            <a:ext cx="12573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F4F7F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F4F7FB"/>
                </a:solidFill>
                <a:latin typeface="Aptos"/>
                <a:ea typeface="Aptos"/>
                <a:cs typeface="Aptos"/>
              </a:rPr>
              <a:t>demo recovery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ADE3FACF-501C-461E-B759-2312C32D3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525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926"/>
          </a:solidFill>
          <a:ln xmlns:a="http://schemas.openxmlformats.org/drawingml/2006/main" w="9525">
            <a:solidFill>
              <a:srgbClr val="263142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E70503FC-FCA8-4A34-8091-7AABCD43F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600700"/>
            <a:ext cx="8858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4F7FB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4F7FB"/>
                </a:solidFill>
                <a:latin typeface="Aptos"/>
                <a:ea typeface="Aptos"/>
                <a:cs typeface="Aptos"/>
              </a:rPr>
              <a:t>Control surface: model routing, editable prompts, OCR config, taxonomy knowledge, and job state cleanup.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EF7EEB7E-E69B-4687-BECE-BF46F9562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0"/>
            <a:ext cx="2476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47084"/>
                </a:solidFill>
                <a:latin typeface="Aptos Mono"/>
                <a:ea typeface="Aptos Mono"/>
                <a:cs typeface="Aptos Mono"/>
              </a:defRPr>
            </a:pPr>
            <a:r>
              <a:rPr sz="825" b="0">
                <a:solidFill>
                  <a:srgbClr val="647084"/>
                </a:solidFill>
                <a:latin typeface="Aptos Mono"/>
                <a:ea typeface="Aptos Mono"/>
                <a:cs typeface="Aptos Mono"/>
              </a:rPr>
              <a:t>ARGUS system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4AD15B46-EF3E-4983-A489-1AEF178CC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86500"/>
            <a:ext cx="1047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47084"/>
                </a:solidFill>
                <a:latin typeface="Aptos Mono"/>
                <a:ea typeface="Aptos Mono"/>
                <a:cs typeface="Aptos Mono"/>
              </a:defRPr>
            </a:pPr>
            <a:r>
              <a:rPr sz="825" b="0">
                <a:solidFill>
                  <a:srgbClr val="647084"/>
                </a:solidFill>
                <a:latin typeface="Aptos Mono"/>
                <a:ea typeface="Aptos Mono"/>
                <a:cs typeface="Aptos Mono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2852009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B550087-3AF3-4F94-887A-4FDD31388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70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2DDC9D3-82EB-40A9-AA3B-AFA7DE4A6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6132550-5369-49B4-9EB0-A2BFCC3D5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DC4B92-AC06-4F9C-AA89-D0CE40699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CA56D1-CD7A-4D3A-AEEF-76536237D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C1725F6-D2F2-4079-90B0-1F9812255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C7FA0C6-420E-4E81-8BFC-BA92A48CA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8D489E5-87BC-4C3B-A2C6-63673A7A4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C13C1B6-55AD-4B4B-B07F-4279229C5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9E814F1-2A2A-4B95-B852-83AF14F0B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6D6B8B7-4759-40AE-BDC0-C6BCF3EBE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7755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3D48F20-992C-4488-9A6E-F09F2CAEE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2D6DD00-8B7C-4119-9406-D56D1F021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89D86D9-905F-4646-B02D-77B83B9FB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8859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053DCF5-45ED-427F-B1A0-CFC5751C4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0099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2D958F0-D5DA-4DA1-9A97-F4A23789A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1338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0A2BB5C-978F-4DCB-838A-EA798DA85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2578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69F1A6A-BB07-4174-A6A7-6018E953E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817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64A36E9-C940-4E9C-BEB0-057236BC1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5CF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4739613-87B4-40D8-AD48-703D1CAF2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13410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23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F4E4C33-B5E8-4C7C-86B5-7BC237922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832104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926"/>
          </a:solidFill>
          <a:ln xmlns:a="http://schemas.openxmlformats.org/drawingml/2006/main" w="9525">
            <a:solidFill>
              <a:srgbClr val="00D4A6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00276FC-DD99-429D-AD67-D1390AA38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95300"/>
            <a:ext cx="603504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0D4A6"/>
                </a:solidFill>
                <a:latin typeface="Aptos Mono"/>
                <a:ea typeface="Aptos Mono"/>
                <a:cs typeface="Aptos Mono"/>
              </a:defRPr>
            </a:pPr>
            <a:r>
              <a:rPr sz="825" b="1">
                <a:solidFill>
                  <a:srgbClr val="00D4A6"/>
                </a:solidFill>
                <a:latin typeface="Aptos Mono"/>
                <a:ea typeface="Aptos Mono"/>
                <a:cs typeface="Aptos Mono"/>
              </a:rPr>
              <a:t>DEMO PATH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2B2D24E-A312-471E-8B0A-3F50C39AC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38200"/>
            <a:ext cx="9144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F4F7FB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F4F7FB"/>
                </a:solidFill>
                <a:latin typeface="Aptos Display"/>
                <a:ea typeface="Aptos Display"/>
                <a:cs typeface="Aptos Display"/>
              </a:rPr>
              <a:t>A short demo can show upload, inspect, retrieve, and ask.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04DAE07-9E1B-4973-90A3-B587A09CD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95450"/>
            <a:ext cx="876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A8B3C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A8B3C7"/>
                </a:solidFill>
                <a:latin typeface="Aptos"/>
                <a:ea typeface="Aptos"/>
                <a:cs typeface="Aptos"/>
              </a:rPr>
              <a:t>This keeps the presentation focused on what the system does, not setup details.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BFBBA19-189D-4C6F-ACCB-CF0A846C7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19350"/>
            <a:ext cx="180975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926"/>
          </a:solidFill>
          <a:ln xmlns:a="http://schemas.openxmlformats.org/drawingml/2006/main" w="9525">
            <a:solidFill>
              <a:srgbClr val="00C2F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FC27E37-A7A0-42BB-892D-9BC494378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098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C2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C89F5A1-CD5E-40D7-912B-DD45F4AE0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552700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4F7F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4F7FB"/>
                </a:solidFill>
                <a:latin typeface="Aptos"/>
                <a:ea typeface="Aptos"/>
                <a:cs typeface="Aptos"/>
              </a:rPr>
              <a:t>1. Upload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5C7446B-55F0-4CB5-9A9E-45ADA6E37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876550"/>
            <a:ext cx="12763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8B3C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8B3C7"/>
                </a:solidFill>
                <a:latin typeface="Aptos"/>
                <a:ea typeface="Aptos"/>
                <a:cs typeface="Aptos"/>
              </a:rPr>
              <a:t>clip to stage progress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F5D0472-8679-46D2-A268-84253F866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2990850"/>
            <a:ext cx="3238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43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A3D557E-04DD-40EE-8824-38126AB9B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419350"/>
            <a:ext cx="180975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926"/>
          </a:solidFill>
          <a:ln xmlns:a="http://schemas.openxmlformats.org/drawingml/2006/main" w="9525">
            <a:solidFill>
              <a:srgbClr val="00D4A6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065A733-2E5B-41A4-8C01-D8039D724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6098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D4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2EA81D3-E75C-4DF8-8BE3-C7DF85FA3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2552700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4F7F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4F7FB"/>
                </a:solidFill>
                <a:latin typeface="Aptos"/>
                <a:ea typeface="Aptos"/>
                <a:cs typeface="Aptos"/>
              </a:rPr>
              <a:t>2. Inspect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DC67729-C559-4290-B11B-626E51B62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2876550"/>
            <a:ext cx="12763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8B3C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8B3C7"/>
                </a:solidFill>
                <a:latin typeface="Aptos"/>
                <a:ea typeface="Aptos"/>
                <a:cs typeface="Aptos"/>
              </a:rPr>
              <a:t>classification, entities, evidence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7AE5BCD-9997-49B3-9F8C-A390449FB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2990850"/>
            <a:ext cx="3238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43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7B7B414-E14B-4CE3-A8BE-347FFD160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2419350"/>
            <a:ext cx="180975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926"/>
          </a:solidFill>
          <a:ln xmlns:a="http://schemas.openxmlformats.org/drawingml/2006/main" w="9525">
            <a:solidFill>
              <a:srgbClr val="8B5CF6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F1876F6-DF09-4BB5-B2CE-741C270F3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26098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5CF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9F0F6ED-A081-4EF2-9835-BBBB4A591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2552700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4F7F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4F7FB"/>
                </a:solidFill>
                <a:latin typeface="Aptos"/>
                <a:ea typeface="Aptos"/>
                <a:cs typeface="Aptos"/>
              </a:rPr>
              <a:t>3. Search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635A367-1730-4A26-A6D5-2C89D2603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2876550"/>
            <a:ext cx="12763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8B3C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8B3C7"/>
                </a:solidFill>
                <a:latin typeface="Aptos"/>
                <a:ea typeface="Aptos"/>
                <a:cs typeface="Aptos"/>
              </a:rPr>
              <a:t>keyword, filters, retrieval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2B781ED-3A6F-47CC-B119-285BD9C85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2990850"/>
            <a:ext cx="3238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43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7831EBF-B99F-4398-8C99-65C7D5647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419350"/>
            <a:ext cx="180975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926"/>
          </a:solidFill>
          <a:ln xmlns:a="http://schemas.openxmlformats.org/drawingml/2006/main" w="9525">
            <a:solidFill>
              <a:srgbClr val="FBBF24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1EDDF1C-A73F-44F3-A0C4-3FFF3F3D6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6098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4CBEF38-D68A-4AD7-818A-EA5B1D0BD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552700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4F7F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4F7FB"/>
                </a:solidFill>
                <a:latin typeface="Aptos"/>
                <a:ea typeface="Aptos"/>
                <a:cs typeface="Aptos"/>
              </a:rPr>
              <a:t>4. Campaign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8B975B50-B1BC-41DA-B391-B2CE6C182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876550"/>
            <a:ext cx="12763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8B3C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8B3C7"/>
                </a:solidFill>
                <a:latin typeface="Aptos"/>
                <a:ea typeface="Aptos"/>
                <a:cs typeface="Aptos"/>
              </a:rPr>
              <a:t>variants and similarity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574A99C-D938-4E75-9BA3-B6BC532EE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990850"/>
            <a:ext cx="3238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43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4FB58D2E-A277-43A7-9152-D05390E45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2419350"/>
            <a:ext cx="180975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926"/>
          </a:solidFill>
          <a:ln xmlns:a="http://schemas.openxmlformats.org/drawingml/2006/main" w="9525">
            <a:solidFill>
              <a:srgbClr val="FF5C7A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180AF69E-2BB7-48DC-873C-BA89635CA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26098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7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E14AC47C-D0F2-4C4D-9EEB-A87074D42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2552700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4F7F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4F7FB"/>
                </a:solidFill>
                <a:latin typeface="Aptos"/>
                <a:ea typeface="Aptos"/>
                <a:cs typeface="Aptos"/>
              </a:rPr>
              <a:t>5. Agent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0F3B7371-FCC3-4E48-B205-F2733BD02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2876550"/>
            <a:ext cx="12763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8B3C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8B3C7"/>
                </a:solidFill>
                <a:latin typeface="Aptos"/>
                <a:ea typeface="Aptos"/>
                <a:cs typeface="Aptos"/>
              </a:rPr>
              <a:t>plain-language query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358944C8-1481-4105-A41E-CAB462B0F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381500"/>
            <a:ext cx="4762500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926"/>
          </a:solidFill>
          <a:ln xmlns:a="http://schemas.openxmlformats.org/drawingml/2006/main" w="9525">
            <a:solidFill>
              <a:srgbClr val="00D4A6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A9367248-924A-4B20-A83B-8FA66A768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59105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0D4A6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00D4A6"/>
                </a:solidFill>
                <a:latin typeface="Aptos"/>
                <a:ea typeface="Aptos"/>
                <a:cs typeface="Aptos"/>
              </a:rPr>
              <a:t>What the deck covers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5E9BB705-BD32-4DDE-B25B-F1411B58D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0292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D4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321C235B-A022-44CF-BB70-C9801885E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953000"/>
            <a:ext cx="39243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4F7F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4F7FB"/>
                </a:solidFill>
                <a:latin typeface="Aptos"/>
                <a:ea typeface="Aptos"/>
                <a:cs typeface="Aptos"/>
              </a:rPr>
              <a:t>local-first processing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E6D0D4B6-211C-4DE5-92AF-AFD9801B5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2768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D4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32D4CEDE-8C29-4C80-AC9F-EBC3152AA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5200650"/>
            <a:ext cx="39243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4F7F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4F7FB"/>
                </a:solidFill>
                <a:latin typeface="Aptos"/>
                <a:ea typeface="Aptos"/>
                <a:cs typeface="Aptos"/>
              </a:rPr>
              <a:t>structured evidence and entities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E481233A-848C-44D8-BD9A-2F9852D63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245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D4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3E7D46B0-B0FC-4114-811D-CD595DFB2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5448300"/>
            <a:ext cx="39243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4F7F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4F7FB"/>
                </a:solidFill>
                <a:latin typeface="Aptos"/>
                <a:ea typeface="Aptos"/>
                <a:cs typeface="Aptos"/>
              </a:rPr>
              <a:t>search, campaigns, and agent tools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ACB63DCB-3D3F-46FF-AA88-3FC87104C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381500"/>
            <a:ext cx="4762500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926"/>
          </a:solidFill>
          <a:ln xmlns:a="http://schemas.openxmlformats.org/drawingml/2006/main" w="9525">
            <a:solidFill>
              <a:srgbClr val="8B5CF6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05DED2CA-AACD-4D49-BEDA-943BECFE9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59105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8B5CF6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8B5CF6"/>
                </a:solidFill>
                <a:latin typeface="Aptos"/>
                <a:ea typeface="Aptos"/>
                <a:cs typeface="Aptos"/>
              </a:rPr>
              <a:t>Next improvements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351AA3AB-70D9-4FFF-A490-C79E5189F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50292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5CF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2137928A-6636-4A2D-962B-427CE5194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4953000"/>
            <a:ext cx="39243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4F7F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4F7FB"/>
                </a:solidFill>
                <a:latin typeface="Aptos"/>
                <a:ea typeface="Aptos"/>
                <a:cs typeface="Aptos"/>
              </a:rPr>
              <a:t>more sample ads and benchmark runs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10F2CE19-509A-4EC7-B10A-D4B3601A5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52768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5CF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8449A496-22FF-49A3-929A-AAF00BB26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5200650"/>
            <a:ext cx="39243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4F7F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4F7FB"/>
                </a:solidFill>
                <a:latin typeface="Aptos"/>
                <a:ea typeface="Aptos"/>
                <a:cs typeface="Aptos"/>
              </a:rPr>
              <a:t>clearer public install path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2D8EB6FF-3FAF-4F1F-A198-118D2DBDE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55245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5CF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B9BBF198-0543-4EDF-803E-202C2E920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5448300"/>
            <a:ext cx="39243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4F7F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4F7FB"/>
                </a:solidFill>
                <a:latin typeface="Aptos"/>
                <a:ea typeface="Aptos"/>
                <a:cs typeface="Aptos"/>
              </a:rPr>
              <a:t>prompt presets and reset controls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B2DD0A74-A668-4063-80BC-C4F221FAD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0"/>
            <a:ext cx="2476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47084"/>
                </a:solidFill>
                <a:latin typeface="Aptos Mono"/>
                <a:ea typeface="Aptos Mono"/>
                <a:cs typeface="Aptos Mono"/>
              </a:defRPr>
            </a:pPr>
            <a:r>
              <a:rPr sz="825" b="0">
                <a:solidFill>
                  <a:srgbClr val="647084"/>
                </a:solidFill>
                <a:latin typeface="Aptos Mono"/>
                <a:ea typeface="Aptos Mono"/>
                <a:cs typeface="Aptos Mono"/>
              </a:rPr>
              <a:t>ARGUS system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FA23EB01-19D9-4147-9EDE-6DA8BC960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86500"/>
            <a:ext cx="1047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47084"/>
                </a:solidFill>
                <a:latin typeface="Aptos Mono"/>
                <a:ea typeface="Aptos Mono"/>
                <a:cs typeface="Aptos Mono"/>
              </a:defRPr>
            </a:pPr>
            <a:r>
              <a:rPr sz="825" b="0">
                <a:solidFill>
                  <a:srgbClr val="647084"/>
                </a:solidFill>
                <a:latin typeface="Aptos Mono"/>
                <a:ea typeface="Aptos Mono"/>
                <a:cs typeface="Aptos Mono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6308752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2026-06-02T07:10:37.0410000Z</dcterms:created>
  <dcterms:modified xsi:type="dcterms:W3CDTF">2026-06-02T07:10:37.0410000Z</dcterms:modified>
</coreProperties>
</file>