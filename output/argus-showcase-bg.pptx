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04413319a8429f" /><Relationship Type="http://schemas.openxmlformats.org/officeDocument/2006/relationships/extended-properties" Target="/docProps/app.xml" Id="R36e6bad3c6db4b7e" /><Relationship Type="http://schemas.openxmlformats.org/officeDocument/2006/relationships/officeDocument" Target="/ppt/presentation.xml" Id="Ree1c3a2ca05e40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357c71ed3043a8"/>
  </p:sldMasterIdLst>
  <p:notesMasterIdLst>
    <p:notesMasterId xmlns:r="http://schemas.openxmlformats.org/officeDocument/2006/relationships" r:id="R2bdd646cda604756"/>
  </p:notesMasterIdLst>
  <p:sldIdLst>
    <p:sldId xmlns:r="http://schemas.openxmlformats.org/officeDocument/2006/relationships" id="256" r:id="Rd4503355dc3a45c6"/>
    <p:sldId xmlns:r="http://schemas.openxmlformats.org/officeDocument/2006/relationships" id="257" r:id="R1845939c7b364798"/>
    <p:sldId xmlns:r="http://schemas.openxmlformats.org/officeDocument/2006/relationships" id="258" r:id="Re856122f11ea4fa2"/>
    <p:sldId xmlns:r="http://schemas.openxmlformats.org/officeDocument/2006/relationships" id="259" r:id="Rab09d651bb8e4ec2"/>
    <p:sldId xmlns:r="http://schemas.openxmlformats.org/officeDocument/2006/relationships" id="260" r:id="R981ad6f7e61946f9"/>
    <p:sldId xmlns:r="http://schemas.openxmlformats.org/officeDocument/2006/relationships" id="261" r:id="R6e6f5f1517f644c8"/>
    <p:sldId xmlns:r="http://schemas.openxmlformats.org/officeDocument/2006/relationships" id="262" r:id="Raf96395913244de4"/>
    <p:sldId xmlns:r="http://schemas.openxmlformats.org/officeDocument/2006/relationships" id="263" r:id="R5ad14318a4c348b6"/>
    <p:sldId xmlns:r="http://schemas.openxmlformats.org/officeDocument/2006/relationships" id="264" r:id="Re07ea7acd1bc4449"/>
    <p:sldId xmlns:r="http://schemas.openxmlformats.org/officeDocument/2006/relationships" id="265" r:id="R3310ad7db42f4577"/>
    <p:sldId xmlns:r="http://schemas.openxmlformats.org/officeDocument/2006/relationships" id="266" r:id="Rd6929ecbdd394c1f"/>
    <p:sldId xmlns:r="http://schemas.openxmlformats.org/officeDocument/2006/relationships" id="267" r:id="Rff73e53476554876"/>
    <p:sldId xmlns:r="http://schemas.openxmlformats.org/officeDocument/2006/relationships" id="268" r:id="Rc94943869f5a4cd5"/>
    <p:sldId xmlns:r="http://schemas.openxmlformats.org/officeDocument/2006/relationships" id="269" r:id="R4f526ab7b67b42b7"/>
    <p:sldId xmlns:r="http://schemas.openxmlformats.org/officeDocument/2006/relationships" id="270" r:id="R0f71482d8e5b4f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17cb16bd2d4b47" /><Relationship Type="http://schemas.openxmlformats.org/officeDocument/2006/relationships/slideMaster" Target="/ppt/slideMasters/slideMaster1.xml" Id="R13357c71ed3043a8" /><Relationship Type="http://schemas.openxmlformats.org/officeDocument/2006/relationships/notesMaster" Target="/ppt/notesMasters/notesMaster1.xml" Id="R2bdd646cda604756" /><Relationship Type="http://schemas.openxmlformats.org/officeDocument/2006/relationships/presProps" Target="/ppt/presProps.xml" Id="R12abbe1fca9747a3" /><Relationship Type="http://schemas.openxmlformats.org/officeDocument/2006/relationships/viewProps" Target="/ppt/viewProps.xml" Id="R75389b66d41a4915" /><Relationship Type="http://schemas.openxmlformats.org/officeDocument/2006/relationships/tableStyles" Target="/ppt/tableStyles.xml" Id="R4fe13dbd4b7448b5" /><Relationship Type="http://schemas.openxmlformats.org/officeDocument/2006/relationships/slide" Target="/ppt/slides/slide1.xml" Id="Rd4503355dc3a45c6" /><Relationship Type="http://schemas.openxmlformats.org/officeDocument/2006/relationships/slide" Target="/ppt/slides/slide2.xml" Id="R1845939c7b364798" /><Relationship Type="http://schemas.openxmlformats.org/officeDocument/2006/relationships/slide" Target="/ppt/slides/slide3.xml" Id="Re856122f11ea4fa2" /><Relationship Type="http://schemas.openxmlformats.org/officeDocument/2006/relationships/slide" Target="/ppt/slides/slide4.xml" Id="Rab09d651bb8e4ec2" /><Relationship Type="http://schemas.openxmlformats.org/officeDocument/2006/relationships/slide" Target="/ppt/slides/slide5.xml" Id="R981ad6f7e61946f9" /><Relationship Type="http://schemas.openxmlformats.org/officeDocument/2006/relationships/slide" Target="/ppt/slides/slide6.xml" Id="R6e6f5f1517f644c8" /><Relationship Type="http://schemas.openxmlformats.org/officeDocument/2006/relationships/slide" Target="/ppt/slides/slide7.xml" Id="Raf96395913244de4" /><Relationship Type="http://schemas.openxmlformats.org/officeDocument/2006/relationships/slide" Target="/ppt/slides/slide8.xml" Id="R5ad14318a4c348b6" /><Relationship Type="http://schemas.openxmlformats.org/officeDocument/2006/relationships/slide" Target="/ppt/slides/slide9.xml" Id="Re07ea7acd1bc4449" /><Relationship Type="http://schemas.openxmlformats.org/officeDocument/2006/relationships/slide" Target="/ppt/slides/slide10.xml" Id="R3310ad7db42f4577" /><Relationship Type="http://schemas.openxmlformats.org/officeDocument/2006/relationships/slide" Target="/ppt/slides/slide11.xml" Id="Rd6929ecbdd394c1f" /><Relationship Type="http://schemas.openxmlformats.org/officeDocument/2006/relationships/slide" Target="/ppt/slides/slide12.xml" Id="Rff73e53476554876" /><Relationship Type="http://schemas.openxmlformats.org/officeDocument/2006/relationships/slide" Target="/ppt/slides/slide13.xml" Id="Rc94943869f5a4cd5" /><Relationship Type="http://schemas.openxmlformats.org/officeDocument/2006/relationships/slide" Target="/ppt/slides/slide14.xml" Id="R4f526ab7b67b42b7" /><Relationship Type="http://schemas.openxmlformats.org/officeDocument/2006/relationships/slide" Target="/ppt/slides/slide15.xml" Id="R0f71482d8e5b4f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6a1b4f5a5c47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be69d1fee2481f" /><Relationship Type="http://schemas.openxmlformats.org/officeDocument/2006/relationships/notesMaster" Target="/ppt/notesMasters/notesMaster1.xml" Id="R29266f4d51dd49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db9460e0144a99" /><Relationship Type="http://schemas.openxmlformats.org/officeDocument/2006/relationships/notesMaster" Target="/ppt/notesMasters/notesMaster1.xml" Id="R5f7cc1d4651140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66d0edaddd408d" /><Relationship Type="http://schemas.openxmlformats.org/officeDocument/2006/relationships/notesMaster" Target="/ppt/notesMasters/notesMaster1.xml" Id="R0df2a7a0e3ab4d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f5e4aef96345a1" /><Relationship Type="http://schemas.openxmlformats.org/officeDocument/2006/relationships/notesMaster" Target="/ppt/notesMasters/notesMaster1.xml" Id="R04d521a5141b44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5a5be1f7194204" /><Relationship Type="http://schemas.openxmlformats.org/officeDocument/2006/relationships/notesMaster" Target="/ppt/notesMasters/notesMaster1.xml" Id="R88113c5fc0ce42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0c54db5c824951" /><Relationship Type="http://schemas.openxmlformats.org/officeDocument/2006/relationships/notesMaster" Target="/ppt/notesMasters/notesMaster1.xml" Id="R14583601f0af43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aac8d0acd844fc" /><Relationship Type="http://schemas.openxmlformats.org/officeDocument/2006/relationships/notesMaster" Target="/ppt/notesMasters/notesMaster1.xml" Id="Rc0afb05ccf3748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3422c167e140e8" /><Relationship Type="http://schemas.openxmlformats.org/officeDocument/2006/relationships/notesMaster" Target="/ppt/notesMasters/notesMaster1.xml" Id="Rea95203e4ba548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cd61a013514c7c" /><Relationship Type="http://schemas.openxmlformats.org/officeDocument/2006/relationships/notesMaster" Target="/ppt/notesMasters/notesMaster1.xml" Id="Rf46ad89a471d47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800e66018444b6" /><Relationship Type="http://schemas.openxmlformats.org/officeDocument/2006/relationships/notesMaster" Target="/ppt/notesMasters/notesMaster1.xml" Id="Ree5a484cb37b4f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b031a2f5784f2f" /><Relationship Type="http://schemas.openxmlformats.org/officeDocument/2006/relationships/notesMaster" Target="/ppt/notesMasters/notesMaster1.xml" Id="Rc8d0e9906fff44f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a06fdf0815946e1" /><Relationship Type="http://schemas.openxmlformats.org/officeDocument/2006/relationships/notesMaster" Target="/ppt/notesMasters/notesMaster1.xml" Id="R70ff08c7f1ab470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499b8f0972840bf" /><Relationship Type="http://schemas.openxmlformats.org/officeDocument/2006/relationships/notesMaster" Target="/ppt/notesMasters/notesMaster1.xml" Id="R94248569754142c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b781c2f4848410f" /><Relationship Type="http://schemas.openxmlformats.org/officeDocument/2006/relationships/notesMaster" Target="/ppt/notesMasters/notesMaster1.xml" Id="Rdb21a8be40d4420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70e56b6d0874d6e" /><Relationship Type="http://schemas.openxmlformats.org/officeDocument/2006/relationships/notesMaster" Target="/ppt/notesMasters/notesMaster1.xml" Id="R4b2bfccd88c243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9de5c8482c41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c48468646a47be" /><Relationship Type="http://schemas.openxmlformats.org/officeDocument/2006/relationships/slideLayout" Target="/ppt/slideLayouts/slideLayout1.xml" Id="R9d8d6925cc8c4d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8d6925cc8c4d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7b3231d554a64" /><Relationship Type="http://schemas.openxmlformats.org/officeDocument/2006/relationships/image" Target="/ppt/media/image.jpeg" Id="R859bf535ef334d76" /><Relationship Type="http://schemas.openxmlformats.org/officeDocument/2006/relationships/notesSlide" Target="/ppt/notesSlides/notesSlide1.xml" Id="Rfab1089852164f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44c7f537c40e7" /><Relationship Type="http://schemas.openxmlformats.org/officeDocument/2006/relationships/notesSlide" Target="/ppt/notesSlides/notesSlide2.xml" Id="R9529e9d0440340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93b86bab894934" /><Relationship Type="http://schemas.openxmlformats.org/officeDocument/2006/relationships/notesSlide" Target="/ppt/notesSlides/notesSlide3.xml" Id="Redb5dc69f5a241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2a122fbd546c5" /><Relationship Type="http://schemas.openxmlformats.org/officeDocument/2006/relationships/notesSlide" Target="/ppt/notesSlides/notesSlide4.xml" Id="R332fb709dab34b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bddde712df4638" /><Relationship Type="http://schemas.openxmlformats.org/officeDocument/2006/relationships/notesSlide" Target="/ppt/notesSlides/notesSlide5.xml" Id="R932949ed4b4848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f7147e72e4dfd" /><Relationship Type="http://schemas.openxmlformats.org/officeDocument/2006/relationships/notesSlide" Target="/ppt/notesSlides/notesSlide6.xml" Id="R78e9d5c6a4464f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3bead00d6d4ce0" /><Relationship Type="http://schemas.openxmlformats.org/officeDocument/2006/relationships/notesSlide" Target="/ppt/notesSlides/notesSlide7.xml" Id="Rb472867ce20349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b8c3b4f3fb4454" /><Relationship Type="http://schemas.openxmlformats.org/officeDocument/2006/relationships/image" Target="/ppt/media/image.png" Id="Rd010e66974004eb7" /><Relationship Type="http://schemas.openxmlformats.org/officeDocument/2006/relationships/notesSlide" Target="/ppt/notesSlides/notesSlide8.xml" Id="R3fc0038e31544ee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f92cbca3840c5" /><Relationship Type="http://schemas.openxmlformats.org/officeDocument/2006/relationships/image" Target="/ppt/media/image2.png" Id="R4386b69bb6c349ab" /><Relationship Type="http://schemas.openxmlformats.org/officeDocument/2006/relationships/notesSlide" Target="/ppt/notesSlides/notesSlide9.xml" Id="R989c1cc9fb094f1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a7ff2e76bf4fbb" /><Relationship Type="http://schemas.openxmlformats.org/officeDocument/2006/relationships/image" Target="/ppt/media/image3.png" Id="R6c859b094e7e4fda" /><Relationship Type="http://schemas.openxmlformats.org/officeDocument/2006/relationships/notesSlide" Target="/ppt/notesSlides/notesSlide10.xml" Id="Rd401797ce29341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9c4d299e64fca" /><Relationship Type="http://schemas.openxmlformats.org/officeDocument/2006/relationships/image" Target="/ppt/media/image4.png" Id="R92bc5d12b93d4122" /><Relationship Type="http://schemas.openxmlformats.org/officeDocument/2006/relationships/notesSlide" Target="/ppt/notesSlides/notesSlide11.xml" Id="R30ce22caea9140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43581a902442c" /><Relationship Type="http://schemas.openxmlformats.org/officeDocument/2006/relationships/image" Target="/ppt/media/image5.png" Id="R4c763a517f254ffe" /><Relationship Type="http://schemas.openxmlformats.org/officeDocument/2006/relationships/notesSlide" Target="/ppt/notesSlides/notesSlide12.xml" Id="R859058658acc4ad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cbb3a8cca492b" /><Relationship Type="http://schemas.openxmlformats.org/officeDocument/2006/relationships/image" Target="/ppt/media/image6.png" Id="R0b8777800a574679" /><Relationship Type="http://schemas.openxmlformats.org/officeDocument/2006/relationships/image" Target="/ppt/media/image7.png" Id="R0ee4baafdd3745f4" /><Relationship Type="http://schemas.openxmlformats.org/officeDocument/2006/relationships/notesSlide" Target="/ppt/notesSlides/notesSlide13.xml" Id="R1d9b0e8739904d2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c0a6c48474798" /><Relationship Type="http://schemas.openxmlformats.org/officeDocument/2006/relationships/notesSlide" Target="/ppt/notesSlides/notesSlide14.xml" Id="Ra9f198daac5c47a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61e6e4cf84c1d" /><Relationship Type="http://schemas.openxmlformats.org/officeDocument/2006/relationships/notesSlide" Target="/ppt/notesSlides/notesSlide15.xml" Id="Ra066b30f0457482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EBB94B-9CAB-46D9-A23A-DE29BC5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1BC49-ECBB-44F2-AF7F-77420864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3F76DE-4134-4F63-8C83-5C1CABD4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9F0926-AFC2-44C4-9446-D5B509BD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E71196-E994-4EEF-8130-6FC7F996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5767A7-220C-4B6F-AF98-9575B94C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798D3-FBC1-45E5-BFF6-C3A1DFE7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408A96-A52A-44AE-8BAF-D8411B59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C48901-52F8-435D-932A-A9CBF875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09580-8BEE-4FD1-AFAF-0EB83E19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2EA9CB-BC50-4714-AA3A-71C341E9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085552-9107-4DF5-8830-C33DCBF5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0CBED-DEE3-4A2A-ACDE-A6A7B1F6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319E7D-2850-4B58-81CA-DBF2D8EE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E67093-CDF1-4401-9706-90CA4919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8D8AD5-2066-446D-88E6-9A113A82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483781-4EEC-4E7F-9030-49C4D311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F37111-2424-4E80-BA4A-B9C8246C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9bf535ef334d76"/>
          <a:stretch xmlns:a="http://schemas.openxmlformats.org/drawingml/2006/main"/>
        </p:blipFill>
        <p:spPr>
          <a:xfrm xmlns:a="http://schemas.openxmlformats.org/drawingml/2006/main">
            <a:off x="5667375" y="1321594"/>
            <a:ext cx="6524625" cy="3262313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45E6BA-0D01-4638-B385-5C74220F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8D02C90-3DC4-48DD-84D1-C751AB84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60312A-2E58-48B0-908F-01F297BC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30DBC04-06C8-41CF-AC9A-0E3A63C5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01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SYSTEM OVERVIEW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6485E6-5A81-4FC1-AFDD-6469A5E8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57375"/>
            <a:ext cx="4953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46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ARGUS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2103F7-EEDC-4D45-B2D5-F7E0E8B3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4953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Local multimodal ad intelligence pipeline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85D91E-042E-4E9E-A92E-BEB5D57D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434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Video ads become structured evidence, searchable records, campaigns, and read-only answers.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E0B2D2-076B-4838-AB39-B7D6AA39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19600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D5BDD8-460B-40B2-B165-DFB396C4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457700"/>
            <a:ext cx="74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local-first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9A68DF-4517-4A78-8296-7553C68D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9600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51FD4D-8CCA-4B88-ADE1-7ECCB14F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57700"/>
            <a:ext cx="74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OCR + VLM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CD8B25-A1AC-4F5C-9694-5647AF47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419600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F0ACD5-8AB0-4734-8AF0-49DEFAF8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457700"/>
            <a:ext cx="74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FTS + 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9061B5-280A-4A57-9DEE-93B76354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419600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42E92A-F2E6-43A8-A3A7-481CDCA5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457700"/>
            <a:ext cx="74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rPr>
              <a:t>read-only agent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199764-F96A-4141-9D16-921C013E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1015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B7EBD1-6B85-404A-B399-9E43EDBF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Demo arc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113D12-6F8E-4089-B7D9-77EC17CF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Upload -&gt; inspect -&gt; search -&gt; ask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FC9708-BEFE-4584-830B-AD55004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015770-E0ED-461F-B660-4DA690F9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B2F3B5-2A94-4ED5-9D3E-C0E9F6C0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567810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FB2130-DF71-4F25-82E0-33B06830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9FBCEC-C938-46B6-8A0E-1FFDBFFB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46EF2-4644-4446-ABE5-B18FA0FA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708E0-50DD-449E-AB32-EA9A6F8A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2A3FD-0699-43EC-B180-F564C629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830FC6-B2E2-48EF-A55A-05C3042E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7026D8-6058-419D-8EC4-2584EB23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5FEC59-FB12-46EB-B338-D5386B3B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8D213F-FD75-4461-8CDB-8E2C74BA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06961-333D-47B4-8436-AD3551C1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76ACCD-5B4C-4118-95E3-EFCE92A0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9CBCD1-92EE-4CD4-9916-41132154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D6A85-B9A8-44C4-A2D4-59633AAB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BE5753-3880-4705-93D6-CA6DA86D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144720-4915-49C1-B8F9-612955CB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3B15C2-99CB-4B65-BCEB-329794EB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48AB66-4490-4CD8-80ED-C5A5D554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FF87CC-BD69-4963-884A-FE99E1E8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5325E00-34AE-4114-8BFE-26939F45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602844-C700-4497-A05B-7753077F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18FF65D-EBAB-4497-AEBA-2259C6EF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PURPOSE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4647D0-3790-4824-8722-CC2B3FAB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The system turns ads into searchable evidence.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0EF1DB-6418-4885-AFCB-7512FD8D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A repeatable workflow converts raw media into records that can be inspected, queried, grouped, and explained.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90FD04-9C8F-442B-B536-7F31251F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926EC8-A0CB-473F-B8ED-93278435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203C45-D66B-452C-9E05-EF631D05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21431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3E2081-CD36-44BE-B6F5-67EE3503E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7CB0B5-AAD1-430F-9DDE-45F1085E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1724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INPUT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7BDA4E-9C5A-4101-90DB-FB6751F2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24150"/>
            <a:ext cx="1800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Raw ad clip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322DF4-A847-4EDC-B44C-5E7D2585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90850"/>
            <a:ext cx="18002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MP4 / MOV / WebM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frames + audio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898927-2A35-4115-AFC2-9E3D16B6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812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B71FFF-9D18-446A-988E-21801876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6BFF"/>
          </a:solidFill>
          <a:ln xmlns:a="http://schemas.openxmlformats.org/drawingml/2006/main" w="0">
            <a:solidFill>
              <a:srgbClr val="9B6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693A91-10D9-4C66-9F81-B489EF34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95550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PIPELINE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D4899B-7680-4CDF-BC9F-5FC29B1B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724150"/>
            <a:ext cx="2133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Evidence pipeline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E9E619-C648-4CC9-A884-6DC2F396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9085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transcript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visible text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rules + timestamps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VLM verification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FB6891-4F7F-4AA5-BB5F-08C3A35E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BB30D3-1E1B-4218-B632-86EA28CD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1D3C08-0028-4B56-85E7-F5C97CE9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95550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OUTPUT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E1AEA0-23CE-4AE4-8BC3-CF83160F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241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Structured record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3316E1-49F2-42EC-B6CE-EB50A275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90850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category, entities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risk observations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campaigns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BD9043-3DEE-46AD-ACF8-76B16462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33700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CE677E-22A2-4D95-AE59-96A7F457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933700"/>
            <a:ext cx="9239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F7D022-0889-4FFE-906B-9AA4E7D5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05300"/>
            <a:ext cx="1714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F1C76B-F71A-4D57-AA4B-353A1FAF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4817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rPr>
              <a:t>OCR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4FC097-9A75-4A51-BD02-F6E36647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297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visible text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2E830CC-8A48-4B14-8DF8-DDCCAE84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Feeds persisted ad intelligence.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283A33-09C1-4278-957E-D9F2F092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05300"/>
            <a:ext cx="1714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9254BC3-80FB-4DA5-9451-CD81EE3AA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4817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rPr>
              <a:t>VLM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1BFDB0-3587-4A14-A966-573905F9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5297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semantic check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106BB95-BC4D-40F1-9E06-E4FD8D4E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720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Feeds persisted ad intelligence.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078976-FCD8-40BD-B0F2-99F4F9FD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05300"/>
            <a:ext cx="1714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AB609A9-2499-4A4C-8238-0E013CA7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4817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rPr>
              <a:t>FTS5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77E235D-931B-48D0-98EA-CF3D09F5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5297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keyword search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08B5D24-96D8-4223-9BD5-6870F854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9720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Feeds persisted ad intelligence.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699DC6-1A63-433C-933E-35DDA966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05300"/>
            <a:ext cx="1714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8E71088-AC27-4873-A554-E785376E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4817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rPr>
              <a:t>Agent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6423F18-8804-4AC1-B20C-F38D4207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75297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read-only tools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4FE4F92-DB06-4364-8516-928BC378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720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Feeds persisted ad intelligence.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D162A6C-8840-452E-BBA8-F3182B42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10050"/>
            <a:ext cx="1619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4AB3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EC16633-3415-48F8-82F8-5BE88ABF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371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B3FF"/>
          </a:solidFill>
          <a:ln xmlns:a="http://schemas.openxmlformats.org/drawingml/2006/main" w="0">
            <a:solidFill>
              <a:srgbClr val="4AB3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4452551-51FE-432F-A971-D8D8CDE2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324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4AB3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4AB3FF"/>
                </a:solidFill>
                <a:latin typeface="Aptos Mono"/>
                <a:ea typeface="Aptos Mono"/>
                <a:cs typeface="Aptos Mono"/>
              </a:rPr>
              <a:t>RESULT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F36AA96-3ED2-4600-8466-5C01D7E5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552950"/>
            <a:ext cx="1276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Analyst use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28EEB21-D17F-43A8-9D2C-A0A1C39F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81965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inspect records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compare ads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ask questions</a:t>
            </a:r>
          </a:p>
        </p:txBody>
      </p:sp>
    </p:spTree>
    <p:extLst>
      <p:ext uri="{BB962C8B-B14F-4D97-AF65-F5344CB8AC3E}">
        <p14:creationId xmlns:p14="http://schemas.microsoft.com/office/powerpoint/2010/main" val="12746821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DE7732-FBC0-443A-8E63-2C782540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C2DB54-2842-474A-AE01-6A41EA17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99DF39-9F21-43B0-A840-D1AAD44A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CC838-8F43-4870-B68F-24CEA8B9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DB887-B23B-48D9-8CFF-BA7FB649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F5B90-AC75-4F45-BE84-C9B1EF39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2BB88-CF26-4B09-B5DA-1BB8B861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E0AF2C-121D-4C6C-8760-6DD492D3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AC4994-171D-4DAB-84E2-EE947D1D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AA3133-CBEF-4867-8964-163A3109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1AE00-EC56-4483-9C37-996D6446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00E738-D15E-4EAE-95B7-098B0356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754193-29BC-4A35-8507-A4B600B1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BA64C2-8D5D-4177-A684-DDC46B30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B8D429-AFDF-4DD4-B6EC-08F5DE8C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C36A15-180F-4490-82F6-188AF47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5119D-8BFD-4A82-870E-42CDC791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8449E5-F472-40E4-851E-E73011A8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52199DD-6363-44A5-A33D-CCF9C33F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43EB9B-7E6F-41C7-B878-9017C8FD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46AC02B-6F68-48D0-9A8F-BC2AA04C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ARCHITECTURE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F8DDFF-63FF-4BDC-9407-160A05CE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The frontend, API, worker, models, and database are decoupled.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A40A98-08AB-470B-871B-C64212CE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Each layer has one responsibility and communicates through stable JSON, SSE, and database interfaces.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D754AB-4BB2-49C9-B6DB-8B3B7CB2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E5271-AEBA-4A05-A75D-B4CBA2FE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ED1CC7-1520-4DBC-A1C4-3F94DEC1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6764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93A61B-C6D9-4363-96B6-DA8A17E3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19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6BFF"/>
          </a:solidFill>
          <a:ln xmlns:a="http://schemas.openxmlformats.org/drawingml/2006/main" w="0">
            <a:solidFill>
              <a:srgbClr val="9B6B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A3FF4C-F702-4924-9A52-0707F418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FRONTEND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BD55B4-FAB3-4C05-8DE0-C7A44EF1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React UI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B19F4A-6B6E-46D7-809D-397A4CE2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Upload, Library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Search, Agent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BBB1B-6BFF-4A1B-9927-8D4B8B3B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57450"/>
            <a:ext cx="16764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71F65E-CC2E-4159-B457-06889ECE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19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7D5CF9-951B-4F64-ABFB-C08FAA0E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717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API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E646E9-3581-4DA2-A55D-38F76CE2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003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FastAPI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923C54-8D44-4F6C-97C5-FC626EB4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670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OpenAPI surface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jobs + SSE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87CA2E-682C-41BD-BC93-D5C78834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57450"/>
            <a:ext cx="16764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0D75AAD-2BA4-434C-BFA8-F174785F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619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2E32C12-10AD-4289-9CE0-58EF4AB2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717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WORKER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34C6D2C-8335-4722-B718-1005E581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003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Pipeline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B28FC5-F1AB-4FE4-985C-242D8A80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670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restartable stages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OCR / VLM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452F1B-BC12-4E06-9797-858CE059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457450"/>
            <a:ext cx="16764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9AECEB-A72D-4E97-B21B-65D44282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619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E16CEE7-E62E-4054-B18A-D2869FC6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717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rPr>
              <a:t>MODELS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9292E7-C6B5-4FE9-A6CC-DC49110E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8003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Local models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0B9A3A-4B96-4AC8-931A-22B782CE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0670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Whisper, OCR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Gemma/VLM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A48A73-7888-4F74-8C92-5A43F012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457450"/>
            <a:ext cx="16764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F5C8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7E71A3-99E5-467A-B1A5-21975FB0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619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C00D7FC-2D35-4513-AE65-2581376B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717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F5C8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F5C86"/>
                </a:solidFill>
                <a:latin typeface="Aptos Mono"/>
                <a:ea typeface="Aptos Mono"/>
                <a:cs typeface="Aptos Mono"/>
              </a:rPr>
              <a:t>DB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66709A8-266A-4621-828E-3FA4B186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8003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SQLite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20AA92-E8C3-4B27-A5C5-30F7451A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670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ads, frames, OCR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FTS index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EB47D7-CDB1-41D0-AD30-8F0B8A4E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1337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BD44A7-E1E1-4E41-AFCF-AE50F513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3372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0C7F857-6873-4F43-87C9-6DF54F8E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33725"/>
            <a:ext cx="390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44691CA-4DBA-4420-96A6-AE4A52B1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133725"/>
            <a:ext cx="390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BEAF906-3EE6-4CA0-A366-1340DC67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876800"/>
            <a:ext cx="9105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D28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89ACC4C-E678-4A4E-B0C3-FB2684D2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57775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Design principle: deterministic evidence first, VLM verification second, retrieval over persisted data.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3079318-D2E1-4942-ADE9-CE681AFA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624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9761341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FCF075-4DC5-4DD5-B167-729BA360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77ED98-9BF4-47B2-AF25-99D560DB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AB969-04DD-40FC-8C09-4D8BF0C3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2F364-8494-40FC-8597-E88694AD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115F1B-B5DE-4696-8862-B5E0644C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EE59A9-6F89-4717-9B71-E8ACC5E5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3731E-F630-4B43-A218-1B84D559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03DE79-0B95-4E03-9203-D876415B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D4A39-1654-4377-B1AA-2E17DAAA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46ACC-5B81-4148-B46B-1BF6225A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32FC2-1A98-49CF-B57D-B26C2021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24B0D1-172F-4B91-B824-00570306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7BE861-358D-4C20-B457-F93FBB2E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0CD263-7B76-41D3-BAFE-B143EE0D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984D9D-9778-4287-A730-19E20348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8D251A-7EDC-4224-8717-6048AAE2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16F37-001B-45AA-B5A6-1FB235B1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866B46-081F-4080-9CBD-C0C04D9B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FFB88C6-0527-462C-9B2D-4E51FBAF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3CD031-20D5-4C95-95D2-A9BED971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C5340C3-4BB4-46A2-9513-C0105FC1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PIPELINE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51AF3-50CF-446A-94CA-E1842837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Each job moves through observable processing stages.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784130-5FAF-4CE8-BA18-EE0F9587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Progress events, cached artifacts, and terminal status make the runtime easier to debug and explain.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1D8457-3E5F-4D7F-A5A0-7237413A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16F186-1279-4189-B89E-9D343887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7DE26D-150B-41C8-991B-2CA6E55A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943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62743F-FDEB-4A4B-9460-0808E0D3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E892D7-454D-4716-B802-0ADD2471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241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STEP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43965F-CFDD-48EA-A025-83C573AA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600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Upload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AF414B-7E5E-4516-8364-21B0C322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19400"/>
            <a:ext cx="1600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Create job and store the source file.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A09545-6508-44FB-84EA-6587A248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209800"/>
            <a:ext cx="1943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76EE71-35D5-487C-BFD2-74D0495E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8B971E-1111-4C22-963D-8157240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241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STEP 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5CD9C2-7B77-47EB-BF6D-FE044335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52700"/>
            <a:ext cx="1600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Ingest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79F232-D402-4935-885F-248C3F39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819400"/>
            <a:ext cx="1600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Extract frames, audio, and transcript.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755B59-63B6-4CFE-ABA1-39A5CFEE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09800"/>
            <a:ext cx="1943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E44FF9-A263-4A38-A72C-F881C030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A1E087-CE06-471F-BA18-E22C4339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3241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STEP 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5A0569-6689-4ABF-B3E5-B14243CF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52700"/>
            <a:ext cx="1600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Evidence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0B25CB7-72F1-4235-9F66-A84DB44C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19400"/>
            <a:ext cx="1600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Collect OCR, timestamps, and rule matches.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D26F3F6-DD82-4827-9106-F2E15C26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09800"/>
            <a:ext cx="1943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99A8AE5-6A55-4894-9545-001E4DF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6BFF"/>
          </a:solidFill>
          <a:ln xmlns:a="http://schemas.openxmlformats.org/drawingml/2006/main" w="0">
            <a:solidFill>
              <a:srgbClr val="9B6B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75F26A-C2A9-4C94-9A69-98A41761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3241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STEP 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A9AFC7E-6B60-4200-8E58-99DDC4D5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52700"/>
            <a:ext cx="1600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VLM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5AB6D05-D12E-49A8-863E-066CDB13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819400"/>
            <a:ext cx="1600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Verify evidence and produce structured output.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1A98F6C-7BB8-4EE0-9FD4-05A9549E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1943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F5C8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62A8166-F46B-4298-8ACA-6ABE774B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0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6B631E0-054E-4071-A0EF-9B74D4D9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57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F5C8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F5C86"/>
                </a:solidFill>
                <a:latin typeface="Aptos Mono"/>
                <a:ea typeface="Aptos Mono"/>
                <a:cs typeface="Aptos Mono"/>
              </a:rPr>
              <a:t>STEP 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E585A4-1F99-45A6-8EBE-C911E876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86250"/>
            <a:ext cx="1600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Persist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797CB74-C13A-487C-9198-5E334CF6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600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Write records, evidence, entities, and indexes.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F47C96-9316-4189-A1B9-78A2D868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43350"/>
            <a:ext cx="1943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E3B07CD-05D6-4B3C-B0E4-1FB48A1A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0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7EEC10E-8772-4289-A01F-BFD67F92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57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STEP 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8F7E27E-B177-4D77-8A4B-D401EEB6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286250"/>
            <a:ext cx="1600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Library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1795034-15F9-46DB-8118-43ED4A10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52950"/>
            <a:ext cx="1600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Open the completed ad record.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890B4A8-18C2-492D-A1DE-E1417C73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43350"/>
            <a:ext cx="1943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B1B8D9A-3EE1-4642-8100-0CB98E69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0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116E6E8-E437-4C18-A52F-FAFC801D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57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STEP 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01D090A-128F-4F9E-9648-3D81DEFA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86250"/>
            <a:ext cx="1600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Search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6979244-AF03-4F1C-9396-F21DA198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552950"/>
            <a:ext cx="1600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Find ads by keyword, filters, or similarity.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245F845-277C-4E0C-8F19-4D52D896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43350"/>
            <a:ext cx="1943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3B9B672-2B08-4C2B-9281-3C0AB065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0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9A1526B-5EF4-4145-8A65-46DF075D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57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rPr>
              <a:t>STEP 8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68E29CF-0433-4574-B002-40403C3D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86250"/>
            <a:ext cx="1600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Agent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200522F-5DEB-4605-A5E6-20BD9A99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52950"/>
            <a:ext cx="1600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Answer read-only questions through tools.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A5AEB7A-6FA1-460B-B6FE-3D585722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7432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2398832-EA9C-46FB-A23C-08485412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432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63BCAEC-C385-4061-86D8-5F57D03E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432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AC8B09E-7269-443D-863C-C760FC53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4767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2968412-4EDC-4B48-A759-0A1F3AA0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767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ACAEFCB-9122-4075-8979-B7E6E9A2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4767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8825D38-0696-4507-814B-D9B6EB1C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76600"/>
            <a:ext cx="1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26422B0-94AF-4D4D-93FC-2354D79B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24500"/>
            <a:ext cx="833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D28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686A52C-6D99-4A8B-B3F0-59EB5C35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648325"/>
            <a:ext cx="781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Operational behavior: warnings and fatal errors are visible, and completed artifacts can be reused on rerun.</a:t>
            </a:r>
          </a:p>
        </p:txBody>
      </p:sp>
    </p:spTree>
    <p:extLst>
      <p:ext uri="{BB962C8B-B14F-4D97-AF65-F5344CB8AC3E}">
        <p14:creationId xmlns:p14="http://schemas.microsoft.com/office/powerpoint/2010/main" val="45540501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E0225B-6772-4ED1-9287-E62D66B1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2371AD-6212-4E94-ADC9-0B450900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4874DD-417D-4B08-91DE-C87F1BED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667A6-B762-4AA6-A244-A76684CA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6F399-2C2A-4413-943F-8B5CEF80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9A9318-23C4-4D32-A8B9-B01E9112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C89038-5B96-4B46-86A1-82F67B5E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81F009-3180-4FAC-97CB-E1B7C685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25CD7-0D33-4B7F-A0D8-40F6A65B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AA304-0C61-408D-92F5-17093824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8161B-3F2D-4839-BD17-CDF82C20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F0780-5B0D-45A4-BE72-EB5B8C13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A2F0A-9654-4AF1-A933-3DC8D32D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B0C349-970B-4D01-8E59-2E61F969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1B9331-F563-4F8F-BE2E-B81BA189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3ED5FD-AA80-4664-88B4-32ABACA6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DBFDC-0FA5-4166-AA0B-1B7D8F92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7F95CD-B7EA-4408-8DB2-AF191DA3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53E6CA7-70C5-4327-A53B-0DE798A6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3F1196-164C-4415-92A0-21859809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017BA3B-8092-4D9B-A248-F1F68260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AD 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BE9C36-77C5-47C7-A5E6-80DDFF1A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A processed ad is stored as a structured, inspectable object.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41C833-08A2-41A9-AAB9-DFE49552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The video stays attached to timestamped evidence, extracted entities, classification output, and retrieval indexes.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F7E306-7E80-46EB-9882-EB0E67C1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24386A-399B-4B19-8A87-C897D2A8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A15AA9-3DB6-41AA-AE22-7A3FABD1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2190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FCB260-97D6-48E8-90AE-48A2129D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05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76AFB2-0E84-4D68-9E20-4CFF99CD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57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SOURCE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6DA2E4-7D90-407D-A5FF-89A8A9B9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86050"/>
            <a:ext cx="1847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Video asset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4184B6-88A3-4DB8-A76E-248B027C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original file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sampled frames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audio transcript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19405D-F5BF-461D-B9CE-88600A6C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2190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3401EE-DD9A-400D-8BFF-F3C67697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24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89207C-8701-4A94-B5A1-3905E379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7670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1C9D78-5180-432C-8EF7-1FD97BD3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1847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Timestamped facts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4589DB-7E3B-403A-9260-B30A7EED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OCR boxes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transcript segments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rule triggers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54B2E9-23FE-4518-8C27-81A49761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095500"/>
            <a:ext cx="3762375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D22D18-4904-4D34-A566-7316F3C9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241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Persisted ad record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4E50B2-D4B4-43B8-991A-9CBFDDE2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38450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D28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3C5ACB-DE22-467A-82B9-BD8CBCC8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86075"/>
            <a:ext cx="1352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ad_id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2126E58-EE56-449B-ACE5-93FD39E4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86075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stable identifier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218D16-6C42-458B-987A-84D38991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71825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5933C9-D423-479D-A572-BCBB89FE1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219450"/>
            <a:ext cx="1352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primary_category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187302-194D-426C-9C9A-62639228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19450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taxonomy label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6E18D8-D2B6-4EBB-BC80-1FE76B46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05200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D28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76FA249-D32F-4288-BA79-ACB268F2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52825"/>
            <a:ext cx="1352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confidence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428793E-8A6B-49E2-AF7C-CA814382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552825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model confidence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6FC74E0-D7F1-4D3F-99D0-3100A7D0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38575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E0D47BB-630F-43C3-AEE7-08B8F7D1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886200"/>
            <a:ext cx="1352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evidence[]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9389314-7B18-4D10-83C6-22C35A53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86200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time + source + text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127732C-5244-4B91-950D-2AA97384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71950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D28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E6B161-492C-416C-90B2-12C2956A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19575"/>
            <a:ext cx="1352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marketing_entities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0917265-319F-4233-8C3B-3AFE1F01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19575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brand, products, offers, CTAs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B47A016-1D8E-4A64-AFD8-CD480959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05325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3103549-4DBA-4E00-A5F8-A2595CCC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552950"/>
            <a:ext cx="1352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ocr_quality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D956EF0-65D3-4A71-96FA-2B08D944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52950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missed text and possible errors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2D06D0A-22E1-422C-93BD-8E71FAD5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38700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D28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945E036-7B98-4C09-9267-25206E94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886325"/>
            <a:ext cx="1352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related_ads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FC185CE-2775-4F66-A7C0-986A418D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886325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duplicates and campaign variants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2292E03-2273-4F0C-B537-9A1F9EFA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72075"/>
            <a:ext cx="323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02C05A0-5534-4CBA-8411-453E12EC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219700"/>
            <a:ext cx="1352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model_outputs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8B32C3C-B03A-4678-9EFB-E8F6F3A7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19700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raw OCR / VLM debug payloads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07D729A-3C4A-4AA3-8010-B9D9DD2E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09800"/>
            <a:ext cx="228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F7BA689-84F5-472D-AE3B-2327C147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52675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rPr>
              <a:t>Inspect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95AECF9-1FA0-4E86-AE3F-1550022A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38425"/>
            <a:ext cx="1981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Open the ad detail, review evidence, and compare model output.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E348E13-0E47-4133-AA86-67487255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562350"/>
            <a:ext cx="228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C6A5221-8EE4-4401-97BA-BE676A75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05225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rPr>
              <a:t>Retrieve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492D29D-9F62-4314-83C3-5C8A20E7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90975"/>
            <a:ext cx="1981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Search by keywords, filters, category, brand, or similar ads.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8011FD0-FB54-416C-8FB9-C072C088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914900"/>
            <a:ext cx="228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022020A-F987-4D7C-89DE-E2125F2E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057775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rPr>
              <a:t>Ask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031D113-677F-4ED4-BBE2-395D348D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343525"/>
            <a:ext cx="1981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Use the read-only agent to answer database questions with cited ads.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01C3F0B-35C8-4EBE-8A54-1DA84EBA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933700"/>
            <a:ext cx="914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0F80ED4-04CD-4A86-9C6D-E93AB8FA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552950"/>
            <a:ext cx="914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9AC73BA-BF1D-46CD-92EA-ECBF0D65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943350"/>
            <a:ext cx="1000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68720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1185FA-BFFB-449D-93E5-B31A2B34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DB5845-0669-4D50-BD7E-2450ADF8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514757-1B33-4D21-B664-A43C8AD2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85866-9413-4CB8-8D2A-45B9917F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CBBDDC-7AC0-4A49-AB29-E93A7C01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76317-26AE-4D43-97DE-96D8AD2D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C57DF1-B1AE-49D1-940E-6B10A10A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A20C8-089D-45B8-A23A-3CF10971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9DFD0-6AA4-4845-BB60-994023A6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28E2F-7286-40D2-B9C2-44F41AD0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0E8148-1169-4AB4-8B6E-C69BA02D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1989D0-FC06-44DA-B042-F4273E84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5B97F1-FE03-44F9-B103-5E5A0BDA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C38BA9-A76B-4803-B648-5DC834E4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E48631-0DD9-44CC-94C7-2F2538F8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01BD0F-D801-4B15-8174-C9152AE1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23C1EA-A0B6-4E7F-8F29-96AB1B29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ECC16E-36A1-45CB-833C-98A28C53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DF574A9-FF0A-4891-9600-EE24F9E8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ADE34E-7B7C-4D4F-9F3D-2C1A7AE8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6BFF"/>
          </a:solidFill>
          <a:ln xmlns:a="http://schemas.openxmlformats.org/drawingml/2006/main" w="0">
            <a:solidFill>
              <a:srgbClr val="9B6BFF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72717F8-AF07-438B-BC42-127CEB29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AD INTELLIGENCE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A5B62C-7F26-4C05-BC11-50E6EE61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The output describes the ad; it does not gate or block it.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D54E6C-14F6-44AC-8B66-A904830E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Categories, taxonomy labels, observation tags, and marketing entities are stored for analysis and retrieval.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775D63-E60B-4941-BD4C-B8797239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C8894F-247F-4B8B-BAA8-CBFD4E03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AF73FD-A57D-4158-A36E-E396B719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30289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B95133-7595-4125-8993-BC803E37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14575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rPr>
              <a:t>Category + taxonomy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A35798-D423-44E2-BA93-EA9548FB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0325"/>
            <a:ext cx="2724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Primary category, sensitive-category marker, IAB product taxonomy, and secondary labels.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50E801-D063-46EB-9A75-4103A240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171700"/>
            <a:ext cx="30289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E560E5-33D6-4C55-BCFA-D9FD6709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14575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rPr>
              <a:t>Observation tags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563A4A-B629-4373-81C3-484F29D4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600325"/>
            <a:ext cx="2724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Descriptive tags such as urgency, before/after claims, or social proof tactics.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4F2F17-0EE2-43BF-B35A-C1D6608B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0289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059C90-8DF1-4032-93CF-B9CEAC2D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rPr>
              <a:t>Marketing entities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32B3D8-DE0E-483E-B88B-D07DFA98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00325"/>
            <a:ext cx="2724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Brand, advertiser, products, prices, offers, CTAs, disclaimers, badges, and format.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2ADC2E-CD78-47B4-B229-EC9DA5B3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30289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14A18E8-EDC8-45ED-A2C7-C092E5C0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33825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rPr>
              <a:t>Evidence trail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EA8A1D-B83C-436A-9F19-99CC62FD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9575"/>
            <a:ext cx="2724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Every claim points back to a frame timestamp, OCR region, transcript segment, rule, or VLM note.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EA40333-DAAE-4A21-926A-42E672EC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790950"/>
            <a:ext cx="30289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F5C8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6757192-C26E-457E-90E6-D23E8620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33825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5C8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5C86"/>
                </a:solidFill>
                <a:latin typeface="Aptos Display"/>
                <a:ea typeface="Aptos Display"/>
                <a:cs typeface="Aptos Display"/>
              </a:rPr>
              <a:t>Quality notes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76EA0F-03D9-4347-B3E2-FC923949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19575"/>
            <a:ext cx="2724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OCR quality, possible text misses, conflicts, and model uncertainty are retained for inspection.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AA6AD56-B862-414B-B38C-F5E2DEA8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90950"/>
            <a:ext cx="30289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4AB3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F13A1C-C0FE-4608-AD1C-39724AEC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33825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AB3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4AB3FF"/>
                </a:solidFill>
                <a:latin typeface="Aptos Display"/>
                <a:ea typeface="Aptos Display"/>
                <a:cs typeface="Aptos Display"/>
              </a:rPr>
              <a:t>Related ads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8A51C0-F94E-4F7F-A707-09DF53C8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19575"/>
            <a:ext cx="2724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Exact duplicates, near duplicates, and campaign variants can be linked back to the record.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333CB5-A5E0-4E3E-9377-ADF7F7D8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0070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D28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833D389-F905-4AE1-90AA-BCAD7A73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734050"/>
            <a:ext cx="800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The practical result: ads can be inspected, filtered, compared, and explained without relying on a single opaque model response.</a:t>
            </a:r>
          </a:p>
        </p:txBody>
      </p:sp>
    </p:spTree>
    <p:extLst>
      <p:ext uri="{BB962C8B-B14F-4D97-AF65-F5344CB8AC3E}">
        <p14:creationId xmlns:p14="http://schemas.microsoft.com/office/powerpoint/2010/main" val="7017039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48EFAE-E6AF-4814-A885-FFCAC231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5BEA5C-48F5-457E-97CB-F03386F2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158BCF-E78D-4F77-8998-5CAB2A28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D9797-7208-4D9B-954A-91670BC7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49FB6D-A102-4BDB-8BCB-297282DE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6A731-5EB1-4BA4-8BF3-B93B9994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6AA11B-E773-4937-A880-B5EBBD4D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FDE1C3-B3F8-47EC-9044-531D213C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5325EA-80F2-4DA0-B024-6CFA00C1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D970EE-62D1-4103-9306-A6A4DDD5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0E0015-167B-42FC-ABF2-CCA80C4F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D444EE-E816-4A5F-82CD-AEDB036B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E71BCB-3EAC-4A2A-B1F9-A25BC9D4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B4AC99-4697-4874-8E09-8C01FFC5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9DFDA2-F039-4F9D-8300-7E4643ED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EC6266-8B76-4673-B7BC-41C775CF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3519B8-910B-44AB-B69B-86393230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6BBC40-981E-4563-99E8-B808B39B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5091DE7-FE22-4B0E-A781-19D060E3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330BAE-7592-49BA-9A3E-5B74CB7B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821A7D9-E263-4D77-B95C-9E81C0F4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EVIDENCE FIRST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58B510-5C8C-4F4E-BFF3-2AD5F4CC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The VLM verifies an evidence bundle, not a blank prompt.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0931A8-8D70-4F7B-B7C4-77058E2E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Frames, visible text, transcript, rules, and timestamps are preserved before the model call.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5E4646-FC9F-4AAA-A795-04DF6ED9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0B2C79-CCE6-4187-BD35-9A7D5213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3A4983-9CCB-4225-AAA8-C1A7B849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3812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E18D0B-A9BB-4741-A3D9-B582D0B7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EB8857-A7C6-49DB-A9F8-AE8A7032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95550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VISUAL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0C3DF2-BD15-4F8B-9481-FD6FADC8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241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Frames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5F8065-8453-462B-B3EB-246B96E7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908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selected keyframes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blur and dedup filtered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59AB1E-0EC3-4356-96DE-D59CA63F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3812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4D61A7-7253-430E-9DDC-8DF9204B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67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A84100-5954-4AE9-A16D-C644C8F2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19550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TEXT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4DDA5A-FE1F-4B02-BD42-FCA335AF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481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Text signals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559E4A-F390-43E6-AFF3-48DC065D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148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OCR + transcript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raw sources preserved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0E37FD-5423-40D8-AEE1-0BDBFF5E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12420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F9F42E-9AA9-4C95-9BD6-327D91E4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861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6BFF"/>
          </a:solidFill>
          <a:ln xmlns:a="http://schemas.openxmlformats.org/drawingml/2006/main" w="0">
            <a:solidFill>
              <a:srgbClr val="9B6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9B3504-18A2-442C-9BB9-F56E2891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238500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BUNDLE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6842CA-F26E-4E3E-9DFF-9E0E13FE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467100"/>
            <a:ext cx="2133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Evidence bundle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FA8D64-9AD4-422E-93C4-FCEA24A8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733800"/>
            <a:ext cx="2133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chronological context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rules + metadata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selected images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92074B-C0DF-4DD7-A06E-4F66E661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2266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50A48F-8875-448E-8456-638F8F58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8ECA16-A744-438E-B7A7-6E3D4A6F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95550"/>
            <a:ext cx="1847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rPr>
              <a:t>MODEL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CD701B-7C6C-4357-9DAC-F8A8646D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2415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VLM verifier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82061E-FE1B-4143-A880-7085DFED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9085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category, entities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conflicts,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44F9DBF-83BB-418C-9B37-C0D54191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2266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F5C8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CDFB8-EB92-45B1-A1B5-AE78369F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67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CF43007-7F8A-4BC5-B729-270E84D2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19550"/>
            <a:ext cx="1847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F5C8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F5C86"/>
                </a:solidFill>
                <a:latin typeface="Aptos Mono"/>
                <a:ea typeface="Aptos Mono"/>
                <a:cs typeface="Aptos Mono"/>
              </a:rPr>
              <a:t>CHECK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B3DE34E-4AC1-4987-A227-ED957F1A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4815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Validation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F914F36-8960-458A-9DE0-D4FAB448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1485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allowed labels</a:t>
            </a:r>
          </a:p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observed fields only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2FC4761-60BF-474E-9975-DB6933E4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143250"/>
            <a:ext cx="12954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4AB3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AA9C4F0-9B38-468D-8EAA-105005D0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3305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B3FF"/>
          </a:solidFill>
          <a:ln xmlns:a="http://schemas.openxmlformats.org/drawingml/2006/main" w="0">
            <a:solidFill>
              <a:srgbClr val="4AB3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EC4E050-EAB2-462C-80C7-773FD9CD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257550"/>
            <a:ext cx="876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4AB3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4AB3FF"/>
                </a:solidFill>
                <a:latin typeface="Aptos Mono"/>
                <a:ea typeface="Aptos Mono"/>
                <a:cs typeface="Aptos Mono"/>
              </a:rPr>
              <a:t>JSON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8E69520-FA17-454D-A3FB-521D4294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486150"/>
            <a:ext cx="95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Final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D9152FA-C140-4184-9E93-E2BAFAF5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752850"/>
            <a:ext cx="95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category</a:t>
            </a:r>
          </a:p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risk tags</a:t>
            </a:r>
          </a:p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entities</a:t>
            </a:r>
          </a:p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C57883D-C273-4205-BECD-E9A68BF2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86075"/>
            <a:ext cx="6334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8B21D43-229A-4C59-B2BE-2D1A8F62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0963" y="2886075"/>
            <a:ext cx="190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3F39020-25A6-4D7F-9D3C-9DC39EDE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0963" y="3695700"/>
            <a:ext cx="6334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D409507-4E08-4D1C-B556-D400A07B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410075"/>
            <a:ext cx="6334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A5BC113-217A-4AD5-9743-9CF26C07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0963" y="3695700"/>
            <a:ext cx="190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33262E1-E8C2-4ED9-B180-A9A479AE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0963" y="3695700"/>
            <a:ext cx="6334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0958AD3-FB20-41B2-BA86-BBF3D85C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695700"/>
            <a:ext cx="595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92D3490-7D58-4A75-8F79-3F56370C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188" y="2886075"/>
            <a:ext cx="190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AD20CD6-6285-4695-84B0-DECE9534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188" y="2886075"/>
            <a:ext cx="595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47CD108-ED40-4141-8AD1-25968AA0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695700"/>
            <a:ext cx="595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BE1D45E-8B43-40EE-B544-C3BDED17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188" y="3695700"/>
            <a:ext cx="190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318C87-FED1-4966-9A19-8D7E416A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188" y="4410075"/>
            <a:ext cx="595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4DE3A65-424C-4105-9376-E7FE2DA1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695700"/>
            <a:ext cx="28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0439177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A32535-1688-480F-A67D-CC60E27E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2FC077-224D-4731-8EE9-96492F88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799B6D-2E55-4466-B7E5-AB7F2E19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65A3B-403D-4248-BE48-E6716C9E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EDE5D-8343-4E68-A562-36036BA4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838F3F-7789-4A79-8FC0-F0E0FC4B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31A81-5302-413C-BA9C-E772CE87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A9D7C2-D260-41CC-8DEB-09141F65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05453F-179E-4356-8C45-96621DAB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FADCD-C82E-4539-BDCA-9DF43550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71DB4A-ACEA-4ABC-B85C-66568550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48E5F-F55D-449D-B3D0-EBD5B3B6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0C8F6-9ADB-4DF2-8A8A-1413980E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A447A-1CEF-4ADE-BA61-3FDD67C1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846E13-BA25-4163-88D5-89465F5B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D560E8-F480-4FC9-AC38-13DFC64B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0C042E-C701-4CCD-BE33-6B8A6C35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417AB1-8463-44C4-A915-5803C324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1EDBAA6-7EB2-427E-84B5-517CE583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33D0B3-F00E-428F-9B29-E9F545F5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7A4911D-4070-4041-B373-87AA1FF7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MODULE 01 - UPLOAD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FC1629-9115-449E-9E2B-1EB34424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Upload creates an observable pipeline job.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61AAE2-3683-4348-A83C-472B3EC0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The first screen covers drag/drop, queue state, progress, cancel, and terminal error handling.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71EC7B-2A1E-4838-9B6E-B21AEBA9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1ABC9E-1BD7-44EE-9539-FFA3CEAB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ADFEF9-F006-4687-8AA0-4564FA4F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9896F-65D3-4B9A-8334-6AD1EE6A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3257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MP4 / MOV / WebM becomes a pipeline job.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0475BE-5B36-44FF-BFBA-F2B8D2B0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67FDE5-68A6-46F0-A6D7-13A33732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3257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SSE progress shows stages and fatal errors.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CB87E5-0013-43E6-848D-207C52C4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31C046-21DC-4CE3-815E-0A5D7CFB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3257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Recent jobs reopen completed analyses.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A471A-638D-4F0D-A1C6-A94A2191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CB0A59-B26E-4486-A35D-65285A11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3257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Terminal logs expose runtime failures.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4E46A5-D0F6-42A1-9334-F2C33EDC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3733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B10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8CB438-52D5-4CA0-BDD1-E48846C6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3733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3297D9-DBA6-4F8C-AD4E-6F5DF2F7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10814F-77FD-486D-9021-BA66809C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35076B-2CB3-4C76-91EB-500D46A6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1B2EAF-6EB1-4292-8F3D-B269D005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0"/>
            <a:ext cx="3314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OK ingest: frames + audio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F88E13-9B16-4B6F-A7A1-3E4281DA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43525"/>
            <a:ext cx="3314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OK OCR: raw 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B20362-6DCA-455C-8DE8-5611820C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43550"/>
            <a:ext cx="3314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VLM classification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510457-710E-4933-95D0-3D99CF2B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3314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OK persist: records + index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48C456-E941-48C2-90DD-3428FCE5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190750"/>
            <a:ext cx="64293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AA91FF6-A04F-4EC9-B310-01DF5B7A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190750"/>
            <a:ext cx="6429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D48054-5E6F-46F1-B2FA-15206C92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95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BFA43A-4951-4A32-98F8-2A1BCF41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95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557EE45-00D3-4E35-BF64-FD8051E8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295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3D7F1D9-7133-4DDB-8166-9790D11D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257425"/>
            <a:ext cx="55721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Upload module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10e66974004eb7"/>
          <a:stretch xmlns:a="http://schemas.openxmlformats.org/drawingml/2006/main"/>
        </p:blipFill>
        <p:spPr>
          <a:xfrm xmlns:a="http://schemas.openxmlformats.org/drawingml/2006/main">
            <a:off x="5334952" y="2486025"/>
            <a:ext cx="5760720" cy="3600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0117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8656E9-0EC4-4984-A5F6-122B2A0B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E9587-80B1-4B52-B055-519F042B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2B143-1ABF-479C-B8CE-31DAD74C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3584EA-9307-4567-9328-48E73340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66AA8-DCD7-4A9B-A86E-EE3659FE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842881-8D45-441F-B921-80B38261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C1C308-FC16-47FB-9FA5-7C051506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58DEB-CC5E-4BB4-A0BF-9C1F2499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183A44-D1DD-4824-8631-00C76146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11C18E-57B5-4FFB-B935-E74397A8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62B39-1696-498A-8F6C-9CE0E9EE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4C4C6F-F454-4CA6-B793-E30EEDB5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AC6DC1-938F-4EED-822E-A2E9A7CC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6100FE-CE86-4CF8-A10A-DB90F255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1CA02E-E86C-48EE-93EC-38BE8688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00607-34A6-4758-A5FD-8690E953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258AF4-BBBB-42E4-AD4D-BBB1DDC1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D0AA95-61B8-4403-9539-68CE8956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78162CD-B67E-4981-8DCA-F0A673F88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D6BAE4-A92E-46DE-BC11-A0814F90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EC8CEE2-4107-4847-9A2A-9A34F206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MODULE 02 - LIBRARY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F8B36C-B218-4F21-A35B-F8669FF9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Library shows persisted evidence, not only a gallery.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665BE7-7FBA-40E2-856C-03F2EF11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Each ad record carries classification, entities, OCR, transcript, frames, campaigns, and related ads.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D15BB0-9F61-4FED-ADA0-F1A0ABEC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D08A99-BBF1-4697-A2BB-625923F6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238FEF-7391-4AAE-9210-0F95C10F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74771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BB01AB-6C9F-4E06-9D66-27B5FB78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7477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0A4C46-D549-497B-AB58-9A5AFD69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200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94D3B1-511C-4AB3-A631-F473212C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00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FDB739-E342-4CFA-BA9E-11259777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00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EAC908-219F-4FA5-8DA9-4A09A062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62175"/>
            <a:ext cx="66198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Library detail with selected ad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6b69bb6c349ab"/>
          <a:stretch xmlns:a="http://schemas.openxmlformats.org/drawingml/2006/main"/>
        </p:blipFill>
        <p:spPr>
          <a:xfrm xmlns:a="http://schemas.openxmlformats.org/drawingml/2006/main">
            <a:off x="1239202" y="2390775"/>
            <a:ext cx="5913120" cy="3695700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8F9C4D-668B-40F6-8912-4D97B5BA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33600"/>
            <a:ext cx="3048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C6D29D-7EA7-4252-9679-592C32EF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76475"/>
            <a:ext cx="2743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rPr>
              <a:t>Selected ad detail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BB0A29-542B-4883-B632-9815E777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62225"/>
            <a:ext cx="2743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The right panel keeps video, category, taxonomy, brand data, and evidence together.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184DCA-C5B9-466D-B20B-B984CE4F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57550"/>
            <a:ext cx="1428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A8BF08-C2C6-435B-97E5-EAB631DD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0042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rPr>
              <a:t>Category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9039C5-01ED-48AA-B39C-EA72CEB6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705225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automotive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28DB15-38AB-42AD-A957-326080B6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24300"/>
            <a:ext cx="1123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Confidence and secondary labels stay visible.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1CC69FC-0B3B-4812-AF2C-55EB0EDD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57550"/>
            <a:ext cx="1428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B48B6F-7A57-4CF9-8211-E73A567B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40042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rPr>
              <a:t>Taxonomy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9529B5-74D2-42A7-B40A-D1F905C2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705225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IAB product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900E5E-65B5-40E0-9EDB-E957D2A1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924300"/>
            <a:ext cx="1123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Product tree and depth are stored with the ad.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78CF59B-65C8-47A8-B3C0-7511D973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05350"/>
            <a:ext cx="1428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453D845-8B55-4ED7-B6F7-B21B53A3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4822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rPr>
              <a:t>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FC418C1-4004-4134-ABB5-95B54FE3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153025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timestamps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98777D-E857-4F1C-A845-621C822D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372100"/>
            <a:ext cx="1123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Frames, transcript, OCR, and VLM notes remain inspectable.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8FCD5A-CBC4-4702-8B2C-01C82386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705350"/>
            <a:ext cx="1428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85511E-5FAD-4C30-B5F0-EDA43E75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4822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rPr>
              <a:t>Entities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4541F9-3E49-4F10-BCAF-E1D00AAB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153025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brand + product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1A07AD-F6A7-4AF7-84BD-70052979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72100"/>
            <a:ext cx="1123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Marketing fields feed search and agent answers.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66CA6A2-B459-4EE2-A5E9-18A2D68A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605790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Inspection shows why the classification happened, not only the final label.</a:t>
            </a:r>
          </a:p>
        </p:txBody>
      </p:sp>
    </p:spTree>
    <p:extLst>
      <p:ext uri="{BB962C8B-B14F-4D97-AF65-F5344CB8AC3E}">
        <p14:creationId xmlns:p14="http://schemas.microsoft.com/office/powerpoint/2010/main" val="72557464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72047D-8BE2-40BA-B7DF-A49975B7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1E569-DCF1-42B9-A06B-D77F592A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5A72AC-E020-43FA-8AB4-D4CA15C1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644DE-2FA5-4BE8-8C55-17C2CF33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FFAF3-7A5B-494B-B0BD-DE0C5331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7D2357-A3C7-48CF-9AB4-240080F6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BCB52-0CE6-473E-A13B-68CB1FEA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4F02A1-49B6-4878-95C1-4473334E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631F08-3884-41FB-885A-D9A9B7D1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1096DD-9BE1-40A0-84FA-8F850E97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9E910E-C1D5-4464-A5E7-DA5E80E5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561817-AA4F-4A04-89A4-FC165F9E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E4982-7D00-4963-94CF-D303BE3E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66CFF0-7D89-44CC-A55F-9B441B86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D13E2-18B1-48D3-A14D-06DB39B2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1F5611-A926-443C-890C-1D71F5F3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FE16F2-91BC-41A8-A977-323964DF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C4F892-1B85-4931-BDA0-5630FAE2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8C652E1-CB97-4F43-9007-CAE88E94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110F9B-0EEC-42D7-B548-2F518337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9BE445B-D58E-4A5F-AF67-34BBF84F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MODULE 03 - 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352837-2ABE-45C6-84E5-DD35BFAF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Search combines exact words, filters, and semantic retrieval.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7739EE-F65B-42B9-898B-F026241D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Results can come from keyword matches, text retrieval, visual retrieval, or hybrid ranking.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A1CD45-C3D7-4B6E-B61D-7ADA7146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BCA4DD-82FA-4A3A-BEDE-DC50162F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D1ACBC-0706-4BAA-B2B6-5356DAB8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65722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4AE176-7BE3-473B-86A9-6CE978B5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6572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413DFA-0060-4311-8173-CAF9AE80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314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333697-877E-4BC0-B569-B268D2B4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14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558BD7-52BA-468A-8BF2-BDFFF59E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14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DB1495-C81D-43B7-A290-B6C4F8F0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76475"/>
            <a:ext cx="571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Search results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59b094e7e4fda"/>
          <a:stretch xmlns:a="http://schemas.openxmlformats.org/drawingml/2006/main"/>
        </p:blipFill>
        <p:spPr>
          <a:xfrm xmlns:a="http://schemas.openxmlformats.org/drawingml/2006/main">
            <a:off x="650188" y="2505075"/>
            <a:ext cx="6300574" cy="3562350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2B8395-1FBB-403D-B130-065D2B22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0505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ABD400-640F-4C0E-B218-4A537CB1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47925"/>
            <a:ext cx="255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rPr>
              <a:t>Keyword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523BD7-EF29-4406-AD27-916D7C9B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33675"/>
            <a:ext cx="2552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FTS over brand, OCR, transcript, and entities.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478166-84A6-417B-B3A0-F52506F9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DE491F-84BB-444F-A57E-E75B997A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476625"/>
            <a:ext cx="255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rPr>
              <a:t>Filters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37B066-2A44-4180-A3C2-C8DF4AB8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762375"/>
            <a:ext cx="2552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Category, brand, observation tags, campaign, and date.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CA39EF-C5B6-4C2B-957D-CB617C5D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6245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EA40AC-56DC-4303-B0D6-B4FAF43C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05325"/>
            <a:ext cx="255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rPr>
              <a:t>Similarity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CB75C7-6AE3-4D1F-8E35-6722101B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91075"/>
            <a:ext cx="2552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Find near-duplicate creatives and campaign variants.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9841D6-A654-4A62-9E5B-4E48D5CA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5245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2269615-B724-4F22-9741-0DB134A9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483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Find disclaimers, offers, and repeated claims.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6D32A2-E168-4957-BB82-ADCF3845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829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8584E2-3D14-4F0D-B962-B0798A8B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7531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Compare ad variants across brands or campaigns.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4E3137-2EF8-432F-8868-0F5F6928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61341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78FB459-21E0-4B50-B95C-832A1B8E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60579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Open the exact record behind each search result.</a:t>
            </a:r>
          </a:p>
        </p:txBody>
      </p:sp>
    </p:spTree>
    <p:extLst>
      <p:ext uri="{BB962C8B-B14F-4D97-AF65-F5344CB8AC3E}">
        <p14:creationId xmlns:p14="http://schemas.microsoft.com/office/powerpoint/2010/main" val="3496269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DE62C5-8190-458E-B478-98B21355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136B7B-858C-4A1C-8E17-C228BF24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488AE9-3369-4C0F-8844-826C226A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7AEB3-6718-4C16-9327-60B66FED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EFC3DF-1BB3-49D8-9C46-29DBF0A4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E0816-D8A2-4BAF-9312-A6DBA5E2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5B83EC-3792-49ED-B951-7031B2D9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DC71BE-A820-4996-B23D-0343ED3F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50D52-1D7F-44B4-9357-98A560C8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B0D119-8476-49E2-9744-51DB6A1C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C580D-1666-49AF-8B7A-BBB2D89A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2687A0-6B05-4578-BF29-938D5C93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ECD2F8-601C-48A0-8C8F-A2465D56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6A453E-ABB9-4763-90F1-D0E11DFB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7FB330-BE3E-4AE5-9881-57B68676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828731-BD66-419F-A17D-3D0C856C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D7B523-286E-426B-9E28-1F0C3F75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001E15-A9FA-421E-97CF-14D10DA3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0433802-7C2F-4745-98E1-B129493A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F51D01-E343-44FB-A997-530A275C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F536044-292D-4560-B2C9-4145B1F7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rPr>
              <a:t>MODULE 04 - CAMPAIGNS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EFD744-21CE-45BE-AC8D-70D42506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Campaigns group repeated ads and variants.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DBE21-B2DA-4442-AD1E-304DAB33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Exact duplicates, near-duplicate frames, and semantic similarity connect related ads.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1720D7-352B-46D0-B26A-C7192C42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AC30F7-B02F-4FE5-B9B4-165323DC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9D421B-B616-44D4-8362-E343BBB4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707FB3-7800-432C-8B93-065D68A7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90775"/>
            <a:ext cx="255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rPr>
              <a:t>What grouping adds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628303-6E9E-47FD-924A-7C4B39E3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76525"/>
            <a:ext cx="2552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Related ads appear as campaign logic: product, offer, runtime, and variant links.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A71611-229B-4DDB-B877-B6627992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1257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922C50-2D5D-4E0E-8D04-B56651C0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9525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rPr>
              <a:t>Exact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BDFB2A-3B1B-4800-899F-BD365E49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05275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same upload hash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02E949-9C1F-4013-B431-982E3C82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676650"/>
            <a:ext cx="1257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0D2AC7-FCA7-4BA3-B0AF-8CF1198F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19525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rPr>
              <a:t>Near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5D0CA9-50ED-4756-B265-7AD8B027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105275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similar creative reuse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A864BD-0821-49B6-9E64-7C2C08D7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00600"/>
            <a:ext cx="1257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15771E-697F-4921-8C4B-2F752282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43475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rPr>
              <a:t>Semantic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D1932D-18BE-4DF7-8A6F-F7E28723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29225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same campaign variants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CD92B7-0F0C-4696-B2C2-0334B1F1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00600"/>
            <a:ext cx="1257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E0DD16B-F3C0-497B-8474-65BB66C3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943475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rPr>
              <a:t>Curated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CE94D0-E3A9-4280-A5ED-A6CD673A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229225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manual assignment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F01771-DF1D-4B4A-A3E1-DCC5E4A7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90750"/>
            <a:ext cx="6953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81C051-3E1F-411B-8EDF-9AEC296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90750"/>
            <a:ext cx="695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612697-B462-4325-9B80-4E5B8F53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295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110899-0C2B-4F58-93CB-416BE21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95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719170-B0BA-4F13-84A2-7E1A9370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295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19CDEBB-19F0-49F0-837E-531F9F4E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257425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Campaigns module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bc5d12b93d4122"/>
          <a:stretch xmlns:a="http://schemas.openxmlformats.org/drawingml/2006/main"/>
        </p:blipFill>
        <p:spPr>
          <a:xfrm xmlns:a="http://schemas.openxmlformats.org/drawingml/2006/main">
            <a:off x="5168265" y="2486025"/>
            <a:ext cx="5760720" cy="3600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31009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1BC579-6147-4359-B5A0-792AC42A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133E2-A20D-4E93-81F5-22975322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2FAE8F-9E16-49CF-A98A-E05F7E38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3B9845-399F-4627-93FE-C10D5199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EC97B-B554-41CE-92F9-9BA01838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D3C22E-6969-450E-9450-85D8A388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D55CBD-C6B4-4657-A9C9-31BE38D8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6C3293-8C0E-489B-B38E-E711F797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2683E1-AE56-4A49-8448-9D56300F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E112EF-D7D3-4E71-BE5A-F2723471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9D3137-7516-4C45-979F-78D23428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F3139-8B98-47DC-86CB-4CA7C499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CF067-A9CA-4371-9E5D-C8D07FE7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0E3A7E-71D5-4458-A0A0-675DDE93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11F37D-62FF-4D1F-B919-345F2BE3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5E75C5-3F99-4687-A204-3E79C950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7DEA5B-CD0F-4F0D-828B-4656DF55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EA73A3-05E5-4DB0-8538-E0FE69BD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2D451A6-12FD-4335-A001-23953FAB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F03F7D-3785-41BA-A101-935457A7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6BFF"/>
          </a:solidFill>
          <a:ln xmlns:a="http://schemas.openxmlformats.org/drawingml/2006/main" w="0">
            <a:solidFill>
              <a:srgbClr val="9B6BFF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BDC72D4-F1C6-4861-ACAB-64F81BDF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MODULE 05 - 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4DDE13-F792-418E-A544-5377F418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The agent answers read-only questions over the database.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2F1295-0F6A-4114-9EA8-54D21111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It uses tool calls for list, count, aggregate, search, and retrieval operations.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720CAA-C5A1-43FF-B3B2-2C92D983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C8C2B7-2732-4638-BFDF-2662D5C5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43609C-FDDC-4771-A862-9E7F6A78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2952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07FF66-06AB-455A-8CF5-A38D2768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0507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Example questions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D6096B-5E2E-4FBF-8BF0-FDA1341E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2324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15203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55B865-71A4-4365-B110-CE0556BED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20764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How many SUV ads are stored?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143BA2-DE17-404D-9C88-6CDFD863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2324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15203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248F6A-BF9A-4FBD-9A96-24707789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20764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Show urgency and price offers.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B30381-DED7-4BFA-A7CD-0F0C5FB9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76650"/>
            <a:ext cx="2324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15203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D0BD25-6988-4369-B507-F03556B0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20764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Compare two automotive ads.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C141EE-1595-4517-B180-15A71437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57650"/>
            <a:ext cx="2324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15203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E2BEF-A656-4317-A31C-1EEF17FA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20764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Group by category and brand.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E95837-5F4C-4C2D-9875-3DB5D7D6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00625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A916A0-0B04-4DB8-BC4B-51CF062E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24450"/>
            <a:ext cx="590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2955EB-15A8-4307-A1E4-9881FB65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read-only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7C0290-817E-44EB-B36D-E92B985C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00625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2907CE-A294-4872-95C4-F09BE9A9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24450"/>
            <a:ext cx="590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rPr>
              <a:t>Tools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257550-78C4-4288-AE12-C9BC2FE0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343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catalog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12AE0D-45D1-4E10-A1AE-1C96020D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00625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8DC9FF-E642-4EA8-8E8C-7665E604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124450"/>
            <a:ext cx="590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rPr>
              <a:t>Cites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8EAB51F-3D0D-4A1A-820D-AEA957E2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343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ad ids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5FFFCAA-CC81-43D4-9483-628EA0CF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6905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5E22E18-E8AB-4206-AF49-BCA063CC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6905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C434C92-966A-46A5-9303-080567D6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295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9AFE71E-6C2A-4A08-8790-47D9B492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95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BF92B14-4B4D-4804-AF8C-08A1A663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295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CC59D6-F9C6-48A4-8790-1CB41A3F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57425"/>
            <a:ext cx="60483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Agent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63a517f254ffe"/>
          <a:stretch xmlns:a="http://schemas.openxmlformats.org/drawingml/2006/main"/>
        </p:blipFill>
        <p:spPr>
          <a:xfrm xmlns:a="http://schemas.openxmlformats.org/drawingml/2006/main">
            <a:off x="5049202" y="2486025"/>
            <a:ext cx="5760720" cy="3600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35650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637129-EE57-4FC2-8423-E0B56F87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8732C6-0894-483F-B79C-BF907009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2DB6A-2B07-4479-9486-C89E678A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8631D-E10E-4592-A72E-026BD59C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3B768-884F-469F-8B54-872FB586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82A5F-20CC-41D8-ADCC-D09D96F7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4922FB-BE79-40A8-80D4-8C4AE7FA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CB4F4-6B0F-4690-BB9B-8BCE8C4E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5F213-A40C-47AB-864E-36122C36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B2F690-9DEB-491D-99A8-1F3B6F84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3B843-D827-4B55-A770-5936CC46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0DA7B6-6FFA-47D1-975C-AE992E997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7FB45D-6189-4598-ABCE-7F6CD5F7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0AC9B8-21EB-4199-AA50-123A582C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4DA7C-7CCC-4DD1-8CC8-F1856DB4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AC3F1F-86EA-498D-BB96-925215C0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0F1D36-BD62-4C09-BBAD-1783DC1E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99437B-2C69-42A8-9287-C7183A19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92781B7-18C2-43FE-AD85-EAA3DA13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74D77F-5DEE-429A-9D5A-72C7B396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C1BD357-CB24-4A56-ADD5-39D94EE8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MODULE 06 - OPERATIONS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55FE8F-C539-4307-BF41-579BC79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Settings, taxonomy, and jobs keep the runtime configurable.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DC27BA-72DD-443A-86FC-86B9F24E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Model routes, prompts, OCR behavior, taxonomy, and job recovery remain visible in the UI.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560489-C502-430D-A25E-2757C2EC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DD09FF-62E8-40CD-AEAC-DD43035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DB18E7-5852-4E95-98E8-3BD22343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38375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1F473B-D065-470C-A6B2-0F23CBBC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38375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0F972-4335-4A4C-9392-0B3530E0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343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864489-2820-422A-9D85-893BF91F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0C75C3-12FA-45D0-9167-081A1185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43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B7DDD1-8F76-406E-B339-12527008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05050"/>
            <a:ext cx="3905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Settings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8777800a574679"/>
          <a:stretch xmlns:a="http://schemas.openxmlformats.org/drawingml/2006/main"/>
        </p:blipFill>
        <p:spPr>
          <a:xfrm xmlns:a="http://schemas.openxmlformats.org/drawingml/2006/main">
            <a:off x="853440" y="2533650"/>
            <a:ext cx="4084320" cy="2552700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8095AE-CC2D-4433-8C75-9CC9A9A9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238375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B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1668AB-2F57-45A0-9D59-858449E3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238375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9EE4E7-09D1-48B2-86D8-11343A9F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343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1586AE-C23F-4C27-8F5D-878E21B6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343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FFE4EB-D1AD-4868-98F8-59EEDE4D0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343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E1EAFB-E7BF-4366-B838-28AC249C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05050"/>
            <a:ext cx="3905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60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Taxonomy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e4baafdd3745f4"/>
          <a:stretch xmlns:a="http://schemas.openxmlformats.org/drawingml/2006/main"/>
        </p:blipFill>
        <p:spPr>
          <a:xfrm xmlns:a="http://schemas.openxmlformats.org/drawingml/2006/main">
            <a:off x="5901690" y="2533650"/>
            <a:ext cx="4084320" cy="2552700"/>
          </a:xfrm>
          <a:prstGeom xmlns:a="http://schemas.openxmlformats.org/drawingml/2006/main" prst="rect">
            <a:avLst/>
          </a:prstGeom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77E1D8-92F9-431B-BFC3-6CAB7D95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62200"/>
            <a:ext cx="11049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1398E6-312A-4EBE-9C1F-B83405FE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5717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Jobs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042B027-EB5E-4D5F-8273-00997772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067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A3B3"/>
          </a:solidFill>
          <a:ln xmlns:a="http://schemas.openxmlformats.org/drawingml/2006/main" w="0">
            <a:solidFill>
              <a:srgbClr val="99A3B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5FC482-53B0-4F5F-AFC8-83C4C8E9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990850"/>
            <a:ext cx="62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state cleanup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909603-A2CE-4CA3-9B6E-329586A7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3718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A3B3"/>
          </a:solidFill>
          <a:ln xmlns:a="http://schemas.openxmlformats.org/drawingml/2006/main" w="0">
            <a:solidFill>
              <a:srgbClr val="99A3B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FA8250-EDAD-415B-987E-DE11F192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295650"/>
            <a:ext cx="62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cancel/delete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09324D-1E96-4147-9748-49F2E639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6766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A3B3"/>
          </a:solidFill>
          <a:ln xmlns:a="http://schemas.openxmlformats.org/drawingml/2006/main" w="0">
            <a:solidFill>
              <a:srgbClr val="99A3B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63C1B77-8692-4279-A244-0E71575A7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600450"/>
            <a:ext cx="62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failure visibility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6DF61C3-CB71-4961-9B89-D4DF3A61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981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A3B3"/>
          </a:solidFill>
          <a:ln xmlns:a="http://schemas.openxmlformats.org/drawingml/2006/main" w="0">
            <a:solidFill>
              <a:srgbClr val="99A3B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6E13112-C381-44F3-9FD6-6D137AC4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905250"/>
            <a:ext cx="62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EEF3FB"/>
                </a:solidFill>
                <a:latin typeface="Aptos"/>
                <a:ea typeface="Aptos"/>
                <a:cs typeface="Aptos"/>
              </a:rPr>
              <a:t>demo recovery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3597FD7-6840-45E6-895D-600FF8AC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81650"/>
            <a:ext cx="9144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8ED1C7F-1604-4839-9303-60B39162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5310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rPr>
              <a:t>Control surface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FF2AD2-D18D-4ECA-A702-CD0B74FA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10275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Model routing, editable prompts, OCR config, taxonomy knowledge, and job-state cleanup stay outside the code path.</a:t>
            </a:r>
          </a:p>
        </p:txBody>
      </p:sp>
    </p:spTree>
    <p:extLst>
      <p:ext uri="{BB962C8B-B14F-4D97-AF65-F5344CB8AC3E}">
        <p14:creationId xmlns:p14="http://schemas.microsoft.com/office/powerpoint/2010/main" val="192235796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B515C9-73AE-4A92-BBF5-6DA06C07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C1FE86-9696-4BF6-9773-99B5B2BB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BC771-6771-4F3D-B7D9-65C9FD6A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CC135-F62C-411A-A709-3F5AD15B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BF2F66-7972-4CB4-B4B8-83D1D386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0BB8A-5EE3-41C2-B198-6DBB17FD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A65949-D671-4E8D-AF89-ABF0803E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3EAC38-6475-48AD-9F08-F9A00A090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79BDC1-0F47-4CB8-85B6-3536346A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A275E-168F-44F1-AAA5-DB897384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85797C-B277-443A-9CDE-896AC854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C26835-CFDB-4ADE-8768-E390832F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7C4FE9-0A85-488B-8A93-32BA163D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A5EDE9-D150-4C28-8B6D-5F0A45A8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D3F723-28F6-4E61-BD71-1D63389B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000841-5391-487E-A9C7-357E213F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63B3B-F2D5-4BC6-B51B-62C777B4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2B1C83-9E67-4661-AA4E-37C2F2F7A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070F4DC-F082-4426-84B7-7E945195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ED6E13-5AE0-4ACF-BB8B-BF6DA5BF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9EFE273-05B5-4B53-BDC6-B9E89C68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SYSTEM USE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52BFBC-5ECB-4473-9CB6-21756776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After ingestion, the workflow is inspect, retrieve, compare, and ask.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24DEE-A5C8-4AD0-985B-1B6793A3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The same persisted ad record powers the Library, Search, Campaigns, and Agent views.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587E88-0F28-4254-9A9E-80360088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B8818A-7BDB-4890-80DB-1C7F84B7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CB9687-E90E-4E6E-8F5A-83E17C8F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032FC8-146C-48C9-8DF6-FDBD1123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95625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rPr>
              <a:t>Persisted ad record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ED2F4A-2E63-4145-842D-E3D913EE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81375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Video, transcript, OCR, category, entities, evidence, related ads, and model outputs.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3660EA-EF4F-408C-88EA-6E0A794B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09800"/>
            <a:ext cx="2324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9A5E95-FECF-4B03-B50C-9699DA82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52675"/>
            <a:ext cx="201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D8A4"/>
                </a:solidFill>
                <a:latin typeface="Aptos Display"/>
                <a:ea typeface="Aptos Display"/>
                <a:cs typeface="Aptos Display"/>
              </a:rPr>
              <a:t>Inspect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9A5FC3-8C12-439D-9B8F-A07CBB53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638425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Open the record and verify evidence.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098A66-DC44-45FC-95D6-00F1EE9D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24250"/>
            <a:ext cx="733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AA36B5-E59B-485D-AC14-7FDA9A1D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781300"/>
            <a:ext cx="19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81EA6-8C36-46D3-A8ED-9CFC2EBE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781300"/>
            <a:ext cx="733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8C9712-2704-4ED2-882C-45DB4D17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09800"/>
            <a:ext cx="2324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FBEE2A-8A09-4E89-BD94-D71F21D6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52675"/>
            <a:ext cx="201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BFEA"/>
                </a:solidFill>
                <a:latin typeface="Aptos Display"/>
                <a:ea typeface="Aptos Display"/>
                <a:cs typeface="Aptos Display"/>
              </a:rPr>
              <a:t>Retrieve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FC0B85-37CF-4DB9-BB0E-3CBB37F5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38425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Search exact text, filters, and similar creatives.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3CF933-E883-442E-96BA-400776A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24250"/>
            <a:ext cx="2209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4CA7D4-20EE-433B-8F87-6D16B12D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81300"/>
            <a:ext cx="19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6B53C31-E758-44D2-BC5B-698AC023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81300"/>
            <a:ext cx="2209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61EAA2-1B47-4C51-A5A4-EC1C9D8B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19550"/>
            <a:ext cx="2324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21D435-F62C-4239-825D-51A51E98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62425"/>
            <a:ext cx="201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2B640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AFAEF5-7678-4FAF-8059-F9A5C11C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448175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Group repeated creatives into campaigns.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77A3088-5F9A-4218-BFB7-32BD6081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24250"/>
            <a:ext cx="733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7303832-7FCF-4524-A7AC-E09ED40F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524250"/>
            <a:ext cx="19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56F983F-A85F-4FBE-8F66-4E681FBE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591050"/>
            <a:ext cx="733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3FF3A0-E41A-4CAA-8811-CB8E3BF6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19550"/>
            <a:ext cx="2324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0A4534B-94CD-4BA2-A86E-DD77C876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62425"/>
            <a:ext cx="201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B6BFF"/>
                </a:solidFill>
                <a:latin typeface="Aptos Display"/>
                <a:ea typeface="Aptos Display"/>
                <a:cs typeface="Aptos Display"/>
              </a:rPr>
              <a:t>Ask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05F3A1-54F6-4091-8D24-85D115F6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48175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Answer database questions through read-only tools.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AC9AB82-46D5-4A59-8EB4-5E4AE2AE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24250"/>
            <a:ext cx="2209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04B7E04-F7B6-4A40-8E43-F31F13E8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524250"/>
            <a:ext cx="19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3A1CE18-C21C-4574-96D1-8EBDF08B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591050"/>
            <a:ext cx="2209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E11214-10FE-43DF-88ED-B93A7462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67350"/>
            <a:ext cx="8496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D28"/>
          </a:solidFill>
          <a:ln xmlns:a="http://schemas.openxmlformats.org/drawingml/2006/main" w="9525">
            <a:solidFill>
              <a:srgbClr val="22304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BAE867B-3A16-41A6-8174-81FE270D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00700"/>
            <a:ext cx="790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EF3F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EF3FB"/>
                </a:solidFill>
                <a:latin typeface="Aptos"/>
                <a:ea typeface="Aptos"/>
                <a:cs typeface="Aptos"/>
              </a:rPr>
              <a:t>This makes a slide-based demo practical: each view shows one concrete use of the same underlying ad intelligence record.</a:t>
            </a:r>
          </a:p>
        </p:txBody>
      </p:sp>
    </p:spTree>
    <p:extLst>
      <p:ext uri="{BB962C8B-B14F-4D97-AF65-F5344CB8AC3E}">
        <p14:creationId xmlns:p14="http://schemas.microsoft.com/office/powerpoint/2010/main" val="17777719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49DBBA-0A1E-4F61-8E7C-9A7CCA6B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D"/>
          </a:solidFill>
          <a:ln xmlns:a="http://schemas.openxmlformats.org/drawingml/2006/main" w="0">
            <a:solidFill>
              <a:srgbClr val="07090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C95A8-DBD1-4DAA-A42D-B4156C31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C2C48-2869-46D4-9D29-7EA7311D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A4CA5-6168-49AF-A0B7-8A202A77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42AFD3-BB3E-4B93-9FCA-CE25ECDC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19051A-8CE7-4D02-8AD0-3D310662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8243BB-579A-48E3-B345-CC5B5E46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50A22-80B1-4418-80C7-48C5F63C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236B67-6054-4B85-8A18-D694E85E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047E93-0D24-43A1-A73C-6C784499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111F67-1BC3-4E23-8451-155EE5E2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F6C7F5-4159-4ED7-9A18-BB67AB24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5CA8B4-C1AF-4748-BD39-96B59A63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1F3102-E29D-493D-A34F-594230DF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7053A9-1BC6-43A1-B634-3774F541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038EF5-D691-4B6C-8DF7-3E6F60FE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1EBF2E-E16D-4069-9530-BB5D06D1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3D88BF-3F32-4734-9B28-76093CA8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033"/>
          </a:solidFill>
          <a:ln xmlns:a="http://schemas.openxmlformats.org/drawingml/2006/main" w="0">
            <a:solidFill>
              <a:srgbClr val="152033"/>
            </a:solidFill>
            <a:prstDash val="solid"/>
          </a:ln>
        </p:spPr>
      </p:sp>
      <p:sp>
        <p:nvSpPr>
          <p:cNvPr id="19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E4E4ACE-98BA-4427-8C35-F5FD079A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6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1C499F-FA8F-4B70-A15C-DDAEA037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4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21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14AFF7D-AF75-4B43-9002-9F579EC8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SHOWCASE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997032-9D50-4DF7-8BB6-BB830302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A short presentation can show upload, inspect, retrieve, group, and ask.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0BACF-DC21-49FE-A096-DC3DA75A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This keeps the explanation focused on what the system does, not setup details.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D1B551-8BF5-4FF1-AEDC-C501F310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01647D-7CCC-4FF9-9CE9-9F5958C1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341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596273"/>
                </a:solidFill>
                <a:latin typeface="Aptos Mono"/>
                <a:ea typeface="Aptos Mono"/>
                <a:cs typeface="Aptos Mono"/>
              </a:rPr>
              <a:t>15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635EBD-CAE7-4C0D-A884-40E00A96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B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D040E5-BE94-4BD6-AB9A-28A69AE7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FEA"/>
          </a:solidFill>
          <a:ln xmlns:a="http://schemas.openxmlformats.org/drawingml/2006/main" w="0">
            <a:solidFill>
              <a:srgbClr val="00B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B180F4-B4B1-4051-BA76-EBE491F0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955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BFEA"/>
                </a:solidFill>
                <a:latin typeface="Aptos Mono"/>
                <a:ea typeface="Aptos Mono"/>
                <a:cs typeface="Aptos Mono"/>
              </a:rPr>
              <a:t>MODULE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6148C1-E3A0-47BC-91E2-65E2D033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1276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1. Upload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3C082E-DFC3-429F-856A-D1C492F4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90850"/>
            <a:ext cx="1276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clip to stage progress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FA87DB-8D17-4ED0-9820-A8CB3C4C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9527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3AE377-9911-4509-B220-6898AC69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3812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B76636-6C3D-4043-9F2A-6651DBF0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67E299-2CA7-415A-9150-FD1CB892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955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MODULE 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E6866E-764D-483D-8934-BC2AE406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1276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2. Inspect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7F56DD-BA16-4DBA-8FBC-D0197EA3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90850"/>
            <a:ext cx="1276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classification, entities, evidence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9A1C87-94EE-4958-B693-14C734A7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053090A-B95C-4793-BC56-915FBFFD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812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BB9909-88E3-4EBB-A20B-62A9C1E1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6BFF"/>
          </a:solidFill>
          <a:ln xmlns:a="http://schemas.openxmlformats.org/drawingml/2006/main" w="0">
            <a:solidFill>
              <a:srgbClr val="9B6B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23D68E-DDF1-460A-9FFA-B94E3065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4955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MODULE 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3CD2B0-6380-44A2-A815-6B56CD9A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24150"/>
            <a:ext cx="1276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3. Search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96F7270-6ABB-42D9-8FAC-25094051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990850"/>
            <a:ext cx="1276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keyword, filters, retrieval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0A2901-546D-478D-B7DB-53885178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527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281DFB-E334-48E4-832E-A2790E68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3812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2B64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B4C8D76-ED7B-47C2-958D-9E6E8561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40"/>
          </a:solidFill>
          <a:ln xmlns:a="http://schemas.openxmlformats.org/drawingml/2006/main" w="0">
            <a:solidFill>
              <a:srgbClr val="F2B64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E30F4D-C7A6-405F-A2D0-039B50EF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955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2B640"/>
                </a:solidFill>
                <a:latin typeface="Aptos Mono"/>
                <a:ea typeface="Aptos Mono"/>
                <a:cs typeface="Aptos Mono"/>
              </a:rPr>
              <a:t>MODULE 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579AB59-ADBB-4B7C-A1C7-BACDA6A7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24150"/>
            <a:ext cx="1276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4. Campaign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C595B1-FC79-4091-8D13-D99E9FE2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90850"/>
            <a:ext cx="1276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variants and similarity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8685AB-DDC7-4478-A404-9BDBC8CB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527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044"/>
          </a:solidFill>
          <a:ln xmlns:a="http://schemas.openxmlformats.org/drawingml/2006/main" w="0">
            <a:solidFill>
              <a:srgbClr val="22304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34A4CA-605E-4FEB-8073-C6030F5B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FF5C86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E8C4D10-9EDD-4F44-A868-6BE28D80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86"/>
          </a:solidFill>
          <a:ln xmlns:a="http://schemas.openxmlformats.org/drawingml/2006/main" w="0">
            <a:solidFill>
              <a:srgbClr val="FF5C8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14FDE28-7BA4-4DB4-B116-4881AEB9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955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F5C8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F5C86"/>
                </a:solidFill>
                <a:latin typeface="Aptos Mono"/>
                <a:ea typeface="Aptos Mono"/>
                <a:cs typeface="Aptos Mono"/>
              </a:rPr>
              <a:t>MODULE 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346366A-89F9-4D11-B4D9-5AC5EAC9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724150"/>
            <a:ext cx="1276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5. Agent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679522C-04EE-4ACE-9837-D131AC45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90850"/>
            <a:ext cx="1276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plain-language query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A60CC7-40CC-48F7-9B2F-1114DC7F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72000"/>
            <a:ext cx="4095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00D8A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5FAF69B-542B-40FA-A05D-896E5E11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733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A4"/>
          </a:solidFill>
          <a:ln xmlns:a="http://schemas.openxmlformats.org/drawingml/2006/main" w="0">
            <a:solidFill>
              <a:srgbClr val="00D8A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F0520CB-8217-439E-B4DB-D31F25F2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3676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00D8A4"/>
                </a:solidFill>
                <a:latin typeface="Aptos Mono"/>
                <a:ea typeface="Aptos Mono"/>
                <a:cs typeface="Aptos Mono"/>
              </a:rPr>
              <a:t>THIS DECK COVERS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637A20D-2681-4797-BF16-1D2D6CAA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914900"/>
            <a:ext cx="3752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Current demo system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BC429CD-90CF-4943-9074-EC05E854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181600"/>
            <a:ext cx="3752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local-first processing</a:t>
            </a:r>
          </a:p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structured evidence and entities</a:t>
            </a:r>
          </a:p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Library, Search, Campaigns, and Agent tools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C8AAA00-285B-4C3B-810A-F196CC2E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72000"/>
            <a:ext cx="4095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1"/>
          </a:solidFill>
          <a:ln xmlns:a="http://schemas.openxmlformats.org/drawingml/2006/main" w="9525">
            <a:solidFill>
              <a:srgbClr val="9B6B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B022DCE-D090-49C3-8205-4B488739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733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6BFF"/>
          </a:solidFill>
          <a:ln xmlns:a="http://schemas.openxmlformats.org/drawingml/2006/main" w="0">
            <a:solidFill>
              <a:srgbClr val="9B6B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1BD0E8C-6D0D-4672-AB62-E693F507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86300"/>
            <a:ext cx="3676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9B6BFF"/>
                </a:solidFill>
                <a:latin typeface="Aptos Mono"/>
                <a:ea typeface="Aptos Mono"/>
                <a:cs typeface="Aptos Mono"/>
              </a:rPr>
              <a:t>OPTIONAL NEXT SLIDES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A776B66-96CD-48BA-B637-A535216D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14900"/>
            <a:ext cx="3752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EEF3FB"/>
                </a:solidFill>
                <a:latin typeface="Aptos Display"/>
                <a:ea typeface="Aptos Display"/>
                <a:cs typeface="Aptos Display"/>
              </a:rPr>
              <a:t>When more depth is needed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3FAA400-C2D8-40CA-9685-802DD2CA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3752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model benchmark snapshots</a:t>
            </a:r>
          </a:p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sample ad comparisons</a:t>
            </a:r>
          </a:p>
          <a:p xmlns:a="http://schemas.openxmlformats.org/drawingml/2006/main">
            <a:pPr algn="l">
              <a:defRPr sz="900" b="0">
                <a:solidFill>
                  <a:srgbClr val="99A3B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9A3B3"/>
                </a:solidFill>
                <a:latin typeface="Aptos"/>
                <a:ea typeface="Aptos"/>
                <a:cs typeface="Aptos"/>
              </a:rPr>
              <a:t>prompt presets and reset controls</a:t>
            </a:r>
          </a:p>
        </p:txBody>
      </p:sp>
    </p:spTree>
    <p:extLst>
      <p:ext uri="{BB962C8B-B14F-4D97-AF65-F5344CB8AC3E}">
        <p14:creationId xmlns:p14="http://schemas.microsoft.com/office/powerpoint/2010/main" val="17668759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2026-06-02T07:43:48.0130000Z</dcterms:created>
  <dcterms:modified xsi:type="dcterms:W3CDTF">2026-06-02T07:43:48.0130000Z</dcterms:modified>
</coreProperties>
</file>