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B12C155-1B47-401F-8C53-B3C8CDBB26C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532080"/>
            <a:ext cx="10971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1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2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3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4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5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6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7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8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9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0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1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2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3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4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5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6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7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5667480" y="1321560"/>
            <a:ext cx="6522840" cy="326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"/>
          <p:cNvSpPr/>
          <p:nvPr/>
        </p:nvSpPr>
        <p:spPr>
          <a:xfrm>
            <a:off x="0" y="0"/>
            <a:ext cx="609408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0" name="kicker-marker"/>
          <p:cNvSpPr/>
          <p:nvPr/>
        </p:nvSpPr>
        <p:spPr>
          <a:xfrm>
            <a:off x="552600" y="138096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1" name=""/>
          <p:cNvSpPr/>
          <p:nvPr/>
        </p:nvSpPr>
        <p:spPr>
          <a:xfrm>
            <a:off x="619200" y="1457280"/>
            <a:ext cx="64800" cy="6480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2" name="kicker-label"/>
          <p:cNvSpPr/>
          <p:nvPr/>
        </p:nvSpPr>
        <p:spPr>
          <a:xfrm>
            <a:off x="762120" y="140004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SYSTEM OVERVIEW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52600" y="1857240"/>
            <a:ext cx="4951080" cy="779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ARGUS</a:t>
            </a:r>
            <a:endParaRPr b="0" lang="en-US" sz="4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71680" y="2781360"/>
            <a:ext cx="4951080" cy="3412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Local multimodal ad intelligence pipeline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71680" y="3476520"/>
            <a:ext cx="4341600" cy="531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Video ads become structured evidence, searchable records, campaigns, and read-only answers.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90400" y="4419720"/>
            <a:ext cx="91260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7" name=""/>
          <p:cNvSpPr/>
          <p:nvPr/>
        </p:nvSpPr>
        <p:spPr>
          <a:xfrm>
            <a:off x="676440" y="4457880"/>
            <a:ext cx="74124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local-first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714680" y="4419720"/>
            <a:ext cx="91260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9" name=""/>
          <p:cNvSpPr/>
          <p:nvPr/>
        </p:nvSpPr>
        <p:spPr>
          <a:xfrm>
            <a:off x="1800360" y="4457880"/>
            <a:ext cx="74124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OCR + VLM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2838600" y="4419720"/>
            <a:ext cx="91260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1" name=""/>
          <p:cNvSpPr/>
          <p:nvPr/>
        </p:nvSpPr>
        <p:spPr>
          <a:xfrm>
            <a:off x="2924280" y="4457880"/>
            <a:ext cx="74124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bfea"/>
                </a:solidFill>
                <a:effectLst/>
                <a:uFillTx/>
                <a:latin typeface="Aptos Mono"/>
                <a:ea typeface="Aptos Mono"/>
              </a:rPr>
              <a:t>FTS + search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962520" y="4419720"/>
            <a:ext cx="91260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f2b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3" name=""/>
          <p:cNvSpPr/>
          <p:nvPr/>
        </p:nvSpPr>
        <p:spPr>
          <a:xfrm>
            <a:off x="4048200" y="4457880"/>
            <a:ext cx="74124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f2b640"/>
                </a:solidFill>
                <a:effectLst/>
                <a:uFillTx/>
                <a:latin typeface="Aptos Mono"/>
                <a:ea typeface="Aptos Mono"/>
              </a:rPr>
              <a:t>read-only agent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71680" y="6172200"/>
            <a:ext cx="1009476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5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876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01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8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9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0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1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2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3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4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5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6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7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8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9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0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1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2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3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4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5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6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7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PURPOSE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The system turns ads into searchable evidence.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14440" y="1467000"/>
            <a:ext cx="9428040" cy="32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A repeatable workflow converts raw media into records that can be inspected, queried, grouped, and explained.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02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781200" y="2381400"/>
            <a:ext cx="2141280" cy="112212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3" name=""/>
          <p:cNvSpPr/>
          <p:nvPr/>
        </p:nvSpPr>
        <p:spPr>
          <a:xfrm>
            <a:off x="914400" y="2543040"/>
            <a:ext cx="74520" cy="74520"/>
          </a:xfrm>
          <a:prstGeom prst="rect">
            <a:avLst/>
          </a:prstGeom>
          <a:solidFill>
            <a:srgbClr val="00bfea"/>
          </a:solidFill>
          <a:ln w="0">
            <a:solidFill>
              <a:srgbClr val="00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4" name=""/>
          <p:cNvSpPr/>
          <p:nvPr/>
        </p:nvSpPr>
        <p:spPr>
          <a:xfrm>
            <a:off x="1066680" y="2495520"/>
            <a:ext cx="172224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bfea"/>
                </a:solidFill>
                <a:effectLst/>
                <a:uFillTx/>
                <a:latin typeface="Aptos Mono"/>
                <a:ea typeface="Aptos Mono"/>
              </a:rPr>
              <a:t>INPUT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52560" y="2724120"/>
            <a:ext cx="179856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Raw ad clip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52560" y="2990880"/>
            <a:ext cx="179856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MP4 / MOV / WebM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frames + audio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905280" y="2381400"/>
            <a:ext cx="2474640" cy="112212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8" name=""/>
          <p:cNvSpPr/>
          <p:nvPr/>
        </p:nvSpPr>
        <p:spPr>
          <a:xfrm>
            <a:off x="4038480" y="2543040"/>
            <a:ext cx="74520" cy="74520"/>
          </a:xfrm>
          <a:prstGeom prst="rect">
            <a:avLst/>
          </a:prstGeom>
          <a:solidFill>
            <a:srgbClr val="9b6bff"/>
          </a:solidFill>
          <a:ln w="0">
            <a:solidFill>
              <a:srgbClr val="9b6b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9" name=""/>
          <p:cNvSpPr/>
          <p:nvPr/>
        </p:nvSpPr>
        <p:spPr>
          <a:xfrm>
            <a:off x="4191120" y="2495520"/>
            <a:ext cx="20556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PIPELINE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076640" y="2724120"/>
            <a:ext cx="213192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Evidence pipeline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076640" y="2990880"/>
            <a:ext cx="213192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Transcript, visible text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rules + timestamps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VLM verification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7524720" y="2381400"/>
            <a:ext cx="2379600" cy="112212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83" name=""/>
          <p:cNvSpPr/>
          <p:nvPr/>
        </p:nvSpPr>
        <p:spPr>
          <a:xfrm>
            <a:off x="7658280" y="254304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84" name=""/>
          <p:cNvSpPr/>
          <p:nvPr/>
        </p:nvSpPr>
        <p:spPr>
          <a:xfrm>
            <a:off x="7810560" y="2495520"/>
            <a:ext cx="1960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OUTPUT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7696080" y="2724120"/>
            <a:ext cx="203652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Structured record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696080" y="2990880"/>
            <a:ext cx="203652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category, entities,  risk observations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campaigns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762120" y="4305240"/>
            <a:ext cx="1712880" cy="102708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88" name=""/>
          <p:cNvSpPr/>
          <p:nvPr/>
        </p:nvSpPr>
        <p:spPr>
          <a:xfrm>
            <a:off x="914400" y="4448160"/>
            <a:ext cx="140796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00bfea"/>
                </a:solidFill>
                <a:effectLst/>
                <a:uFillTx/>
                <a:latin typeface="Aptos Display"/>
                <a:ea typeface="Aptos Display"/>
              </a:rPr>
              <a:t>OCR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914400" y="4753080"/>
            <a:ext cx="140796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visible text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914400" y="4971960"/>
            <a:ext cx="1407960" cy="207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Feeds persisted ad intelligence.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2857680" y="4305240"/>
            <a:ext cx="1712880" cy="102708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92" name=""/>
          <p:cNvSpPr/>
          <p:nvPr/>
        </p:nvSpPr>
        <p:spPr>
          <a:xfrm>
            <a:off x="3009960" y="4448160"/>
            <a:ext cx="140796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9b6bff"/>
                </a:solidFill>
                <a:effectLst/>
                <a:uFillTx/>
                <a:latin typeface="Aptos Display"/>
                <a:ea typeface="Aptos Display"/>
              </a:rPr>
              <a:t>VLM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009960" y="4753080"/>
            <a:ext cx="140796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semantic check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009960" y="4971960"/>
            <a:ext cx="1407960" cy="207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Feeds persisted ad intelligence.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4952880" y="4305240"/>
            <a:ext cx="1712880" cy="102708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96" name=""/>
          <p:cNvSpPr/>
          <p:nvPr/>
        </p:nvSpPr>
        <p:spPr>
          <a:xfrm>
            <a:off x="5105520" y="4448160"/>
            <a:ext cx="140796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00d8a4"/>
                </a:solidFill>
                <a:effectLst/>
                <a:uFillTx/>
                <a:latin typeface="Aptos Display"/>
                <a:ea typeface="Aptos Display"/>
              </a:rPr>
              <a:t>FTS5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105520" y="4753080"/>
            <a:ext cx="140796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keyword search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5105520" y="4971960"/>
            <a:ext cx="1407960" cy="207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Feeds persisted ad intelligence.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7048440" y="4305240"/>
            <a:ext cx="1712880" cy="1027080"/>
          </a:xfrm>
          <a:prstGeom prst="rect">
            <a:avLst/>
          </a:prstGeom>
          <a:solidFill>
            <a:srgbClr val="111821"/>
          </a:solidFill>
          <a:ln w="9525">
            <a:solidFill>
              <a:srgbClr val="f2b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00" name=""/>
          <p:cNvSpPr/>
          <p:nvPr/>
        </p:nvSpPr>
        <p:spPr>
          <a:xfrm>
            <a:off x="7201080" y="4448160"/>
            <a:ext cx="140796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f2b640"/>
                </a:solidFill>
                <a:effectLst/>
                <a:uFillTx/>
                <a:latin typeface="Aptos Display"/>
                <a:ea typeface="Aptos Display"/>
              </a:rPr>
              <a:t>Agent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201080" y="4753080"/>
            <a:ext cx="140796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read-only tools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7201080" y="4971960"/>
            <a:ext cx="1407960" cy="207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Feeds persisted ad intelligence.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9524880" y="4210200"/>
            <a:ext cx="1617480" cy="1179360"/>
          </a:xfrm>
          <a:prstGeom prst="rect">
            <a:avLst/>
          </a:prstGeom>
          <a:solidFill>
            <a:srgbClr val="111821"/>
          </a:solidFill>
          <a:ln w="9525">
            <a:solidFill>
              <a:srgbClr val="4a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04" name=""/>
          <p:cNvSpPr/>
          <p:nvPr/>
        </p:nvSpPr>
        <p:spPr>
          <a:xfrm>
            <a:off x="9658440" y="4371840"/>
            <a:ext cx="74520" cy="74520"/>
          </a:xfrm>
          <a:prstGeom prst="rect">
            <a:avLst/>
          </a:prstGeom>
          <a:solidFill>
            <a:srgbClr val="4ab3ff"/>
          </a:solidFill>
          <a:ln w="0">
            <a:solidFill>
              <a:srgbClr val="4ab3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05" name=""/>
          <p:cNvSpPr/>
          <p:nvPr/>
        </p:nvSpPr>
        <p:spPr>
          <a:xfrm>
            <a:off x="9810720" y="4324320"/>
            <a:ext cx="119844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4ab3ff"/>
                </a:solidFill>
                <a:effectLst/>
                <a:uFillTx/>
                <a:latin typeface="Aptos Mono"/>
                <a:ea typeface="Aptos Mono"/>
              </a:rPr>
              <a:t>RESULT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9696600" y="4552920"/>
            <a:ext cx="1274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Analyst use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9696600" y="4819680"/>
            <a:ext cx="1274400" cy="417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inspect records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compare ads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ask questions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09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10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11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12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13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14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15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16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17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18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19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20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22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23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26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27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28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PIPELINE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Each job moves through observable processing stages.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14440" y="1467000"/>
            <a:ext cx="9428040" cy="32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Progress events, cached artifacts, and terminal status make the runtime easier to debug and explain.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03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85800" y="2209680"/>
            <a:ext cx="1941480" cy="106488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34" name=""/>
          <p:cNvSpPr/>
          <p:nvPr/>
        </p:nvSpPr>
        <p:spPr>
          <a:xfrm>
            <a:off x="819000" y="2371680"/>
            <a:ext cx="74520" cy="74520"/>
          </a:xfrm>
          <a:prstGeom prst="rect">
            <a:avLst/>
          </a:prstGeom>
          <a:solidFill>
            <a:srgbClr val="00bfea"/>
          </a:solidFill>
          <a:ln w="0">
            <a:solidFill>
              <a:srgbClr val="00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35" name=""/>
          <p:cNvSpPr/>
          <p:nvPr/>
        </p:nvSpPr>
        <p:spPr>
          <a:xfrm>
            <a:off x="971640" y="2324160"/>
            <a:ext cx="1522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bfea"/>
                </a:solidFill>
                <a:effectLst/>
                <a:uFillTx/>
                <a:latin typeface="Aptos Mono"/>
                <a:ea typeface="Aptos Mono"/>
              </a:rPr>
              <a:t>STEP 1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857160" y="2552760"/>
            <a:ext cx="1598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Upload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857160" y="2819520"/>
            <a:ext cx="1598400" cy="30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Create job and store the source file.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3009960" y="2209680"/>
            <a:ext cx="1941480" cy="106488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39" name=""/>
          <p:cNvSpPr/>
          <p:nvPr/>
        </p:nvSpPr>
        <p:spPr>
          <a:xfrm>
            <a:off x="3143160" y="2371680"/>
            <a:ext cx="74520" cy="74520"/>
          </a:xfrm>
          <a:prstGeom prst="rect">
            <a:avLst/>
          </a:prstGeom>
          <a:solidFill>
            <a:srgbClr val="00bfea"/>
          </a:solidFill>
          <a:ln w="0">
            <a:solidFill>
              <a:srgbClr val="00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40" name=""/>
          <p:cNvSpPr/>
          <p:nvPr/>
        </p:nvSpPr>
        <p:spPr>
          <a:xfrm>
            <a:off x="3295800" y="2324160"/>
            <a:ext cx="1522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bfea"/>
                </a:solidFill>
                <a:effectLst/>
                <a:uFillTx/>
                <a:latin typeface="Aptos Mono"/>
                <a:ea typeface="Aptos Mono"/>
              </a:rPr>
              <a:t>STEP 2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181320" y="2552760"/>
            <a:ext cx="1598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Ingest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181320" y="2819520"/>
            <a:ext cx="1598400" cy="30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Extract frames, audio, and transcript.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5334120" y="2209680"/>
            <a:ext cx="1941480" cy="106488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44" name=""/>
          <p:cNvSpPr/>
          <p:nvPr/>
        </p:nvSpPr>
        <p:spPr>
          <a:xfrm>
            <a:off x="5467320" y="237168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45" name=""/>
          <p:cNvSpPr/>
          <p:nvPr/>
        </p:nvSpPr>
        <p:spPr>
          <a:xfrm>
            <a:off x="5619600" y="2324160"/>
            <a:ext cx="1522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STEP 3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5505480" y="2552760"/>
            <a:ext cx="1598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Evidence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5505480" y="2819520"/>
            <a:ext cx="1598400" cy="30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Collect OCR, timestamps, and rule matches.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7658280" y="2209680"/>
            <a:ext cx="1941480" cy="106488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49" name=""/>
          <p:cNvSpPr/>
          <p:nvPr/>
        </p:nvSpPr>
        <p:spPr>
          <a:xfrm>
            <a:off x="7791480" y="2371680"/>
            <a:ext cx="74520" cy="74520"/>
          </a:xfrm>
          <a:prstGeom prst="rect">
            <a:avLst/>
          </a:prstGeom>
          <a:solidFill>
            <a:srgbClr val="9b6bff"/>
          </a:solidFill>
          <a:ln w="0">
            <a:solidFill>
              <a:srgbClr val="9b6b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50" name=""/>
          <p:cNvSpPr/>
          <p:nvPr/>
        </p:nvSpPr>
        <p:spPr>
          <a:xfrm>
            <a:off x="7943760" y="2324160"/>
            <a:ext cx="1522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STEP 4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7829640" y="2552760"/>
            <a:ext cx="1598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VLM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7829640" y="2819520"/>
            <a:ext cx="1598400" cy="30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Verify evidence and produce structured output.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85800" y="3943440"/>
            <a:ext cx="1941480" cy="1064880"/>
          </a:xfrm>
          <a:prstGeom prst="rect">
            <a:avLst/>
          </a:prstGeom>
          <a:solidFill>
            <a:srgbClr val="111821"/>
          </a:solidFill>
          <a:ln w="9525">
            <a:solidFill>
              <a:srgbClr val="ff5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54" name=""/>
          <p:cNvSpPr/>
          <p:nvPr/>
        </p:nvSpPr>
        <p:spPr>
          <a:xfrm>
            <a:off x="819000" y="410544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55" name=""/>
          <p:cNvSpPr/>
          <p:nvPr/>
        </p:nvSpPr>
        <p:spPr>
          <a:xfrm>
            <a:off x="971640" y="4057560"/>
            <a:ext cx="1522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ff5c86"/>
                </a:solidFill>
                <a:effectLst/>
                <a:uFillTx/>
                <a:latin typeface="Aptos Mono"/>
                <a:ea typeface="Aptos Mono"/>
              </a:rPr>
              <a:t>STEP 5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857160" y="4286160"/>
            <a:ext cx="1598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Persist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857160" y="4552920"/>
            <a:ext cx="1598400" cy="30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Write records, evidence, entities, and indexes.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009960" y="3943440"/>
            <a:ext cx="1941480" cy="106488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59" name=""/>
          <p:cNvSpPr/>
          <p:nvPr/>
        </p:nvSpPr>
        <p:spPr>
          <a:xfrm>
            <a:off x="3143160" y="410544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60" name=""/>
          <p:cNvSpPr/>
          <p:nvPr/>
        </p:nvSpPr>
        <p:spPr>
          <a:xfrm>
            <a:off x="3295800" y="4057560"/>
            <a:ext cx="1522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STEP 6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3181320" y="4286160"/>
            <a:ext cx="1598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Library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3181320" y="4552920"/>
            <a:ext cx="1598400" cy="30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Open the completed ad record.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5334120" y="3943440"/>
            <a:ext cx="1941480" cy="106488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64" name=""/>
          <p:cNvSpPr/>
          <p:nvPr/>
        </p:nvSpPr>
        <p:spPr>
          <a:xfrm>
            <a:off x="5467320" y="4105440"/>
            <a:ext cx="74520" cy="74520"/>
          </a:xfrm>
          <a:prstGeom prst="rect">
            <a:avLst/>
          </a:prstGeom>
          <a:solidFill>
            <a:srgbClr val="00bfea"/>
          </a:solidFill>
          <a:ln w="0">
            <a:solidFill>
              <a:srgbClr val="00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65" name=""/>
          <p:cNvSpPr/>
          <p:nvPr/>
        </p:nvSpPr>
        <p:spPr>
          <a:xfrm>
            <a:off x="5619600" y="4057560"/>
            <a:ext cx="1522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bfea"/>
                </a:solidFill>
                <a:effectLst/>
                <a:uFillTx/>
                <a:latin typeface="Aptos Mono"/>
                <a:ea typeface="Aptos Mono"/>
              </a:rPr>
              <a:t>STEP 7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5505480" y="4286160"/>
            <a:ext cx="1598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Search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5505480" y="4552920"/>
            <a:ext cx="1598400" cy="30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Find ads by keyword, filters, or similarity.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7658280" y="3943440"/>
            <a:ext cx="1941480" cy="1064880"/>
          </a:xfrm>
          <a:prstGeom prst="rect">
            <a:avLst/>
          </a:prstGeom>
          <a:solidFill>
            <a:srgbClr val="111821"/>
          </a:solidFill>
          <a:ln w="9525">
            <a:solidFill>
              <a:srgbClr val="f2b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69" name=""/>
          <p:cNvSpPr/>
          <p:nvPr/>
        </p:nvSpPr>
        <p:spPr>
          <a:xfrm>
            <a:off x="7791480" y="410544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70" name=""/>
          <p:cNvSpPr/>
          <p:nvPr/>
        </p:nvSpPr>
        <p:spPr>
          <a:xfrm>
            <a:off x="7943760" y="4057560"/>
            <a:ext cx="1522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f2b640"/>
                </a:solidFill>
                <a:effectLst/>
                <a:uFillTx/>
                <a:latin typeface="Aptos Mono"/>
                <a:ea typeface="Aptos Mono"/>
              </a:rPr>
              <a:t>STEP 8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7829640" y="4286160"/>
            <a:ext cx="1598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Agent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7829640" y="4552920"/>
            <a:ext cx="1598400" cy="30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Answer read-only questions through tools.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2629080" y="2743200"/>
            <a:ext cx="37908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74" name=""/>
          <p:cNvSpPr/>
          <p:nvPr/>
        </p:nvSpPr>
        <p:spPr>
          <a:xfrm>
            <a:off x="4952880" y="2743200"/>
            <a:ext cx="37908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75" name=""/>
          <p:cNvSpPr/>
          <p:nvPr/>
        </p:nvSpPr>
        <p:spPr>
          <a:xfrm>
            <a:off x="7277040" y="2743200"/>
            <a:ext cx="37908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76" name=""/>
          <p:cNvSpPr/>
          <p:nvPr/>
        </p:nvSpPr>
        <p:spPr>
          <a:xfrm>
            <a:off x="2629080" y="4476600"/>
            <a:ext cx="37908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77" name=""/>
          <p:cNvSpPr/>
          <p:nvPr/>
        </p:nvSpPr>
        <p:spPr>
          <a:xfrm>
            <a:off x="4952880" y="4476600"/>
            <a:ext cx="37908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78" name=""/>
          <p:cNvSpPr/>
          <p:nvPr/>
        </p:nvSpPr>
        <p:spPr>
          <a:xfrm>
            <a:off x="7277040" y="4476600"/>
            <a:ext cx="37908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79" name=""/>
          <p:cNvSpPr/>
          <p:nvPr/>
        </p:nvSpPr>
        <p:spPr>
          <a:xfrm>
            <a:off x="8629560" y="3276720"/>
            <a:ext cx="17280" cy="66492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80" name=""/>
          <p:cNvSpPr/>
          <p:nvPr/>
        </p:nvSpPr>
        <p:spPr>
          <a:xfrm>
            <a:off x="1619280" y="5524560"/>
            <a:ext cx="8332560" cy="417240"/>
          </a:xfrm>
          <a:prstGeom prst="rect">
            <a:avLst/>
          </a:prstGeom>
          <a:solidFill>
            <a:srgbClr val="151d28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81" name=""/>
          <p:cNvSpPr/>
          <p:nvPr/>
        </p:nvSpPr>
        <p:spPr>
          <a:xfrm>
            <a:off x="1886040" y="5648400"/>
            <a:ext cx="780876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Operational behavior: warnings and fatal errors are visible, and completed artifacts can be reused on rerun.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83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84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85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86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87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88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89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90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91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92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93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94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95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97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98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199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00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01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9b6bff"/>
          </a:solidFill>
          <a:ln w="0">
            <a:solidFill>
              <a:srgbClr val="9b6b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02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AD INTELLIGENCE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ARGUS turns each ad into structured metadata for review, search, comparison, and reporting.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514440" y="1734120"/>
            <a:ext cx="9428040" cy="32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Categories, taxonomy labels, observation tags, and marketing entities are stored for analysis and retrieval.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04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685800" y="2171880"/>
            <a:ext cx="3027240" cy="119844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08" name=""/>
          <p:cNvSpPr/>
          <p:nvPr/>
        </p:nvSpPr>
        <p:spPr>
          <a:xfrm>
            <a:off x="838080" y="2314440"/>
            <a:ext cx="272232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9b6bff"/>
                </a:solidFill>
                <a:effectLst/>
                <a:uFillTx/>
                <a:latin typeface="Aptos Display"/>
                <a:ea typeface="Aptos Display"/>
              </a:rPr>
              <a:t>Category + taxonomy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838080" y="2600280"/>
            <a:ext cx="2722320" cy="607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Primary category, sensitive-category marker, IAB product taxonomy, and secondary labels.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4352760" y="2171880"/>
            <a:ext cx="3027240" cy="1198440"/>
          </a:xfrm>
          <a:prstGeom prst="rect">
            <a:avLst/>
          </a:prstGeom>
          <a:solidFill>
            <a:srgbClr val="111821"/>
          </a:solidFill>
          <a:ln w="9525">
            <a:solidFill>
              <a:srgbClr val="f2b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11" name=""/>
          <p:cNvSpPr/>
          <p:nvPr/>
        </p:nvSpPr>
        <p:spPr>
          <a:xfrm>
            <a:off x="4505400" y="2314440"/>
            <a:ext cx="272232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2b640"/>
                </a:solidFill>
                <a:effectLst/>
                <a:uFillTx/>
                <a:latin typeface="Aptos Display"/>
                <a:ea typeface="Aptos Display"/>
              </a:rPr>
              <a:t>Observation tags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4505400" y="2600280"/>
            <a:ext cx="2722320" cy="607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Descriptive tags such as urgency, before/after claims, or social proof tactics.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8020080" y="2171880"/>
            <a:ext cx="3027240" cy="119844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14" name=""/>
          <p:cNvSpPr/>
          <p:nvPr/>
        </p:nvSpPr>
        <p:spPr>
          <a:xfrm>
            <a:off x="8172360" y="2314440"/>
            <a:ext cx="272232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d8a4"/>
                </a:solidFill>
                <a:effectLst/>
                <a:uFillTx/>
                <a:latin typeface="Aptos Display"/>
                <a:ea typeface="Aptos Display"/>
              </a:rPr>
              <a:t>Marketing entities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8172360" y="2600280"/>
            <a:ext cx="2722320" cy="607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Brand, advertiser, products, prices, offers, CTAs, disclaimers, badges, and format.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85800" y="3790800"/>
            <a:ext cx="3027240" cy="119844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17" name=""/>
          <p:cNvSpPr/>
          <p:nvPr/>
        </p:nvSpPr>
        <p:spPr>
          <a:xfrm>
            <a:off x="838080" y="3933720"/>
            <a:ext cx="272232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bfea"/>
                </a:solidFill>
                <a:effectLst/>
                <a:uFillTx/>
                <a:latin typeface="Aptos Display"/>
                <a:ea typeface="Aptos Display"/>
              </a:rPr>
              <a:t>Evidence trail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838080" y="4219560"/>
            <a:ext cx="2722320" cy="607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Every claim points back to a frame timestamp, OCR region, transcript segment, rule, or VLM note.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4352760" y="3790800"/>
            <a:ext cx="3027240" cy="1198440"/>
          </a:xfrm>
          <a:prstGeom prst="rect">
            <a:avLst/>
          </a:prstGeom>
          <a:solidFill>
            <a:srgbClr val="111821"/>
          </a:solidFill>
          <a:ln w="9525">
            <a:solidFill>
              <a:srgbClr val="ff5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20" name=""/>
          <p:cNvSpPr/>
          <p:nvPr/>
        </p:nvSpPr>
        <p:spPr>
          <a:xfrm>
            <a:off x="4505400" y="3933720"/>
            <a:ext cx="272232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5c86"/>
                </a:solidFill>
                <a:effectLst/>
                <a:uFillTx/>
                <a:latin typeface="Aptos Display"/>
                <a:ea typeface="Aptos Display"/>
              </a:rPr>
              <a:t>Quality notes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4505400" y="4219560"/>
            <a:ext cx="2722320" cy="607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OCR quality, possible text misses, conflicts, and model uncertainty are retained for inspection.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8020080" y="3790800"/>
            <a:ext cx="3027240" cy="1198440"/>
          </a:xfrm>
          <a:prstGeom prst="rect">
            <a:avLst/>
          </a:prstGeom>
          <a:solidFill>
            <a:srgbClr val="111821"/>
          </a:solidFill>
          <a:ln w="9525">
            <a:solidFill>
              <a:srgbClr val="4a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23" name=""/>
          <p:cNvSpPr/>
          <p:nvPr/>
        </p:nvSpPr>
        <p:spPr>
          <a:xfrm>
            <a:off x="8172360" y="3933720"/>
            <a:ext cx="272232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ab3ff"/>
                </a:solidFill>
                <a:effectLst/>
                <a:uFillTx/>
                <a:latin typeface="Aptos Display"/>
                <a:ea typeface="Aptos Display"/>
              </a:rPr>
              <a:t>Related ads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8172360" y="4219560"/>
            <a:ext cx="2722320" cy="607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Exact duplicates, near duplicates, and campaign variants can be linked back to the record.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1809720" y="5600880"/>
            <a:ext cx="8570880" cy="571320"/>
          </a:xfrm>
          <a:prstGeom prst="rect">
            <a:avLst/>
          </a:prstGeom>
          <a:solidFill>
            <a:srgbClr val="151d28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26" name=""/>
          <p:cNvSpPr/>
          <p:nvPr/>
        </p:nvSpPr>
        <p:spPr>
          <a:xfrm>
            <a:off x="2095560" y="5734080"/>
            <a:ext cx="7999200" cy="207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The practical result: ads can be inspected, filtered, compared, and explained without relying on a single opaque model response.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28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29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30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31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32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33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34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35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36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37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38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39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40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41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42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43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44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45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46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47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EVIDENCE FIRST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The VLM verifies an evidence bundle, not a blank prompt.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514440" y="1789920"/>
            <a:ext cx="9428040" cy="32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Frames, visible text, transcript, rules, and timestamps are preserved before the model call.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05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876240" y="2381400"/>
            <a:ext cx="2379600" cy="100800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53" name=""/>
          <p:cNvSpPr/>
          <p:nvPr/>
        </p:nvSpPr>
        <p:spPr>
          <a:xfrm>
            <a:off x="1009800" y="2543040"/>
            <a:ext cx="74520" cy="74520"/>
          </a:xfrm>
          <a:prstGeom prst="rect">
            <a:avLst/>
          </a:prstGeom>
          <a:solidFill>
            <a:srgbClr val="00bfea"/>
          </a:solidFill>
          <a:ln w="0">
            <a:solidFill>
              <a:srgbClr val="00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54" name=""/>
          <p:cNvSpPr/>
          <p:nvPr/>
        </p:nvSpPr>
        <p:spPr>
          <a:xfrm>
            <a:off x="1162080" y="2495520"/>
            <a:ext cx="1960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bfea"/>
                </a:solidFill>
                <a:effectLst/>
                <a:uFillTx/>
                <a:latin typeface="Aptos Mono"/>
                <a:ea typeface="Aptos Mono"/>
              </a:rPr>
              <a:t>VISUAL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1047600" y="2724120"/>
            <a:ext cx="203652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Frames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1047600" y="2990880"/>
            <a:ext cx="203652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selected keyframes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blur and dedup filtered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876240" y="3905280"/>
            <a:ext cx="2379600" cy="100800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58" name=""/>
          <p:cNvSpPr/>
          <p:nvPr/>
        </p:nvSpPr>
        <p:spPr>
          <a:xfrm>
            <a:off x="1009800" y="406728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59" name=""/>
          <p:cNvSpPr/>
          <p:nvPr/>
        </p:nvSpPr>
        <p:spPr>
          <a:xfrm>
            <a:off x="1162080" y="4019400"/>
            <a:ext cx="1960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TEXT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1047600" y="4248000"/>
            <a:ext cx="203652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Text signals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1047600" y="4514760"/>
            <a:ext cx="203652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OCR + transcript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raw sources preserved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4524480" y="3124080"/>
            <a:ext cx="2474640" cy="114120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63" name=""/>
          <p:cNvSpPr/>
          <p:nvPr/>
        </p:nvSpPr>
        <p:spPr>
          <a:xfrm>
            <a:off x="4657680" y="3286080"/>
            <a:ext cx="74520" cy="74520"/>
          </a:xfrm>
          <a:prstGeom prst="rect">
            <a:avLst/>
          </a:prstGeom>
          <a:solidFill>
            <a:srgbClr val="9b6bff"/>
          </a:solidFill>
          <a:ln w="0">
            <a:solidFill>
              <a:srgbClr val="9b6b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64" name=""/>
          <p:cNvSpPr/>
          <p:nvPr/>
        </p:nvSpPr>
        <p:spPr>
          <a:xfrm>
            <a:off x="4809960" y="3238560"/>
            <a:ext cx="20556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BUNDLE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4695840" y="3467160"/>
            <a:ext cx="213192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Evidence bundle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4695840" y="3733920"/>
            <a:ext cx="2131920" cy="379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chronological context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rules + metadata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selected images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8191440" y="2381400"/>
            <a:ext cx="2265120" cy="1008000"/>
          </a:xfrm>
          <a:prstGeom prst="rect">
            <a:avLst/>
          </a:prstGeom>
          <a:solidFill>
            <a:srgbClr val="111821"/>
          </a:solidFill>
          <a:ln w="9525">
            <a:solidFill>
              <a:srgbClr val="f2b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68" name=""/>
          <p:cNvSpPr/>
          <p:nvPr/>
        </p:nvSpPr>
        <p:spPr>
          <a:xfrm>
            <a:off x="8325000" y="254304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69" name=""/>
          <p:cNvSpPr/>
          <p:nvPr/>
        </p:nvSpPr>
        <p:spPr>
          <a:xfrm>
            <a:off x="8477280" y="2495520"/>
            <a:ext cx="1846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f2b640"/>
                </a:solidFill>
                <a:effectLst/>
                <a:uFillTx/>
                <a:latin typeface="Aptos Mono"/>
                <a:ea typeface="Aptos Mono"/>
              </a:rPr>
              <a:t>MODEL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8362800" y="2724120"/>
            <a:ext cx="1922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VLM verifier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8362800" y="2990880"/>
            <a:ext cx="1922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category, entities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conflicts, evidence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8191440" y="3905280"/>
            <a:ext cx="2265120" cy="1008000"/>
          </a:xfrm>
          <a:prstGeom prst="rect">
            <a:avLst/>
          </a:prstGeom>
          <a:solidFill>
            <a:srgbClr val="111821"/>
          </a:solidFill>
          <a:ln w="9525">
            <a:solidFill>
              <a:srgbClr val="ff5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73" name=""/>
          <p:cNvSpPr/>
          <p:nvPr/>
        </p:nvSpPr>
        <p:spPr>
          <a:xfrm>
            <a:off x="8325000" y="406728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74" name=""/>
          <p:cNvSpPr/>
          <p:nvPr/>
        </p:nvSpPr>
        <p:spPr>
          <a:xfrm>
            <a:off x="8477280" y="4019400"/>
            <a:ext cx="1846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ff5c86"/>
                </a:solidFill>
                <a:effectLst/>
                <a:uFillTx/>
                <a:latin typeface="Aptos Mono"/>
                <a:ea typeface="Aptos Mono"/>
              </a:rPr>
              <a:t>CHECK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8362800" y="4248000"/>
            <a:ext cx="1922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Validation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8362800" y="4514760"/>
            <a:ext cx="1922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allowed labels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observed fields only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10744200" y="3143160"/>
            <a:ext cx="1293480" cy="1141200"/>
          </a:xfrm>
          <a:prstGeom prst="rect">
            <a:avLst/>
          </a:prstGeom>
          <a:solidFill>
            <a:srgbClr val="111821"/>
          </a:solidFill>
          <a:ln w="9525">
            <a:solidFill>
              <a:srgbClr val="4a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78" name=""/>
          <p:cNvSpPr/>
          <p:nvPr/>
        </p:nvSpPr>
        <p:spPr>
          <a:xfrm>
            <a:off x="10877400" y="3305160"/>
            <a:ext cx="74520" cy="74520"/>
          </a:xfrm>
          <a:prstGeom prst="rect">
            <a:avLst/>
          </a:prstGeom>
          <a:solidFill>
            <a:srgbClr val="4ab3ff"/>
          </a:solidFill>
          <a:ln w="0">
            <a:solidFill>
              <a:srgbClr val="4ab3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79" name=""/>
          <p:cNvSpPr/>
          <p:nvPr/>
        </p:nvSpPr>
        <p:spPr>
          <a:xfrm>
            <a:off x="11030040" y="3257640"/>
            <a:ext cx="87444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4ab3ff"/>
                </a:solidFill>
                <a:effectLst/>
                <a:uFillTx/>
                <a:latin typeface="Aptos Mono"/>
                <a:ea typeface="Aptos Mono"/>
              </a:rPr>
              <a:t>JSON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10915560" y="3486240"/>
            <a:ext cx="95076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Final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10915560" y="3753000"/>
            <a:ext cx="950760" cy="379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category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risk tags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entities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evidence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3257640" y="2886120"/>
            <a:ext cx="63144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83" name=""/>
          <p:cNvSpPr/>
          <p:nvPr/>
        </p:nvSpPr>
        <p:spPr>
          <a:xfrm>
            <a:off x="3890880" y="2886120"/>
            <a:ext cx="17280" cy="80784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84" name=""/>
          <p:cNvSpPr/>
          <p:nvPr/>
        </p:nvSpPr>
        <p:spPr>
          <a:xfrm>
            <a:off x="3890880" y="3695760"/>
            <a:ext cx="63144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85" name=""/>
          <p:cNvSpPr/>
          <p:nvPr/>
        </p:nvSpPr>
        <p:spPr>
          <a:xfrm>
            <a:off x="3257640" y="4410000"/>
            <a:ext cx="63144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86" name=""/>
          <p:cNvSpPr/>
          <p:nvPr/>
        </p:nvSpPr>
        <p:spPr>
          <a:xfrm>
            <a:off x="3890880" y="3695760"/>
            <a:ext cx="17280" cy="71244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87" name=""/>
          <p:cNvSpPr/>
          <p:nvPr/>
        </p:nvSpPr>
        <p:spPr>
          <a:xfrm>
            <a:off x="3890880" y="3695760"/>
            <a:ext cx="63144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88" name=""/>
          <p:cNvSpPr/>
          <p:nvPr/>
        </p:nvSpPr>
        <p:spPr>
          <a:xfrm>
            <a:off x="7000920" y="3695760"/>
            <a:ext cx="59364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89" name=""/>
          <p:cNvSpPr/>
          <p:nvPr/>
        </p:nvSpPr>
        <p:spPr>
          <a:xfrm>
            <a:off x="7596360" y="2886120"/>
            <a:ext cx="17280" cy="80784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90" name=""/>
          <p:cNvSpPr/>
          <p:nvPr/>
        </p:nvSpPr>
        <p:spPr>
          <a:xfrm>
            <a:off x="7596360" y="2886120"/>
            <a:ext cx="59364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91" name=""/>
          <p:cNvSpPr/>
          <p:nvPr/>
        </p:nvSpPr>
        <p:spPr>
          <a:xfrm>
            <a:off x="7000920" y="3695760"/>
            <a:ext cx="59364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92" name=""/>
          <p:cNvSpPr/>
          <p:nvPr/>
        </p:nvSpPr>
        <p:spPr>
          <a:xfrm>
            <a:off x="7596360" y="3695760"/>
            <a:ext cx="17280" cy="71244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93" name=""/>
          <p:cNvSpPr/>
          <p:nvPr/>
        </p:nvSpPr>
        <p:spPr>
          <a:xfrm>
            <a:off x="7596360" y="4410000"/>
            <a:ext cx="59364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95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96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97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98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299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00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01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02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03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04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12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13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14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MODULE 01 - UPLOAD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Upload creates an observable pipeline job.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514440" y="1467000"/>
            <a:ext cx="9428040" cy="32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The first screen covers drag/drop, queue state, progress, cancel, and terminal error handling.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06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743040" y="2457360"/>
            <a:ext cx="55440" cy="5544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20" name=""/>
          <p:cNvSpPr/>
          <p:nvPr/>
        </p:nvSpPr>
        <p:spPr>
          <a:xfrm>
            <a:off x="914400" y="2381400"/>
            <a:ext cx="325584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MP4 / MOV / WebM becomes a pipeline job.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743040" y="2819520"/>
            <a:ext cx="55440" cy="5544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22" name=""/>
          <p:cNvSpPr/>
          <p:nvPr/>
        </p:nvSpPr>
        <p:spPr>
          <a:xfrm>
            <a:off x="914400" y="2743200"/>
            <a:ext cx="325584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SSE progress shows stages and fatal errors.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743040" y="3181320"/>
            <a:ext cx="55440" cy="5544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24" name=""/>
          <p:cNvSpPr/>
          <p:nvPr/>
        </p:nvSpPr>
        <p:spPr>
          <a:xfrm>
            <a:off x="914400" y="3105000"/>
            <a:ext cx="325584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Recent jobs reopen completed analyses.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743040" y="3543480"/>
            <a:ext cx="55440" cy="5544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26" name=""/>
          <p:cNvSpPr/>
          <p:nvPr/>
        </p:nvSpPr>
        <p:spPr>
          <a:xfrm>
            <a:off x="914400" y="3467160"/>
            <a:ext cx="325584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Terminal logs expose runtime failures.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743040" y="4762440"/>
            <a:ext cx="3732120" cy="1245960"/>
          </a:xfrm>
          <a:prstGeom prst="rect">
            <a:avLst/>
          </a:prstGeom>
          <a:solidFill>
            <a:srgbClr val="080b10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28" name=""/>
          <p:cNvSpPr/>
          <p:nvPr/>
        </p:nvSpPr>
        <p:spPr>
          <a:xfrm>
            <a:off x="743040" y="4762440"/>
            <a:ext cx="3732120" cy="264960"/>
          </a:xfrm>
          <a:prstGeom prst="rect">
            <a:avLst/>
          </a:prstGeom>
          <a:solidFill>
            <a:srgbClr val="151a20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29" name=""/>
          <p:cNvSpPr/>
          <p:nvPr/>
        </p:nvSpPr>
        <p:spPr>
          <a:xfrm>
            <a:off x="876240" y="485784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30" name=""/>
          <p:cNvSpPr/>
          <p:nvPr/>
        </p:nvSpPr>
        <p:spPr>
          <a:xfrm>
            <a:off x="1028880" y="485784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31" name=""/>
          <p:cNvSpPr/>
          <p:nvPr/>
        </p:nvSpPr>
        <p:spPr>
          <a:xfrm>
            <a:off x="1181160" y="485784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32" name=""/>
          <p:cNvSpPr/>
          <p:nvPr/>
        </p:nvSpPr>
        <p:spPr>
          <a:xfrm>
            <a:off x="952560" y="5143680"/>
            <a:ext cx="3313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OK ingest: frames + audio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952560" y="5343480"/>
            <a:ext cx="3313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OK OCR: raw evidence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952560" y="5543640"/>
            <a:ext cx="3313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VLM classification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952560" y="5743440"/>
            <a:ext cx="33130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OK persist: records + index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5000760" y="2190600"/>
            <a:ext cx="6427440" cy="3903480"/>
          </a:xfrm>
          <a:prstGeom prst="rect">
            <a:avLst/>
          </a:prstGeom>
          <a:solidFill>
            <a:srgbClr val="0d131b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37" name=""/>
          <p:cNvSpPr/>
          <p:nvPr/>
        </p:nvSpPr>
        <p:spPr>
          <a:xfrm>
            <a:off x="5000760" y="2190600"/>
            <a:ext cx="6427440" cy="284040"/>
          </a:xfrm>
          <a:prstGeom prst="rect">
            <a:avLst/>
          </a:prstGeom>
          <a:solidFill>
            <a:srgbClr val="151a20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38" name=""/>
          <p:cNvSpPr/>
          <p:nvPr/>
        </p:nvSpPr>
        <p:spPr>
          <a:xfrm>
            <a:off x="5124600" y="229536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39" name=""/>
          <p:cNvSpPr/>
          <p:nvPr/>
        </p:nvSpPr>
        <p:spPr>
          <a:xfrm>
            <a:off x="5286240" y="229536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40" name=""/>
          <p:cNvSpPr/>
          <p:nvPr/>
        </p:nvSpPr>
        <p:spPr>
          <a:xfrm>
            <a:off x="5448240" y="229536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41" name=""/>
          <p:cNvSpPr/>
          <p:nvPr/>
        </p:nvSpPr>
        <p:spPr>
          <a:xfrm>
            <a:off x="5686560" y="2257560"/>
            <a:ext cx="5570280" cy="150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Upload module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2" name="" descr=""/>
          <p:cNvPicPr/>
          <p:nvPr/>
        </p:nvPicPr>
        <p:blipFill>
          <a:blip r:embed="rId1"/>
          <a:stretch/>
        </p:blipFill>
        <p:spPr>
          <a:xfrm>
            <a:off x="5334840" y="2486160"/>
            <a:ext cx="5758920" cy="359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44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45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46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47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48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49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50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51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52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53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54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55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56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57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60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61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62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63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MODULE 02 - LIBRARY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Library shows persisted evidence, not only a gallery.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514440" y="1467000"/>
            <a:ext cx="9428040" cy="32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Each ad record carries classification, entities, OCR, transcript, frames, campaigns, and related ads.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07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457200" y="2095560"/>
            <a:ext cx="7475400" cy="3998880"/>
          </a:xfrm>
          <a:prstGeom prst="rect">
            <a:avLst/>
          </a:prstGeom>
          <a:solidFill>
            <a:srgbClr val="0d131b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69" name=""/>
          <p:cNvSpPr/>
          <p:nvPr/>
        </p:nvSpPr>
        <p:spPr>
          <a:xfrm>
            <a:off x="457200" y="2095560"/>
            <a:ext cx="7475400" cy="284040"/>
          </a:xfrm>
          <a:prstGeom prst="rect">
            <a:avLst/>
          </a:prstGeom>
          <a:solidFill>
            <a:srgbClr val="151a20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70" name=""/>
          <p:cNvSpPr/>
          <p:nvPr/>
        </p:nvSpPr>
        <p:spPr>
          <a:xfrm>
            <a:off x="581040" y="220032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71" name=""/>
          <p:cNvSpPr/>
          <p:nvPr/>
        </p:nvSpPr>
        <p:spPr>
          <a:xfrm>
            <a:off x="743040" y="220032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72" name=""/>
          <p:cNvSpPr/>
          <p:nvPr/>
        </p:nvSpPr>
        <p:spPr>
          <a:xfrm>
            <a:off x="905040" y="220032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73" name=""/>
          <p:cNvSpPr/>
          <p:nvPr/>
        </p:nvSpPr>
        <p:spPr>
          <a:xfrm>
            <a:off x="1143000" y="2162160"/>
            <a:ext cx="6618240" cy="150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Library detail with selected ad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4" name="" descr=""/>
          <p:cNvPicPr/>
          <p:nvPr/>
        </p:nvPicPr>
        <p:blipFill>
          <a:blip r:embed="rId1"/>
          <a:stretch/>
        </p:blipFill>
        <p:spPr>
          <a:xfrm>
            <a:off x="1239120" y="2390760"/>
            <a:ext cx="5911200" cy="369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"/>
          <p:cNvSpPr/>
          <p:nvPr/>
        </p:nvSpPr>
        <p:spPr>
          <a:xfrm>
            <a:off x="8362800" y="2133720"/>
            <a:ext cx="3046320" cy="89352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76" name=""/>
          <p:cNvSpPr/>
          <p:nvPr/>
        </p:nvSpPr>
        <p:spPr>
          <a:xfrm>
            <a:off x="8515440" y="2276640"/>
            <a:ext cx="27414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d8a4"/>
                </a:solidFill>
                <a:effectLst/>
                <a:uFillTx/>
                <a:latin typeface="Aptos Display"/>
                <a:ea typeface="Aptos Display"/>
              </a:rPr>
              <a:t>Selected ad detail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8515440" y="2562120"/>
            <a:ext cx="2741400" cy="30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The right panel keeps video, category, taxonomy, brand data, and evidence together.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8362800" y="3257640"/>
            <a:ext cx="1427040" cy="117936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79" name=""/>
          <p:cNvSpPr/>
          <p:nvPr/>
        </p:nvSpPr>
        <p:spPr>
          <a:xfrm>
            <a:off x="8515440" y="3400560"/>
            <a:ext cx="112212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9b6bff"/>
                </a:solidFill>
                <a:effectLst/>
                <a:uFillTx/>
                <a:latin typeface="Aptos Display"/>
                <a:ea typeface="Aptos Display"/>
              </a:rPr>
              <a:t>Category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8515440" y="3705120"/>
            <a:ext cx="112212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automotive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8515440" y="3924360"/>
            <a:ext cx="112212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Confidence and secondary labels stay visible.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9982080" y="3257640"/>
            <a:ext cx="1447920" cy="117936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83" name=""/>
          <p:cNvSpPr/>
          <p:nvPr/>
        </p:nvSpPr>
        <p:spPr>
          <a:xfrm>
            <a:off x="10134720" y="3400560"/>
            <a:ext cx="129528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00bfea"/>
                </a:solidFill>
                <a:effectLst/>
                <a:uFillTx/>
                <a:latin typeface="Aptos Display"/>
                <a:ea typeface="Aptos Display"/>
              </a:rPr>
              <a:t>Taxonomy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10134720" y="3705120"/>
            <a:ext cx="112212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IAB product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10134720" y="3924360"/>
            <a:ext cx="112212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Product tree and depth are stored with the ad.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8362800" y="4705200"/>
            <a:ext cx="1427040" cy="117936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87" name=""/>
          <p:cNvSpPr/>
          <p:nvPr/>
        </p:nvSpPr>
        <p:spPr>
          <a:xfrm>
            <a:off x="8515440" y="4848120"/>
            <a:ext cx="112212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00d8a4"/>
                </a:solidFill>
                <a:effectLst/>
                <a:uFillTx/>
                <a:latin typeface="Aptos Display"/>
                <a:ea typeface="Aptos Display"/>
              </a:rPr>
              <a:t>Evidence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8515440" y="5153040"/>
            <a:ext cx="112212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timestamps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8515440" y="5372280"/>
            <a:ext cx="112212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Frames, transcript, OCR, and VLM notes remain inspectable.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9982080" y="4705200"/>
            <a:ext cx="1447920" cy="1179360"/>
          </a:xfrm>
          <a:prstGeom prst="rect">
            <a:avLst/>
          </a:prstGeom>
          <a:solidFill>
            <a:srgbClr val="111821"/>
          </a:solidFill>
          <a:ln w="9525">
            <a:solidFill>
              <a:srgbClr val="f2b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91" name=""/>
          <p:cNvSpPr/>
          <p:nvPr/>
        </p:nvSpPr>
        <p:spPr>
          <a:xfrm>
            <a:off x="10134720" y="4848120"/>
            <a:ext cx="112212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f2b640"/>
                </a:solidFill>
                <a:effectLst/>
                <a:uFillTx/>
                <a:latin typeface="Aptos Display"/>
                <a:ea typeface="Aptos Display"/>
              </a:rPr>
              <a:t>Entities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10134720" y="5153040"/>
            <a:ext cx="112212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brand + product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10134720" y="5372280"/>
            <a:ext cx="112212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Marketing fields feed search and agent answers.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8362800" y="6058080"/>
            <a:ext cx="304632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Inspection shows why the classification happened, not only the final label.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96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97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98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399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00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01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02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03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04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05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06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07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08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09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13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14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00bfea"/>
          </a:solidFill>
          <a:ln w="0">
            <a:solidFill>
              <a:srgbClr val="00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15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bfea"/>
                </a:solidFill>
                <a:effectLst/>
                <a:uFillTx/>
                <a:latin typeface="Aptos Mono"/>
                <a:ea typeface="Aptos Mono"/>
              </a:rPr>
              <a:t>MODULE 03 - SEARCH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Search combines exact words, filters, and semantic retrieval.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514440" y="1722600"/>
            <a:ext cx="9428040" cy="32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Results can come from keyword matches, text retrieval, visual retrieval, or hybrid ranking.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08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514440" y="2209680"/>
            <a:ext cx="6570360" cy="3865320"/>
          </a:xfrm>
          <a:prstGeom prst="rect">
            <a:avLst/>
          </a:prstGeom>
          <a:solidFill>
            <a:srgbClr val="0d131b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21" name=""/>
          <p:cNvSpPr/>
          <p:nvPr/>
        </p:nvSpPr>
        <p:spPr>
          <a:xfrm>
            <a:off x="514440" y="2209680"/>
            <a:ext cx="6570360" cy="284040"/>
          </a:xfrm>
          <a:prstGeom prst="rect">
            <a:avLst/>
          </a:prstGeom>
          <a:solidFill>
            <a:srgbClr val="151a20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22" name=""/>
          <p:cNvSpPr/>
          <p:nvPr/>
        </p:nvSpPr>
        <p:spPr>
          <a:xfrm>
            <a:off x="638280" y="231444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23" name=""/>
          <p:cNvSpPr/>
          <p:nvPr/>
        </p:nvSpPr>
        <p:spPr>
          <a:xfrm>
            <a:off x="800280" y="231444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24" name=""/>
          <p:cNvSpPr/>
          <p:nvPr/>
        </p:nvSpPr>
        <p:spPr>
          <a:xfrm>
            <a:off x="961920" y="231444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25" name=""/>
          <p:cNvSpPr/>
          <p:nvPr/>
        </p:nvSpPr>
        <p:spPr>
          <a:xfrm>
            <a:off x="1200240" y="2276640"/>
            <a:ext cx="5713200" cy="150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Search results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6" name="" descr=""/>
          <p:cNvPicPr/>
          <p:nvPr/>
        </p:nvPicPr>
        <p:blipFill>
          <a:blip r:embed="rId1"/>
          <a:stretch/>
        </p:blipFill>
        <p:spPr>
          <a:xfrm>
            <a:off x="650160" y="2505240"/>
            <a:ext cx="6298920" cy="356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"/>
          <p:cNvSpPr/>
          <p:nvPr/>
        </p:nvSpPr>
        <p:spPr>
          <a:xfrm>
            <a:off x="7715160" y="2305080"/>
            <a:ext cx="2855880" cy="83628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28" name=""/>
          <p:cNvSpPr/>
          <p:nvPr/>
        </p:nvSpPr>
        <p:spPr>
          <a:xfrm>
            <a:off x="7867800" y="2448000"/>
            <a:ext cx="255096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bfea"/>
                </a:solidFill>
                <a:effectLst/>
                <a:uFillTx/>
                <a:latin typeface="Aptos Display"/>
                <a:ea typeface="Aptos Display"/>
              </a:rPr>
              <a:t>Keyword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7867800" y="2733840"/>
            <a:ext cx="255096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FTS over brand, OCR, transcript, and entities.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7715160" y="3333600"/>
            <a:ext cx="2855880" cy="83628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31" name=""/>
          <p:cNvSpPr/>
          <p:nvPr/>
        </p:nvSpPr>
        <p:spPr>
          <a:xfrm>
            <a:off x="7867800" y="3476520"/>
            <a:ext cx="255096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d8a4"/>
                </a:solidFill>
                <a:effectLst/>
                <a:uFillTx/>
                <a:latin typeface="Aptos Display"/>
                <a:ea typeface="Aptos Display"/>
              </a:rPr>
              <a:t>Filters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7867800" y="3762360"/>
            <a:ext cx="255096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Category, brand, observation tags, campaign, and date.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7715160" y="4362480"/>
            <a:ext cx="2855880" cy="83628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34" name=""/>
          <p:cNvSpPr/>
          <p:nvPr/>
        </p:nvSpPr>
        <p:spPr>
          <a:xfrm>
            <a:off x="7867800" y="4505400"/>
            <a:ext cx="255096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9b6bff"/>
                </a:solidFill>
                <a:effectLst/>
                <a:uFillTx/>
                <a:latin typeface="Aptos Display"/>
                <a:ea typeface="Aptos Display"/>
              </a:rPr>
              <a:t>Similarity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7867800" y="4791240"/>
            <a:ext cx="255096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Find near-duplicate creatives and campaign variants.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7943760" y="5448240"/>
            <a:ext cx="277956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Find disclaimers, offers, and repeated claims.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7943760" y="5753160"/>
            <a:ext cx="277956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Compare ad variants across brands or campaigns.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7943760" y="6058080"/>
            <a:ext cx="277956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Open the exact record behind each search result.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7772400" y="5524560"/>
            <a:ext cx="55440" cy="5544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40" name=""/>
          <p:cNvSpPr/>
          <p:nvPr/>
        </p:nvSpPr>
        <p:spPr>
          <a:xfrm>
            <a:off x="7772400" y="5829480"/>
            <a:ext cx="55440" cy="5544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41" name=""/>
          <p:cNvSpPr/>
          <p:nvPr/>
        </p:nvSpPr>
        <p:spPr>
          <a:xfrm>
            <a:off x="7772400" y="6134040"/>
            <a:ext cx="55440" cy="5544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43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44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45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46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47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48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49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50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51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52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53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54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55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56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57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58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59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60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f2b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61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62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f2b640"/>
                </a:solidFill>
                <a:effectLst/>
                <a:uFillTx/>
                <a:latin typeface="Aptos Mono"/>
                <a:ea typeface="Aptos Mono"/>
              </a:rPr>
              <a:t>MODULE 04 - CAMPAIGNS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Campaigns group repeated ads and variants.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514440" y="1467000"/>
            <a:ext cx="9428040" cy="32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Exact duplicates, near-duplicate frames, and semantic similarity connect related ads.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09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704880" y="2247840"/>
            <a:ext cx="2855880" cy="106488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68" name=""/>
          <p:cNvSpPr/>
          <p:nvPr/>
        </p:nvSpPr>
        <p:spPr>
          <a:xfrm>
            <a:off x="857160" y="2390760"/>
            <a:ext cx="255096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9b6bff"/>
                </a:solidFill>
                <a:effectLst/>
                <a:uFillTx/>
                <a:latin typeface="Aptos Display"/>
                <a:ea typeface="Aptos Display"/>
              </a:rPr>
              <a:t>What grouping adds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857160" y="2676600"/>
            <a:ext cx="2550960" cy="47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Related ads appear as campaign logic: product, offer, runtime, and variant links.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704880" y="3676680"/>
            <a:ext cx="1255680" cy="87444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71" name=""/>
          <p:cNvSpPr/>
          <p:nvPr/>
        </p:nvSpPr>
        <p:spPr>
          <a:xfrm>
            <a:off x="857160" y="3819600"/>
            <a:ext cx="95076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bfea"/>
                </a:solidFill>
                <a:effectLst/>
                <a:uFillTx/>
                <a:latin typeface="Aptos Display"/>
                <a:ea typeface="Aptos Display"/>
              </a:rPr>
              <a:t>Exact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857160" y="4105440"/>
            <a:ext cx="95076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same upload hash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2190600" y="3676680"/>
            <a:ext cx="1255680" cy="87444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74" name=""/>
          <p:cNvSpPr/>
          <p:nvPr/>
        </p:nvSpPr>
        <p:spPr>
          <a:xfrm>
            <a:off x="2343240" y="3819600"/>
            <a:ext cx="95076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d8a4"/>
                </a:solidFill>
                <a:effectLst/>
                <a:uFillTx/>
                <a:latin typeface="Aptos Display"/>
                <a:ea typeface="Aptos Display"/>
              </a:rPr>
              <a:t>Near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2343240" y="4105440"/>
            <a:ext cx="95076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similar creative reuse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704880" y="4800600"/>
            <a:ext cx="1255680" cy="874440"/>
          </a:xfrm>
          <a:prstGeom prst="rect">
            <a:avLst/>
          </a:prstGeom>
          <a:solidFill>
            <a:srgbClr val="111821"/>
          </a:solidFill>
          <a:ln w="9525">
            <a:solidFill>
              <a:srgbClr val="f2b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77" name=""/>
          <p:cNvSpPr/>
          <p:nvPr/>
        </p:nvSpPr>
        <p:spPr>
          <a:xfrm>
            <a:off x="857160" y="4943520"/>
            <a:ext cx="95076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2b640"/>
                </a:solidFill>
                <a:effectLst/>
                <a:uFillTx/>
                <a:latin typeface="Aptos Display"/>
                <a:ea typeface="Aptos Display"/>
              </a:rPr>
              <a:t>Semantic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857160" y="5229360"/>
            <a:ext cx="95076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same campaign variants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2190600" y="4800600"/>
            <a:ext cx="1255680" cy="87444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80" name=""/>
          <p:cNvSpPr/>
          <p:nvPr/>
        </p:nvSpPr>
        <p:spPr>
          <a:xfrm>
            <a:off x="2343240" y="4943520"/>
            <a:ext cx="95076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9b6bff"/>
                </a:solidFill>
                <a:effectLst/>
                <a:uFillTx/>
                <a:latin typeface="Aptos Display"/>
                <a:ea typeface="Aptos Display"/>
              </a:rPr>
              <a:t>Curated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2343240" y="5229360"/>
            <a:ext cx="950760" cy="28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manual assignment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4572000" y="2190600"/>
            <a:ext cx="6951600" cy="3903480"/>
          </a:xfrm>
          <a:prstGeom prst="rect">
            <a:avLst/>
          </a:prstGeom>
          <a:solidFill>
            <a:srgbClr val="0d131b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83" name=""/>
          <p:cNvSpPr/>
          <p:nvPr/>
        </p:nvSpPr>
        <p:spPr>
          <a:xfrm>
            <a:off x="4572000" y="2190600"/>
            <a:ext cx="6951600" cy="284040"/>
          </a:xfrm>
          <a:prstGeom prst="rect">
            <a:avLst/>
          </a:prstGeom>
          <a:solidFill>
            <a:srgbClr val="151a20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84" name=""/>
          <p:cNvSpPr/>
          <p:nvPr/>
        </p:nvSpPr>
        <p:spPr>
          <a:xfrm>
            <a:off x="4695840" y="229536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85" name=""/>
          <p:cNvSpPr/>
          <p:nvPr/>
        </p:nvSpPr>
        <p:spPr>
          <a:xfrm>
            <a:off x="4857840" y="229536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86" name=""/>
          <p:cNvSpPr/>
          <p:nvPr/>
        </p:nvSpPr>
        <p:spPr>
          <a:xfrm>
            <a:off x="5019840" y="229536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87" name=""/>
          <p:cNvSpPr/>
          <p:nvPr/>
        </p:nvSpPr>
        <p:spPr>
          <a:xfrm>
            <a:off x="5257800" y="2257560"/>
            <a:ext cx="6094080" cy="150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Campaigns module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8" name="" descr=""/>
          <p:cNvPicPr/>
          <p:nvPr/>
        </p:nvPicPr>
        <p:blipFill>
          <a:blip r:embed="rId1"/>
          <a:stretch/>
        </p:blipFill>
        <p:spPr>
          <a:xfrm>
            <a:off x="5168160" y="2486160"/>
            <a:ext cx="5758920" cy="359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90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91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92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93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94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95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96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97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98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499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00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01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02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03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05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06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07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08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9b6bff"/>
          </a:solidFill>
          <a:ln w="0">
            <a:solidFill>
              <a:srgbClr val="9b6b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09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MODULE 05 - AGENT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The agent answers read-only questions over the database.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514440" y="1714680"/>
            <a:ext cx="9428040" cy="32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It uses tool calls for list, count, aggregate, search, and retrieval operations.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10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628560" y="2286000"/>
            <a:ext cx="2950920" cy="2331720"/>
          </a:xfrm>
          <a:prstGeom prst="rect">
            <a:avLst/>
          </a:prstGeom>
          <a:solidFill>
            <a:srgbClr val="111821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15" name=""/>
          <p:cNvSpPr/>
          <p:nvPr/>
        </p:nvSpPr>
        <p:spPr>
          <a:xfrm>
            <a:off x="838080" y="2505240"/>
            <a:ext cx="23796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Example questions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857160" y="2914560"/>
            <a:ext cx="2322360" cy="236160"/>
          </a:xfrm>
          <a:prstGeom prst="rect">
            <a:avLst/>
          </a:prstGeom>
          <a:solidFill>
            <a:srgbClr val="0d131b"/>
          </a:solidFill>
          <a:ln w="9525">
            <a:solidFill>
              <a:srgbClr val="15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17" name=""/>
          <p:cNvSpPr/>
          <p:nvPr/>
        </p:nvSpPr>
        <p:spPr>
          <a:xfrm>
            <a:off x="990720" y="2971800"/>
            <a:ext cx="2074680" cy="122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How many SUV ads are stored?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857160" y="3295800"/>
            <a:ext cx="2322360" cy="236160"/>
          </a:xfrm>
          <a:prstGeom prst="rect">
            <a:avLst/>
          </a:prstGeom>
          <a:solidFill>
            <a:srgbClr val="0d131b"/>
          </a:solidFill>
          <a:ln w="9525">
            <a:solidFill>
              <a:srgbClr val="15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19" name=""/>
          <p:cNvSpPr/>
          <p:nvPr/>
        </p:nvSpPr>
        <p:spPr>
          <a:xfrm>
            <a:off x="990720" y="3352680"/>
            <a:ext cx="2074680" cy="122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Show urgency and price offers.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857160" y="3676680"/>
            <a:ext cx="2322360" cy="236160"/>
          </a:xfrm>
          <a:prstGeom prst="rect">
            <a:avLst/>
          </a:prstGeom>
          <a:solidFill>
            <a:srgbClr val="0d131b"/>
          </a:solidFill>
          <a:ln w="9525">
            <a:solidFill>
              <a:srgbClr val="15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21" name=""/>
          <p:cNvSpPr/>
          <p:nvPr/>
        </p:nvSpPr>
        <p:spPr>
          <a:xfrm>
            <a:off x="990720" y="3733920"/>
            <a:ext cx="2074680" cy="122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Compare two automotive ads.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857160" y="4057560"/>
            <a:ext cx="2322360" cy="236160"/>
          </a:xfrm>
          <a:prstGeom prst="rect">
            <a:avLst/>
          </a:prstGeom>
          <a:solidFill>
            <a:srgbClr val="0d131b"/>
          </a:solidFill>
          <a:ln w="9525">
            <a:solidFill>
              <a:srgbClr val="15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23" name=""/>
          <p:cNvSpPr/>
          <p:nvPr/>
        </p:nvSpPr>
        <p:spPr>
          <a:xfrm>
            <a:off x="990720" y="4114800"/>
            <a:ext cx="2074680" cy="122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Group by category and brand.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628560" y="5000760"/>
            <a:ext cx="855360" cy="56988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25" name=""/>
          <p:cNvSpPr/>
          <p:nvPr/>
        </p:nvSpPr>
        <p:spPr>
          <a:xfrm>
            <a:off x="762120" y="5124600"/>
            <a:ext cx="588600" cy="150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d8a4"/>
                </a:solidFill>
                <a:effectLst/>
                <a:uFillTx/>
                <a:latin typeface="Aptos Display"/>
                <a:ea typeface="Aptos Display"/>
              </a:rPr>
              <a:t>DB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762120" y="5343480"/>
            <a:ext cx="58860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read-only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1695600" y="5000760"/>
            <a:ext cx="855360" cy="56988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28" name=""/>
          <p:cNvSpPr/>
          <p:nvPr/>
        </p:nvSpPr>
        <p:spPr>
          <a:xfrm>
            <a:off x="1828800" y="5124600"/>
            <a:ext cx="588600" cy="150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9b6bff"/>
                </a:solidFill>
                <a:effectLst/>
                <a:uFillTx/>
                <a:latin typeface="Aptos Display"/>
                <a:ea typeface="Aptos Display"/>
              </a:rPr>
              <a:t>Tools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1828800" y="5343480"/>
            <a:ext cx="58860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catalog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2762280" y="5000760"/>
            <a:ext cx="855360" cy="56988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31" name=""/>
          <p:cNvSpPr/>
          <p:nvPr/>
        </p:nvSpPr>
        <p:spPr>
          <a:xfrm>
            <a:off x="2895480" y="5124600"/>
            <a:ext cx="588600" cy="150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bfea"/>
                </a:solidFill>
                <a:effectLst/>
                <a:uFillTx/>
                <a:latin typeface="Aptos Display"/>
                <a:ea typeface="Aptos Display"/>
              </a:rPr>
              <a:t>Cites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2895480" y="5343480"/>
            <a:ext cx="58860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ad ids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4476600" y="2190600"/>
            <a:ext cx="6903720" cy="3903480"/>
          </a:xfrm>
          <a:prstGeom prst="rect">
            <a:avLst/>
          </a:prstGeom>
          <a:solidFill>
            <a:srgbClr val="0d131b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34" name=""/>
          <p:cNvSpPr/>
          <p:nvPr/>
        </p:nvSpPr>
        <p:spPr>
          <a:xfrm>
            <a:off x="4476600" y="2190600"/>
            <a:ext cx="6903720" cy="284040"/>
          </a:xfrm>
          <a:prstGeom prst="rect">
            <a:avLst/>
          </a:prstGeom>
          <a:solidFill>
            <a:srgbClr val="151a20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35" name=""/>
          <p:cNvSpPr/>
          <p:nvPr/>
        </p:nvSpPr>
        <p:spPr>
          <a:xfrm>
            <a:off x="4600440" y="229536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36" name=""/>
          <p:cNvSpPr/>
          <p:nvPr/>
        </p:nvSpPr>
        <p:spPr>
          <a:xfrm>
            <a:off x="4762440" y="229536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37" name=""/>
          <p:cNvSpPr/>
          <p:nvPr/>
        </p:nvSpPr>
        <p:spPr>
          <a:xfrm>
            <a:off x="4924440" y="229536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38" name=""/>
          <p:cNvSpPr/>
          <p:nvPr/>
        </p:nvSpPr>
        <p:spPr>
          <a:xfrm>
            <a:off x="5162400" y="2257560"/>
            <a:ext cx="6046560" cy="150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Agent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9" name="" descr=""/>
          <p:cNvPicPr/>
          <p:nvPr/>
        </p:nvPicPr>
        <p:blipFill>
          <a:blip r:embed="rId1"/>
          <a:stretch/>
        </p:blipFill>
        <p:spPr>
          <a:xfrm>
            <a:off x="5049360" y="2486160"/>
            <a:ext cx="5758920" cy="359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41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42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43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44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45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46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47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48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49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50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51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52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53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54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55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56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57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58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59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60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MODULE 06 - OPERATIONS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Settings, taxonomy, and jobs keep the runtime configurable.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514440" y="1734840"/>
            <a:ext cx="9428040" cy="32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Model routes, prompts, OCR behavior, taxonomy, and job recovery remain visible in the UI.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11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514440" y="2238480"/>
            <a:ext cx="4760640" cy="2855880"/>
          </a:xfrm>
          <a:prstGeom prst="rect">
            <a:avLst/>
          </a:prstGeom>
          <a:solidFill>
            <a:srgbClr val="0d131b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66" name=""/>
          <p:cNvSpPr/>
          <p:nvPr/>
        </p:nvSpPr>
        <p:spPr>
          <a:xfrm>
            <a:off x="514440" y="2238480"/>
            <a:ext cx="4760640" cy="284040"/>
          </a:xfrm>
          <a:prstGeom prst="rect">
            <a:avLst/>
          </a:prstGeom>
          <a:solidFill>
            <a:srgbClr val="151a20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67" name=""/>
          <p:cNvSpPr/>
          <p:nvPr/>
        </p:nvSpPr>
        <p:spPr>
          <a:xfrm>
            <a:off x="638280" y="234324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68" name=""/>
          <p:cNvSpPr/>
          <p:nvPr/>
        </p:nvSpPr>
        <p:spPr>
          <a:xfrm>
            <a:off x="800280" y="234324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69" name=""/>
          <p:cNvSpPr/>
          <p:nvPr/>
        </p:nvSpPr>
        <p:spPr>
          <a:xfrm>
            <a:off x="961920" y="234324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70" name=""/>
          <p:cNvSpPr/>
          <p:nvPr/>
        </p:nvSpPr>
        <p:spPr>
          <a:xfrm>
            <a:off x="1200240" y="2305080"/>
            <a:ext cx="3903480" cy="150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Settings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1" name="" descr=""/>
          <p:cNvPicPr/>
          <p:nvPr/>
        </p:nvPicPr>
        <p:blipFill>
          <a:blip r:embed="rId1"/>
          <a:stretch/>
        </p:blipFill>
        <p:spPr>
          <a:xfrm>
            <a:off x="853560" y="2533680"/>
            <a:ext cx="4082400" cy="255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"/>
          <p:cNvSpPr/>
          <p:nvPr/>
        </p:nvSpPr>
        <p:spPr>
          <a:xfrm>
            <a:off x="5562720" y="2238480"/>
            <a:ext cx="4760640" cy="2855880"/>
          </a:xfrm>
          <a:prstGeom prst="rect">
            <a:avLst/>
          </a:prstGeom>
          <a:solidFill>
            <a:srgbClr val="0d131b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73" name=""/>
          <p:cNvSpPr/>
          <p:nvPr/>
        </p:nvSpPr>
        <p:spPr>
          <a:xfrm>
            <a:off x="5562720" y="2238480"/>
            <a:ext cx="4760640" cy="284040"/>
          </a:xfrm>
          <a:prstGeom prst="rect">
            <a:avLst/>
          </a:prstGeom>
          <a:solidFill>
            <a:srgbClr val="151a20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74" name=""/>
          <p:cNvSpPr/>
          <p:nvPr/>
        </p:nvSpPr>
        <p:spPr>
          <a:xfrm>
            <a:off x="5686560" y="234324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75" name=""/>
          <p:cNvSpPr/>
          <p:nvPr/>
        </p:nvSpPr>
        <p:spPr>
          <a:xfrm>
            <a:off x="5848200" y="234324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76" name=""/>
          <p:cNvSpPr/>
          <p:nvPr/>
        </p:nvSpPr>
        <p:spPr>
          <a:xfrm>
            <a:off x="6010200" y="234324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77" name=""/>
          <p:cNvSpPr/>
          <p:nvPr/>
        </p:nvSpPr>
        <p:spPr>
          <a:xfrm>
            <a:off x="6248520" y="2305080"/>
            <a:ext cx="3903480" cy="150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Taxonomy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8" name="" descr=""/>
          <p:cNvPicPr/>
          <p:nvPr/>
        </p:nvPicPr>
        <p:blipFill>
          <a:blip r:embed="rId2"/>
          <a:stretch/>
        </p:blipFill>
        <p:spPr>
          <a:xfrm>
            <a:off x="5901840" y="2533680"/>
            <a:ext cx="4082400" cy="255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"/>
          <p:cNvSpPr/>
          <p:nvPr/>
        </p:nvSpPr>
        <p:spPr>
          <a:xfrm>
            <a:off x="10611000" y="2362320"/>
            <a:ext cx="1103040" cy="2284200"/>
          </a:xfrm>
          <a:prstGeom prst="rect">
            <a:avLst/>
          </a:prstGeom>
          <a:solidFill>
            <a:srgbClr val="111821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80" name=""/>
          <p:cNvSpPr/>
          <p:nvPr/>
        </p:nvSpPr>
        <p:spPr>
          <a:xfrm>
            <a:off x="10763280" y="2571840"/>
            <a:ext cx="76032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Jobs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10782360" y="3067200"/>
            <a:ext cx="55440" cy="55440"/>
          </a:xfrm>
          <a:prstGeom prst="rect">
            <a:avLst/>
          </a:prstGeom>
          <a:solidFill>
            <a:srgbClr val="99a3b3"/>
          </a:solidFill>
          <a:ln w="0">
            <a:solidFill>
              <a:srgbClr val="99a3b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82" name=""/>
          <p:cNvSpPr/>
          <p:nvPr/>
        </p:nvSpPr>
        <p:spPr>
          <a:xfrm>
            <a:off x="10953720" y="2990880"/>
            <a:ext cx="62676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state cleanup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10782360" y="3371760"/>
            <a:ext cx="55440" cy="55440"/>
          </a:xfrm>
          <a:prstGeom prst="rect">
            <a:avLst/>
          </a:prstGeom>
          <a:solidFill>
            <a:srgbClr val="99a3b3"/>
          </a:solidFill>
          <a:ln w="0">
            <a:solidFill>
              <a:srgbClr val="99a3b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84" name=""/>
          <p:cNvSpPr/>
          <p:nvPr/>
        </p:nvSpPr>
        <p:spPr>
          <a:xfrm>
            <a:off x="10953720" y="3295800"/>
            <a:ext cx="62676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cancel/delete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10782360" y="3676680"/>
            <a:ext cx="55440" cy="55440"/>
          </a:xfrm>
          <a:prstGeom prst="rect">
            <a:avLst/>
          </a:prstGeom>
          <a:solidFill>
            <a:srgbClr val="99a3b3"/>
          </a:solidFill>
          <a:ln w="0">
            <a:solidFill>
              <a:srgbClr val="99a3b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86" name=""/>
          <p:cNvSpPr/>
          <p:nvPr/>
        </p:nvSpPr>
        <p:spPr>
          <a:xfrm>
            <a:off x="10953720" y="3600360"/>
            <a:ext cx="62676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failure visibility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10782360" y="3981600"/>
            <a:ext cx="55440" cy="55440"/>
          </a:xfrm>
          <a:prstGeom prst="rect">
            <a:avLst/>
          </a:prstGeom>
          <a:solidFill>
            <a:srgbClr val="99a3b3"/>
          </a:solidFill>
          <a:ln w="0">
            <a:solidFill>
              <a:srgbClr val="99a3b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88" name=""/>
          <p:cNvSpPr/>
          <p:nvPr/>
        </p:nvSpPr>
        <p:spPr>
          <a:xfrm>
            <a:off x="10953720" y="3905280"/>
            <a:ext cx="62676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demo recovery</a:t>
            </a:r>
            <a:endParaRPr b="0" lang="en-US" sz="7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1523880" y="5581800"/>
            <a:ext cx="9142200" cy="64584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90" name=""/>
          <p:cNvSpPr/>
          <p:nvPr/>
        </p:nvSpPr>
        <p:spPr>
          <a:xfrm>
            <a:off x="1752480" y="5753160"/>
            <a:ext cx="2188800" cy="207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d8a4"/>
                </a:solidFill>
                <a:effectLst/>
                <a:uFillTx/>
                <a:latin typeface="Aptos Display"/>
                <a:ea typeface="Aptos Display"/>
              </a:rPr>
              <a:t>Control surface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1752480" y="6010200"/>
            <a:ext cx="8570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Model routing, editable prompts, OCR config, taxonomy knowledge, and job-state cleanup stay outside the code path.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93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94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95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96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97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98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599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00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01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02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03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04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05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06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07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08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09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10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11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12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SHOWCASE PATH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A short presentation can show upload, inspect, retrieve, group, and ask.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457200" y="1714680"/>
            <a:ext cx="9428040" cy="32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This keeps the explanation focused on what the system does, not setup details.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12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762120" y="2381400"/>
            <a:ext cx="1617480" cy="112212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18" name=""/>
          <p:cNvSpPr/>
          <p:nvPr/>
        </p:nvSpPr>
        <p:spPr>
          <a:xfrm>
            <a:off x="895320" y="2543040"/>
            <a:ext cx="74520" cy="74520"/>
          </a:xfrm>
          <a:prstGeom prst="rect">
            <a:avLst/>
          </a:prstGeom>
          <a:solidFill>
            <a:srgbClr val="00bfea"/>
          </a:solidFill>
          <a:ln w="0">
            <a:solidFill>
              <a:srgbClr val="00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19" name=""/>
          <p:cNvSpPr/>
          <p:nvPr/>
        </p:nvSpPr>
        <p:spPr>
          <a:xfrm>
            <a:off x="1047600" y="2495520"/>
            <a:ext cx="119844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bfea"/>
                </a:solidFill>
                <a:effectLst/>
                <a:uFillTx/>
                <a:latin typeface="Aptos Mono"/>
                <a:ea typeface="Aptos Mono"/>
              </a:rPr>
              <a:t>MODULE 1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933480" y="2724120"/>
            <a:ext cx="1274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1. Upload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933480" y="2990880"/>
            <a:ext cx="127440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clip to stage progress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2381400" y="2952720"/>
            <a:ext cx="58860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23" name=""/>
          <p:cNvSpPr/>
          <p:nvPr/>
        </p:nvSpPr>
        <p:spPr>
          <a:xfrm>
            <a:off x="2971800" y="2381400"/>
            <a:ext cx="1617480" cy="112212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24" name=""/>
          <p:cNvSpPr/>
          <p:nvPr/>
        </p:nvSpPr>
        <p:spPr>
          <a:xfrm>
            <a:off x="3105000" y="254304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25" name=""/>
          <p:cNvSpPr/>
          <p:nvPr/>
        </p:nvSpPr>
        <p:spPr>
          <a:xfrm>
            <a:off x="3257640" y="2495520"/>
            <a:ext cx="119844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MODULE 2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3143160" y="2724120"/>
            <a:ext cx="1274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2. Inspect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3143160" y="2990880"/>
            <a:ext cx="127440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classification, entities, evidence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4591080" y="2952720"/>
            <a:ext cx="58860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29" name=""/>
          <p:cNvSpPr/>
          <p:nvPr/>
        </p:nvSpPr>
        <p:spPr>
          <a:xfrm>
            <a:off x="5181480" y="2381400"/>
            <a:ext cx="1617480" cy="112212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30" name=""/>
          <p:cNvSpPr/>
          <p:nvPr/>
        </p:nvSpPr>
        <p:spPr>
          <a:xfrm>
            <a:off x="5315040" y="2543040"/>
            <a:ext cx="74520" cy="74520"/>
          </a:xfrm>
          <a:prstGeom prst="rect">
            <a:avLst/>
          </a:prstGeom>
          <a:solidFill>
            <a:srgbClr val="9b6bff"/>
          </a:solidFill>
          <a:ln w="0">
            <a:solidFill>
              <a:srgbClr val="9b6b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31" name=""/>
          <p:cNvSpPr/>
          <p:nvPr/>
        </p:nvSpPr>
        <p:spPr>
          <a:xfrm>
            <a:off x="5467320" y="2495520"/>
            <a:ext cx="119844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MODULE 3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5353200" y="2724120"/>
            <a:ext cx="1274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3. Search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5353200" y="2990880"/>
            <a:ext cx="127440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keyword, filters, retrieval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6800760" y="2952720"/>
            <a:ext cx="58860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35" name=""/>
          <p:cNvSpPr/>
          <p:nvPr/>
        </p:nvSpPr>
        <p:spPr>
          <a:xfrm>
            <a:off x="7391520" y="2381400"/>
            <a:ext cx="1617480" cy="1122120"/>
          </a:xfrm>
          <a:prstGeom prst="rect">
            <a:avLst/>
          </a:prstGeom>
          <a:solidFill>
            <a:srgbClr val="111821"/>
          </a:solidFill>
          <a:ln w="9525">
            <a:solidFill>
              <a:srgbClr val="f2b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36" name=""/>
          <p:cNvSpPr/>
          <p:nvPr/>
        </p:nvSpPr>
        <p:spPr>
          <a:xfrm>
            <a:off x="7524720" y="254304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37" name=""/>
          <p:cNvSpPr/>
          <p:nvPr/>
        </p:nvSpPr>
        <p:spPr>
          <a:xfrm>
            <a:off x="7677000" y="2495520"/>
            <a:ext cx="119844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f2b640"/>
                </a:solidFill>
                <a:effectLst/>
                <a:uFillTx/>
                <a:latin typeface="Aptos Mono"/>
                <a:ea typeface="Aptos Mono"/>
              </a:rPr>
              <a:t>MODULE 4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7562880" y="2724120"/>
            <a:ext cx="1274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4. Campaign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7562880" y="2990880"/>
            <a:ext cx="127440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variants and similarity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9010800" y="2952720"/>
            <a:ext cx="58860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41" name=""/>
          <p:cNvSpPr/>
          <p:nvPr/>
        </p:nvSpPr>
        <p:spPr>
          <a:xfrm>
            <a:off x="9601200" y="2381400"/>
            <a:ext cx="1617480" cy="1122120"/>
          </a:xfrm>
          <a:prstGeom prst="rect">
            <a:avLst/>
          </a:prstGeom>
          <a:solidFill>
            <a:srgbClr val="111821"/>
          </a:solidFill>
          <a:ln w="9525">
            <a:solidFill>
              <a:srgbClr val="ff5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42" name=""/>
          <p:cNvSpPr/>
          <p:nvPr/>
        </p:nvSpPr>
        <p:spPr>
          <a:xfrm>
            <a:off x="9734400" y="254304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43" name=""/>
          <p:cNvSpPr/>
          <p:nvPr/>
        </p:nvSpPr>
        <p:spPr>
          <a:xfrm>
            <a:off x="9887040" y="2495520"/>
            <a:ext cx="119844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ff5c86"/>
                </a:solidFill>
                <a:effectLst/>
                <a:uFillTx/>
                <a:latin typeface="Aptos Mono"/>
                <a:ea typeface="Aptos Mono"/>
              </a:rPr>
              <a:t>MODULE 5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9772560" y="2724120"/>
            <a:ext cx="12744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5. Agent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9772560" y="2990880"/>
            <a:ext cx="127440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9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plain-language query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>
            <a:off x="1238400" y="4572000"/>
            <a:ext cx="4093920" cy="119844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47" name=""/>
          <p:cNvSpPr/>
          <p:nvPr/>
        </p:nvSpPr>
        <p:spPr>
          <a:xfrm>
            <a:off x="1371600" y="473400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48" name=""/>
          <p:cNvSpPr/>
          <p:nvPr/>
        </p:nvSpPr>
        <p:spPr>
          <a:xfrm>
            <a:off x="1523880" y="4686480"/>
            <a:ext cx="3674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THIS DECK COVERS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1409760" y="4915080"/>
            <a:ext cx="37512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Current demo system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1409760" y="5181480"/>
            <a:ext cx="3751200" cy="436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local-first processing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structured evidence and entities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Library, Search, Campaigns, and Agent tools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6858000" y="4572000"/>
            <a:ext cx="4093920" cy="119844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52" name=""/>
          <p:cNvSpPr/>
          <p:nvPr/>
        </p:nvSpPr>
        <p:spPr>
          <a:xfrm>
            <a:off x="6991200" y="4734000"/>
            <a:ext cx="74520" cy="74520"/>
          </a:xfrm>
          <a:prstGeom prst="rect">
            <a:avLst/>
          </a:prstGeom>
          <a:solidFill>
            <a:srgbClr val="9b6bff"/>
          </a:solidFill>
          <a:ln w="0">
            <a:solidFill>
              <a:srgbClr val="9b6b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53" name=""/>
          <p:cNvSpPr/>
          <p:nvPr/>
        </p:nvSpPr>
        <p:spPr>
          <a:xfrm>
            <a:off x="7143840" y="4686480"/>
            <a:ext cx="3674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OPTIONAL NEXT SLIDES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7029360" y="4915080"/>
            <a:ext cx="375120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When more depth is needed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7029360" y="5181480"/>
            <a:ext cx="3751200" cy="436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model benchmark snapshots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sample ad comparisons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prompt presets and reset controls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57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58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59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60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61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62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63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64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65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66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67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68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69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70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71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72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73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74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75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76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ARCHITECTURE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The frontend, API, worker, models, and database are decoupled.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514440" y="1723680"/>
            <a:ext cx="9428040" cy="198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Each layer has one responsibility and communicates through stable JSON, SSE, and database interfaces.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13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609480" y="2457360"/>
            <a:ext cx="1674720" cy="135072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82" name=""/>
          <p:cNvSpPr/>
          <p:nvPr/>
        </p:nvSpPr>
        <p:spPr>
          <a:xfrm>
            <a:off x="743040" y="2619360"/>
            <a:ext cx="74520" cy="74520"/>
          </a:xfrm>
          <a:prstGeom prst="rect">
            <a:avLst/>
          </a:prstGeom>
          <a:solidFill>
            <a:srgbClr val="9b6bff"/>
          </a:solidFill>
          <a:ln w="0">
            <a:solidFill>
              <a:srgbClr val="9b6b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83" name=""/>
          <p:cNvSpPr/>
          <p:nvPr/>
        </p:nvSpPr>
        <p:spPr>
          <a:xfrm>
            <a:off x="895320" y="2571840"/>
            <a:ext cx="12556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FRONTEND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781200" y="2800440"/>
            <a:ext cx="133164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React UI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781200" y="3067200"/>
            <a:ext cx="1331640" cy="58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Upload, Library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Search, Agent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2952720" y="2457360"/>
            <a:ext cx="1674720" cy="135072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87" name=""/>
          <p:cNvSpPr/>
          <p:nvPr/>
        </p:nvSpPr>
        <p:spPr>
          <a:xfrm>
            <a:off x="3086280" y="2619360"/>
            <a:ext cx="74520" cy="74520"/>
          </a:xfrm>
          <a:prstGeom prst="rect">
            <a:avLst/>
          </a:prstGeom>
          <a:solidFill>
            <a:srgbClr val="00bfea"/>
          </a:solidFill>
          <a:ln w="0">
            <a:solidFill>
              <a:srgbClr val="00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88" name=""/>
          <p:cNvSpPr/>
          <p:nvPr/>
        </p:nvSpPr>
        <p:spPr>
          <a:xfrm>
            <a:off x="3238560" y="2571840"/>
            <a:ext cx="12556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bfea"/>
                </a:solidFill>
                <a:effectLst/>
                <a:uFillTx/>
                <a:latin typeface="Aptos Mono"/>
                <a:ea typeface="Aptos Mono"/>
              </a:rPr>
              <a:t>API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3124080" y="2800440"/>
            <a:ext cx="133164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FastAPI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3124080" y="3067200"/>
            <a:ext cx="1331640" cy="58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OpenAPI surface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jobs + SSE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5334120" y="2457360"/>
            <a:ext cx="1674720" cy="135072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92" name=""/>
          <p:cNvSpPr/>
          <p:nvPr/>
        </p:nvSpPr>
        <p:spPr>
          <a:xfrm>
            <a:off x="5467320" y="261936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93" name=""/>
          <p:cNvSpPr/>
          <p:nvPr/>
        </p:nvSpPr>
        <p:spPr>
          <a:xfrm>
            <a:off x="5619600" y="2571840"/>
            <a:ext cx="12556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WORKER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"/>
          <p:cNvSpPr/>
          <p:nvPr/>
        </p:nvSpPr>
        <p:spPr>
          <a:xfrm>
            <a:off x="5505480" y="2800440"/>
            <a:ext cx="133164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Pipeline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>
            <a:off x="5505480" y="3067200"/>
            <a:ext cx="1331640" cy="58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restartable stages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OCR / VLM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>
            <a:off x="7667640" y="2457360"/>
            <a:ext cx="1674720" cy="1350720"/>
          </a:xfrm>
          <a:prstGeom prst="rect">
            <a:avLst/>
          </a:prstGeom>
          <a:solidFill>
            <a:srgbClr val="111821"/>
          </a:solidFill>
          <a:ln w="9525">
            <a:solidFill>
              <a:srgbClr val="f2b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97" name=""/>
          <p:cNvSpPr/>
          <p:nvPr/>
        </p:nvSpPr>
        <p:spPr>
          <a:xfrm>
            <a:off x="7800840" y="2619360"/>
            <a:ext cx="74520" cy="74520"/>
          </a:xfrm>
          <a:prstGeom prst="rect">
            <a:avLst/>
          </a:prstGeom>
          <a:solidFill>
            <a:srgbClr val="f2b640"/>
          </a:solidFill>
          <a:ln w="0">
            <a:solidFill>
              <a:srgbClr val="f2b64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698" name=""/>
          <p:cNvSpPr/>
          <p:nvPr/>
        </p:nvSpPr>
        <p:spPr>
          <a:xfrm>
            <a:off x="7953480" y="2571840"/>
            <a:ext cx="12556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f2b640"/>
                </a:solidFill>
                <a:effectLst/>
                <a:uFillTx/>
                <a:latin typeface="Aptos Mono"/>
                <a:ea typeface="Aptos Mono"/>
              </a:rPr>
              <a:t>MODELS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"/>
          <p:cNvSpPr/>
          <p:nvPr/>
        </p:nvSpPr>
        <p:spPr>
          <a:xfrm>
            <a:off x="7839000" y="2800440"/>
            <a:ext cx="133164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Local models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>
            <a:off x="7839000" y="3067200"/>
            <a:ext cx="1331640" cy="58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Whisper, OCR, VLM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>
            <a:off x="10001160" y="2457360"/>
            <a:ext cx="1674720" cy="1350720"/>
          </a:xfrm>
          <a:prstGeom prst="rect">
            <a:avLst/>
          </a:prstGeom>
          <a:solidFill>
            <a:srgbClr val="111821"/>
          </a:solidFill>
          <a:ln w="9525">
            <a:solidFill>
              <a:srgbClr val="ff5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02" name=""/>
          <p:cNvSpPr/>
          <p:nvPr/>
        </p:nvSpPr>
        <p:spPr>
          <a:xfrm>
            <a:off x="10134720" y="2619360"/>
            <a:ext cx="74520" cy="74520"/>
          </a:xfrm>
          <a:prstGeom prst="rect">
            <a:avLst/>
          </a:prstGeom>
          <a:solidFill>
            <a:srgbClr val="ff5c86"/>
          </a:solidFill>
          <a:ln w="0">
            <a:solidFill>
              <a:srgbClr val="ff5c8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03" name=""/>
          <p:cNvSpPr/>
          <p:nvPr/>
        </p:nvSpPr>
        <p:spPr>
          <a:xfrm>
            <a:off x="10287000" y="2571840"/>
            <a:ext cx="12556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ff5c86"/>
                </a:solidFill>
                <a:effectLst/>
                <a:uFillTx/>
                <a:latin typeface="Aptos Mono"/>
                <a:ea typeface="Aptos Mono"/>
              </a:rPr>
              <a:t>DB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>
            <a:off x="10172880" y="2800440"/>
            <a:ext cx="133164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SQLite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>
            <a:off x="10172880" y="3067200"/>
            <a:ext cx="1331640" cy="58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ads, frames, OCR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FTS index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>
            <a:off x="2419200" y="3133800"/>
            <a:ext cx="39816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07" name=""/>
          <p:cNvSpPr/>
          <p:nvPr/>
        </p:nvSpPr>
        <p:spPr>
          <a:xfrm>
            <a:off x="4762440" y="3133800"/>
            <a:ext cx="43632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08" name=""/>
          <p:cNvSpPr/>
          <p:nvPr/>
        </p:nvSpPr>
        <p:spPr>
          <a:xfrm>
            <a:off x="7143840" y="3133800"/>
            <a:ext cx="38880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09" name=""/>
          <p:cNvSpPr/>
          <p:nvPr/>
        </p:nvSpPr>
        <p:spPr>
          <a:xfrm>
            <a:off x="9477360" y="3133800"/>
            <a:ext cx="38880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10" name=""/>
          <p:cNvSpPr/>
          <p:nvPr/>
        </p:nvSpPr>
        <p:spPr>
          <a:xfrm>
            <a:off x="1542960" y="4876920"/>
            <a:ext cx="9104040" cy="569880"/>
          </a:xfrm>
          <a:prstGeom prst="rect">
            <a:avLst/>
          </a:prstGeom>
          <a:solidFill>
            <a:srgbClr val="151d28"/>
          </a:solidFill>
          <a:ln w="9525">
            <a:solidFill>
              <a:srgbClr val="223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11" name=""/>
          <p:cNvSpPr/>
          <p:nvPr/>
        </p:nvSpPr>
        <p:spPr>
          <a:xfrm>
            <a:off x="1809720" y="5057640"/>
            <a:ext cx="8570880" cy="207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"/>
                <a:ea typeface="Aptos"/>
              </a:rPr>
              <a:t>Design principle: deterministic evidence first, VLM verification second, retrieval over persisted data.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>
            <a:off x="1143000" y="4362480"/>
            <a:ext cx="9904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07090d"/>
          </a:solidFill>
          <a:ln w="0">
            <a:solidFill>
              <a:srgbClr val="0709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14" name=""/>
          <p:cNvSpPr/>
          <p:nvPr/>
        </p:nvSpPr>
        <p:spPr>
          <a:xfrm>
            <a:off x="762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15" name=""/>
          <p:cNvSpPr/>
          <p:nvPr/>
        </p:nvSpPr>
        <p:spPr>
          <a:xfrm>
            <a:off x="1905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16" name=""/>
          <p:cNvSpPr/>
          <p:nvPr/>
        </p:nvSpPr>
        <p:spPr>
          <a:xfrm>
            <a:off x="3048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17" name=""/>
          <p:cNvSpPr/>
          <p:nvPr/>
        </p:nvSpPr>
        <p:spPr>
          <a:xfrm>
            <a:off x="4191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18" name=""/>
          <p:cNvSpPr/>
          <p:nvPr/>
        </p:nvSpPr>
        <p:spPr>
          <a:xfrm>
            <a:off x="5334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19" name=""/>
          <p:cNvSpPr/>
          <p:nvPr/>
        </p:nvSpPr>
        <p:spPr>
          <a:xfrm>
            <a:off x="6477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20" name=""/>
          <p:cNvSpPr/>
          <p:nvPr/>
        </p:nvSpPr>
        <p:spPr>
          <a:xfrm>
            <a:off x="7620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21" name=""/>
          <p:cNvSpPr/>
          <p:nvPr/>
        </p:nvSpPr>
        <p:spPr>
          <a:xfrm>
            <a:off x="8763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22" name=""/>
          <p:cNvSpPr/>
          <p:nvPr/>
        </p:nvSpPr>
        <p:spPr>
          <a:xfrm>
            <a:off x="9906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23" name=""/>
          <p:cNvSpPr/>
          <p:nvPr/>
        </p:nvSpPr>
        <p:spPr>
          <a:xfrm>
            <a:off x="11049120" y="0"/>
            <a:ext cx="7560" cy="685620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24" name=""/>
          <p:cNvSpPr/>
          <p:nvPr/>
        </p:nvSpPr>
        <p:spPr>
          <a:xfrm>
            <a:off x="0" y="857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25" name=""/>
          <p:cNvSpPr/>
          <p:nvPr/>
        </p:nvSpPr>
        <p:spPr>
          <a:xfrm>
            <a:off x="0" y="1714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26" name=""/>
          <p:cNvSpPr/>
          <p:nvPr/>
        </p:nvSpPr>
        <p:spPr>
          <a:xfrm>
            <a:off x="0" y="2571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27" name=""/>
          <p:cNvSpPr/>
          <p:nvPr/>
        </p:nvSpPr>
        <p:spPr>
          <a:xfrm>
            <a:off x="0" y="342900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28" name=""/>
          <p:cNvSpPr/>
          <p:nvPr/>
        </p:nvSpPr>
        <p:spPr>
          <a:xfrm>
            <a:off x="0" y="428616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29" name=""/>
          <p:cNvSpPr/>
          <p:nvPr/>
        </p:nvSpPr>
        <p:spPr>
          <a:xfrm>
            <a:off x="0" y="514368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30" name=""/>
          <p:cNvSpPr/>
          <p:nvPr/>
        </p:nvSpPr>
        <p:spPr>
          <a:xfrm>
            <a:off x="0" y="6000840"/>
            <a:ext cx="12190320" cy="7560"/>
          </a:xfrm>
          <a:prstGeom prst="rect">
            <a:avLst/>
          </a:prstGeom>
          <a:solidFill>
            <a:srgbClr val="152033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31" name="kicker-marker"/>
          <p:cNvSpPr/>
          <p:nvPr/>
        </p:nvSpPr>
        <p:spPr>
          <a:xfrm>
            <a:off x="514440" y="438120"/>
            <a:ext cx="1027080" cy="226800"/>
          </a:xfrm>
          <a:prstGeom prst="rect">
            <a:avLst/>
          </a:prstGeom>
          <a:solidFill>
            <a:srgbClr val="0b0f16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32" name=""/>
          <p:cNvSpPr/>
          <p:nvPr/>
        </p:nvSpPr>
        <p:spPr>
          <a:xfrm>
            <a:off x="581040" y="514440"/>
            <a:ext cx="64800" cy="64800"/>
          </a:xfrm>
          <a:prstGeom prst="rect">
            <a:avLst/>
          </a:prstGeom>
          <a:solidFill>
            <a:srgbClr val="00bfea"/>
          </a:solidFill>
          <a:ln w="0">
            <a:solidFill>
              <a:srgbClr val="00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33" name="kicker-label"/>
          <p:cNvSpPr/>
          <p:nvPr/>
        </p:nvSpPr>
        <p:spPr>
          <a:xfrm>
            <a:off x="723960" y="457200"/>
            <a:ext cx="741240" cy="18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bfea"/>
                </a:solidFill>
                <a:effectLst/>
                <a:uFillTx/>
                <a:latin typeface="Aptos Mono"/>
                <a:ea typeface="Aptos Mono"/>
              </a:rPr>
              <a:t>AD RECORD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>
            <a:off x="514440" y="876240"/>
            <a:ext cx="9808920" cy="455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A processed ad is stored as a structured, inspectable object.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514440" y="1790640"/>
            <a:ext cx="8247240" cy="3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The video stays attached to timestamped evidence, extracted entities, classification output, and retrieval indexes.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>
            <a:off x="514440" y="6534000"/>
            <a:ext cx="171288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ARGUS system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11410920" y="6534000"/>
            <a:ext cx="32220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96273"/>
                </a:solidFill>
                <a:effectLst/>
                <a:uFillTx/>
                <a:latin typeface="Aptos Mono"/>
                <a:ea typeface="Aptos Mono"/>
              </a:rPr>
              <a:t>14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723960" y="2343240"/>
            <a:ext cx="2188800" cy="117936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39" name=""/>
          <p:cNvSpPr/>
          <p:nvPr/>
        </p:nvSpPr>
        <p:spPr>
          <a:xfrm>
            <a:off x="857160" y="2505240"/>
            <a:ext cx="74520" cy="74520"/>
          </a:xfrm>
          <a:prstGeom prst="rect">
            <a:avLst/>
          </a:prstGeom>
          <a:solidFill>
            <a:srgbClr val="00bfea"/>
          </a:solidFill>
          <a:ln w="0">
            <a:solidFill>
              <a:srgbClr val="00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40" name=""/>
          <p:cNvSpPr/>
          <p:nvPr/>
        </p:nvSpPr>
        <p:spPr>
          <a:xfrm>
            <a:off x="1009800" y="2457360"/>
            <a:ext cx="176976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bfea"/>
                </a:solidFill>
                <a:effectLst/>
                <a:uFillTx/>
                <a:latin typeface="Aptos Mono"/>
                <a:ea typeface="Aptos Mono"/>
              </a:rPr>
              <a:t>SOURCE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>
            <a:off x="895320" y="2685960"/>
            <a:ext cx="184608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Video asset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"/>
          <p:cNvSpPr/>
          <p:nvPr/>
        </p:nvSpPr>
        <p:spPr>
          <a:xfrm>
            <a:off x="895320" y="2952720"/>
            <a:ext cx="1846080" cy="417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original file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sampled frames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audio transcript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>
            <a:off x="723960" y="3962520"/>
            <a:ext cx="2188800" cy="117936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44" name=""/>
          <p:cNvSpPr/>
          <p:nvPr/>
        </p:nvSpPr>
        <p:spPr>
          <a:xfrm>
            <a:off x="857160" y="4124160"/>
            <a:ext cx="74520" cy="74520"/>
          </a:xfrm>
          <a:prstGeom prst="rect">
            <a:avLst/>
          </a:prstGeom>
          <a:solidFill>
            <a:srgbClr val="00d8a4"/>
          </a:solidFill>
          <a:ln w="0">
            <a:solidFill>
              <a:srgbClr val="00d8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45" name=""/>
          <p:cNvSpPr/>
          <p:nvPr/>
        </p:nvSpPr>
        <p:spPr>
          <a:xfrm>
            <a:off x="1009800" y="4076640"/>
            <a:ext cx="1769760" cy="169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" strike="noStrike" u="none">
                <a:solidFill>
                  <a:srgbClr val="00d8a4"/>
                </a:solidFill>
                <a:effectLst/>
                <a:uFillTx/>
                <a:latin typeface="Aptos Mono"/>
                <a:ea typeface="Aptos Mono"/>
              </a:rPr>
              <a:t>EVIDENCE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>
            <a:off x="895320" y="4305240"/>
            <a:ext cx="1846080" cy="24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Timestamped facts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>
            <a:off x="895320" y="4572000"/>
            <a:ext cx="1846080" cy="417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OCR boxes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transcript segments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rule triggers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3828960" y="2095560"/>
            <a:ext cx="3760560" cy="3693960"/>
          </a:xfrm>
          <a:prstGeom prst="rect">
            <a:avLst/>
          </a:prstGeom>
          <a:solidFill>
            <a:srgbClr val="111821"/>
          </a:solidFill>
          <a:ln w="9525">
            <a:solidFill>
              <a:srgbClr val="9b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49" name=""/>
          <p:cNvSpPr/>
          <p:nvPr/>
        </p:nvSpPr>
        <p:spPr>
          <a:xfrm>
            <a:off x="4114800" y="2324160"/>
            <a:ext cx="3046320" cy="2649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eef3fb"/>
                </a:solidFill>
                <a:effectLst/>
                <a:uFillTx/>
                <a:latin typeface="Aptos Display"/>
                <a:ea typeface="Aptos Display"/>
              </a:rPr>
              <a:t>Persisted ad record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4095720" y="2838600"/>
            <a:ext cx="3236760" cy="245880"/>
          </a:xfrm>
          <a:prstGeom prst="rect">
            <a:avLst/>
          </a:prstGeom>
          <a:solidFill>
            <a:srgbClr val="151d28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51" name=""/>
          <p:cNvSpPr/>
          <p:nvPr/>
        </p:nvSpPr>
        <p:spPr>
          <a:xfrm>
            <a:off x="4229280" y="2886120"/>
            <a:ext cx="1350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ad_id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5619600" y="2886120"/>
            <a:ext cx="1674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stable identifier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>
            <a:off x="4095720" y="3171960"/>
            <a:ext cx="3236760" cy="245880"/>
          </a:xfrm>
          <a:prstGeom prst="rect">
            <a:avLst/>
          </a:prstGeom>
          <a:solidFill>
            <a:srgbClr val="0d131b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54" name=""/>
          <p:cNvSpPr/>
          <p:nvPr/>
        </p:nvSpPr>
        <p:spPr>
          <a:xfrm>
            <a:off x="4229280" y="3219480"/>
            <a:ext cx="1350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primary_category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>
            <a:off x="5619600" y="3219480"/>
            <a:ext cx="1674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taxonomy label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4095720" y="3505320"/>
            <a:ext cx="3236760" cy="245880"/>
          </a:xfrm>
          <a:prstGeom prst="rect">
            <a:avLst/>
          </a:prstGeom>
          <a:solidFill>
            <a:srgbClr val="151d28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57" name=""/>
          <p:cNvSpPr/>
          <p:nvPr/>
        </p:nvSpPr>
        <p:spPr>
          <a:xfrm>
            <a:off x="4229280" y="3552840"/>
            <a:ext cx="1350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confidence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5619600" y="3552840"/>
            <a:ext cx="1674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model confidence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>
            <a:off x="4095720" y="3838680"/>
            <a:ext cx="3236760" cy="245880"/>
          </a:xfrm>
          <a:prstGeom prst="rect">
            <a:avLst/>
          </a:prstGeom>
          <a:solidFill>
            <a:srgbClr val="0d131b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60" name=""/>
          <p:cNvSpPr/>
          <p:nvPr/>
        </p:nvSpPr>
        <p:spPr>
          <a:xfrm>
            <a:off x="4229280" y="3886200"/>
            <a:ext cx="1350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evidence[]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5619600" y="3886200"/>
            <a:ext cx="1674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time + source + text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>
            <a:off x="4095720" y="4172040"/>
            <a:ext cx="3236760" cy="245880"/>
          </a:xfrm>
          <a:prstGeom prst="rect">
            <a:avLst/>
          </a:prstGeom>
          <a:solidFill>
            <a:srgbClr val="151d28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63" name=""/>
          <p:cNvSpPr/>
          <p:nvPr/>
        </p:nvSpPr>
        <p:spPr>
          <a:xfrm>
            <a:off x="4229280" y="4219560"/>
            <a:ext cx="1350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marketing_entities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>
            <a:off x="5619600" y="4219560"/>
            <a:ext cx="1674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brand, products, offers, CTAs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>
            <a:off x="4095720" y="4505400"/>
            <a:ext cx="3236760" cy="245880"/>
          </a:xfrm>
          <a:prstGeom prst="rect">
            <a:avLst/>
          </a:prstGeom>
          <a:solidFill>
            <a:srgbClr val="0d131b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66" name=""/>
          <p:cNvSpPr/>
          <p:nvPr/>
        </p:nvSpPr>
        <p:spPr>
          <a:xfrm>
            <a:off x="4229280" y="4552920"/>
            <a:ext cx="1350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ocr_quality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>
            <a:off x="5619600" y="4552920"/>
            <a:ext cx="1674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missed text and possible errors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"/>
          <p:cNvSpPr/>
          <p:nvPr/>
        </p:nvSpPr>
        <p:spPr>
          <a:xfrm>
            <a:off x="4095720" y="4838760"/>
            <a:ext cx="3236760" cy="245880"/>
          </a:xfrm>
          <a:prstGeom prst="rect">
            <a:avLst/>
          </a:prstGeom>
          <a:solidFill>
            <a:srgbClr val="151d28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69" name=""/>
          <p:cNvSpPr/>
          <p:nvPr/>
        </p:nvSpPr>
        <p:spPr>
          <a:xfrm>
            <a:off x="4229280" y="4886280"/>
            <a:ext cx="1350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related_ads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>
            <a:off x="5619600" y="4886280"/>
            <a:ext cx="1674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duplicates and campaign variants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>
            <a:off x="4095720" y="5172120"/>
            <a:ext cx="3236760" cy="245880"/>
          </a:xfrm>
          <a:prstGeom prst="rect">
            <a:avLst/>
          </a:prstGeom>
          <a:solidFill>
            <a:srgbClr val="0d131b"/>
          </a:solidFill>
          <a:ln w="0">
            <a:solidFill>
              <a:srgbClr val="1520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72" name=""/>
          <p:cNvSpPr/>
          <p:nvPr/>
        </p:nvSpPr>
        <p:spPr>
          <a:xfrm>
            <a:off x="4229280" y="5219640"/>
            <a:ext cx="1350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9b6bff"/>
                </a:solidFill>
                <a:effectLst/>
                <a:uFillTx/>
                <a:latin typeface="Aptos Mono"/>
                <a:ea typeface="Aptos Mono"/>
              </a:rPr>
              <a:t>model_outputs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>
            <a:off x="5619600" y="5219640"/>
            <a:ext cx="1674720" cy="131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raw OCR / VLM debug payloads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>
            <a:off x="8591400" y="2209680"/>
            <a:ext cx="2284200" cy="1008000"/>
          </a:xfrm>
          <a:prstGeom prst="rect">
            <a:avLst/>
          </a:prstGeom>
          <a:solidFill>
            <a:srgbClr val="111821"/>
          </a:solidFill>
          <a:ln w="9525">
            <a:solidFill>
              <a:srgbClr val="00d8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75" name=""/>
          <p:cNvSpPr/>
          <p:nvPr/>
        </p:nvSpPr>
        <p:spPr>
          <a:xfrm>
            <a:off x="8744040" y="2352600"/>
            <a:ext cx="197928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d8a4"/>
                </a:solidFill>
                <a:effectLst/>
                <a:uFillTx/>
                <a:latin typeface="Aptos Display"/>
                <a:ea typeface="Aptos Display"/>
              </a:rPr>
              <a:t>Inspect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8744040" y="2638440"/>
            <a:ext cx="1979280" cy="417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Open the ad detail, review evidence, and compare model output.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>
            <a:off x="8591400" y="3562200"/>
            <a:ext cx="2284200" cy="1008000"/>
          </a:xfrm>
          <a:prstGeom prst="rect">
            <a:avLst/>
          </a:prstGeom>
          <a:solidFill>
            <a:srgbClr val="111821"/>
          </a:solidFill>
          <a:ln w="9525">
            <a:solidFill>
              <a:srgbClr val="00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78" name=""/>
          <p:cNvSpPr/>
          <p:nvPr/>
        </p:nvSpPr>
        <p:spPr>
          <a:xfrm>
            <a:off x="8744040" y="3705120"/>
            <a:ext cx="197928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bfea"/>
                </a:solidFill>
                <a:effectLst/>
                <a:uFillTx/>
                <a:latin typeface="Aptos Display"/>
                <a:ea typeface="Aptos Display"/>
              </a:rPr>
              <a:t>Retrieve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>
            <a:off x="8744040" y="3990960"/>
            <a:ext cx="1979280" cy="417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Search by keywords, filters, category, brand, or similar ads.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>
            <a:off x="8591400" y="4915080"/>
            <a:ext cx="2284200" cy="1008000"/>
          </a:xfrm>
          <a:prstGeom prst="rect">
            <a:avLst/>
          </a:prstGeom>
          <a:solidFill>
            <a:srgbClr val="111821"/>
          </a:solidFill>
          <a:ln w="9525">
            <a:solidFill>
              <a:srgbClr val="f2b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81" name=""/>
          <p:cNvSpPr/>
          <p:nvPr/>
        </p:nvSpPr>
        <p:spPr>
          <a:xfrm>
            <a:off x="8744040" y="5057640"/>
            <a:ext cx="197928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2b640"/>
                </a:solidFill>
                <a:effectLst/>
                <a:uFillTx/>
                <a:latin typeface="Aptos Display"/>
                <a:ea typeface="Aptos Display"/>
              </a:rPr>
              <a:t>Ask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>
            <a:off x="8744040" y="5343480"/>
            <a:ext cx="1979280" cy="417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9a3b3"/>
                </a:solidFill>
                <a:effectLst/>
                <a:uFillTx/>
                <a:latin typeface="Aptos"/>
                <a:ea typeface="Aptos"/>
              </a:rPr>
              <a:t>Use the read-only agent to answer database questions with cited ads.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>
            <a:off x="2914560" y="2933640"/>
            <a:ext cx="91260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84" name=""/>
          <p:cNvSpPr/>
          <p:nvPr/>
        </p:nvSpPr>
        <p:spPr>
          <a:xfrm>
            <a:off x="2914560" y="4552920"/>
            <a:ext cx="91260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  <p:sp>
        <p:nvSpPr>
          <p:cNvPr id="785" name=""/>
          <p:cNvSpPr/>
          <p:nvPr/>
        </p:nvSpPr>
        <p:spPr>
          <a:xfrm>
            <a:off x="7591320" y="3943440"/>
            <a:ext cx="998280" cy="17280"/>
          </a:xfrm>
          <a:prstGeom prst="rect">
            <a:avLst/>
          </a:prstGeom>
          <a:solidFill>
            <a:srgbClr val="223044"/>
          </a:solidFill>
          <a:ln w="0">
            <a:solidFill>
              <a:srgbClr val="2230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2026-06-02T07:43:48Z</dcterms:created>
  <dc:creator>Walnut Exporter</dc:creator>
  <dc:description/>
  <dc:language>en-US</dc:language>
  <cp:lastModifiedBy/>
  <dcterms:modified xsi:type="dcterms:W3CDTF">2026-06-02T12:14:28Z</dcterms:modified>
  <cp:revision>26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